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7" r:id="rId3"/>
    <p:sldId id="263" r:id="rId4"/>
    <p:sldId id="257" r:id="rId5"/>
    <p:sldId id="264" r:id="rId6"/>
    <p:sldId id="259" r:id="rId7"/>
    <p:sldId id="261" r:id="rId8"/>
    <p:sldId id="268" r:id="rId9"/>
    <p:sldId id="269"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169" d="100"/>
          <a:sy n="169" d="100"/>
        </p:scale>
        <p:origin x="19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318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6858000" y="0"/>
            <a:ext cx="2286000" cy="2011680"/>
          </a:xfrm>
          <a:prstGeom prst="rect">
            <a:avLst/>
          </a:prstGeom>
          <a:solidFill>
            <a:srgbClr val="028090">
              <a:alpha val="20000"/>
            </a:srgbClr>
          </a:solidFill>
          <a:ln w="12700">
            <a:solidFill>
              <a:srgbClr val="028090">
                <a:alpha val="20000"/>
              </a:srgbClr>
            </a:solidFill>
            <a:prstDash val="solid"/>
          </a:ln>
        </p:spPr>
        <p:txBody>
          <a:bodyPr/>
          <a:lstStyle/>
          <a:p>
            <a:endParaRPr lang="en-US"/>
          </a:p>
        </p:txBody>
      </p:sp>
      <p:sp>
        <p:nvSpPr>
          <p:cNvPr id="4" name="Text 2"/>
          <p:cNvSpPr/>
          <p:nvPr/>
        </p:nvSpPr>
        <p:spPr>
          <a:xfrm>
            <a:off x="457200" y="320040"/>
            <a:ext cx="8229600" cy="411480"/>
          </a:xfrm>
          <a:prstGeom prst="rect">
            <a:avLst/>
          </a:prstGeom>
          <a:noFill/>
          <a:ln/>
        </p:spPr>
        <p:txBody>
          <a:bodyPr wrap="square" lIns="0" tIns="0" rIns="0" bIns="0" rtlCol="0" anchor="ctr"/>
          <a:lstStyle/>
          <a:p>
            <a:pPr marL="0" indent="0">
              <a:buNone/>
            </a:pPr>
            <a:r>
              <a:rPr lang="en-US" sz="1200" b="1" kern="0" spc="500" dirty="0">
                <a:solidFill>
                  <a:srgbClr val="02C39A"/>
                </a:solidFill>
                <a:latin typeface="Calibri" pitchFamily="34" charset="0"/>
                <a:ea typeface="Calibri" pitchFamily="34" charset="-122"/>
                <a:cs typeface="Calibri" pitchFamily="34" charset="-120"/>
              </a:rPr>
              <a:t>CODING MASTERS</a:t>
            </a:r>
            <a:endParaRPr lang="en-US" sz="1200" dirty="0"/>
          </a:p>
        </p:txBody>
      </p:sp>
      <p:sp>
        <p:nvSpPr>
          <p:cNvPr id="5" name="Text 3"/>
          <p:cNvSpPr/>
          <p:nvPr/>
        </p:nvSpPr>
        <p:spPr>
          <a:xfrm>
            <a:off x="457200" y="914400"/>
            <a:ext cx="8229600" cy="118872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LibConnect Pro</a:t>
            </a:r>
            <a:endParaRPr lang="en-US" sz="5200" dirty="0"/>
          </a:p>
        </p:txBody>
      </p:sp>
      <p:sp>
        <p:nvSpPr>
          <p:cNvPr id="6" name="Text 4"/>
          <p:cNvSpPr/>
          <p:nvPr/>
        </p:nvSpPr>
        <p:spPr>
          <a:xfrm>
            <a:off x="457200" y="2240280"/>
            <a:ext cx="8229600" cy="502920"/>
          </a:xfrm>
          <a:prstGeom prst="rect">
            <a:avLst/>
          </a:prstGeom>
          <a:noFill/>
          <a:ln/>
        </p:spPr>
        <p:txBody>
          <a:bodyPr wrap="square" lIns="0" tIns="0" rIns="0" bIns="0" rtlCol="0" anchor="ctr"/>
          <a:lstStyle/>
          <a:p>
            <a:pPr marL="0" indent="0">
              <a:buNone/>
            </a:pPr>
            <a:r>
              <a:rPr lang="en-US" sz="2000" dirty="0">
                <a:solidFill>
                  <a:srgbClr val="E8F4F8"/>
                </a:solidFill>
                <a:latin typeface="Calibri" pitchFamily="34" charset="0"/>
                <a:ea typeface="Calibri" pitchFamily="34" charset="-122"/>
                <a:cs typeface="Calibri" pitchFamily="34" charset="-120"/>
              </a:rPr>
              <a:t>AI-Augmented Library Management Platform</a:t>
            </a:r>
            <a:endParaRPr lang="en-US" sz="2000" dirty="0"/>
          </a:p>
        </p:txBody>
      </p:sp>
      <p:sp>
        <p:nvSpPr>
          <p:cNvPr id="7" name="Shape 5"/>
          <p:cNvSpPr/>
          <p:nvPr/>
        </p:nvSpPr>
        <p:spPr>
          <a:xfrm>
            <a:off x="457200" y="2880360"/>
            <a:ext cx="3657600" cy="36576"/>
          </a:xfrm>
          <a:prstGeom prst="rect">
            <a:avLst/>
          </a:prstGeom>
          <a:solidFill>
            <a:srgbClr val="02C39A"/>
          </a:solidFill>
          <a:ln w="12700">
            <a:solidFill>
              <a:srgbClr val="02C39A"/>
            </a:solidFill>
            <a:prstDash val="solid"/>
          </a:ln>
        </p:spPr>
        <p:txBody>
          <a:bodyPr/>
          <a:lstStyle/>
          <a:p>
            <a:endParaRPr lang="en-US"/>
          </a:p>
        </p:txBody>
      </p:sp>
      <p:sp>
        <p:nvSpPr>
          <p:cNvPr id="8" name="Text 6"/>
          <p:cNvSpPr/>
          <p:nvPr/>
        </p:nvSpPr>
        <p:spPr>
          <a:xfrm>
            <a:off x="457200" y="3108960"/>
            <a:ext cx="8229600" cy="320040"/>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Course: </a:t>
            </a:r>
            <a:r>
              <a:rPr lang="en-US" sz="1200" dirty="0">
                <a:solidFill>
                  <a:srgbClr val="E8F4F8"/>
                </a:solidFill>
                <a:latin typeface="Calibri" pitchFamily="34" charset="0"/>
                <a:ea typeface="Calibri" pitchFamily="34" charset="-122"/>
                <a:cs typeface="Calibri" pitchFamily="34" charset="-120"/>
              </a:rPr>
              <a:t>Advanced Software Engineering COSC 6370.001</a:t>
            </a:r>
            <a:endParaRPr lang="en-US" sz="1200" dirty="0"/>
          </a:p>
        </p:txBody>
      </p:sp>
      <p:sp>
        <p:nvSpPr>
          <p:cNvPr id="9" name="Text 7"/>
          <p:cNvSpPr/>
          <p:nvPr/>
        </p:nvSpPr>
        <p:spPr>
          <a:xfrm>
            <a:off x="457200" y="3520440"/>
            <a:ext cx="8229600" cy="320040"/>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Team: </a:t>
            </a:r>
            <a:r>
              <a:rPr lang="en-US" sz="1200" dirty="0">
                <a:solidFill>
                  <a:srgbClr val="E8F4F8"/>
                </a:solidFill>
                <a:latin typeface="Calibri" pitchFamily="34" charset="0"/>
                <a:ea typeface="Calibri" pitchFamily="34" charset="-122"/>
                <a:cs typeface="Calibri" pitchFamily="34" charset="-120"/>
              </a:rPr>
              <a:t>Saumya Patel · Hakhilesh Neelamegan · Madhusudhan Poduturu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8412480" cy="658368"/>
          </a:xfrm>
          <a:prstGeom prst="rect">
            <a:avLst/>
          </a:prstGeom>
          <a:noFill/>
          <a:ln/>
        </p:spPr>
        <p:txBody>
          <a:bodyPr wrap="square"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WHAT IS A LIBRARY MANAGEMENT SYSTEM?</a:t>
            </a:r>
            <a:endParaRPr lang="en-US" sz="1500" dirty="0"/>
          </a:p>
        </p:txBody>
      </p:sp>
      <p:sp>
        <p:nvSpPr>
          <p:cNvPr id="4" name="Shape 2"/>
          <p:cNvSpPr/>
          <p:nvPr/>
        </p:nvSpPr>
        <p:spPr>
          <a:xfrm>
            <a:off x="320040" y="804672"/>
            <a:ext cx="8503920" cy="749808"/>
          </a:xfrm>
          <a:prstGeom prst="rect">
            <a:avLst/>
          </a:prstGeom>
          <a:solidFill>
            <a:srgbClr val="028090">
              <a:alpha val="12000"/>
            </a:srgbClr>
          </a:solidFill>
          <a:ln w="12700">
            <a:solidFill>
              <a:srgbClr val="028090"/>
            </a:solidFill>
            <a:prstDash val="solid"/>
          </a:ln>
        </p:spPr>
        <p:txBody>
          <a:bodyPr/>
          <a:lstStyle/>
          <a:p>
            <a:endParaRPr lang="en-US"/>
          </a:p>
        </p:txBody>
      </p:sp>
      <p:sp>
        <p:nvSpPr>
          <p:cNvPr id="5" name="Shape 3"/>
          <p:cNvSpPr/>
          <p:nvPr/>
        </p:nvSpPr>
        <p:spPr>
          <a:xfrm>
            <a:off x="320040" y="804672"/>
            <a:ext cx="91440" cy="749808"/>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530352" y="841248"/>
            <a:ext cx="8183880" cy="676656"/>
          </a:xfrm>
          <a:prstGeom prst="rect">
            <a:avLst/>
          </a:prstGeom>
          <a:noFill/>
          <a:ln/>
        </p:spPr>
        <p:txBody>
          <a:bodyPr wrap="square" rtlCol="0" anchor="ctr"/>
          <a:lstStyle/>
          <a:p>
            <a:pPr marL="0" indent="0">
              <a:buNone/>
            </a:pPr>
            <a:r>
              <a:rPr lang="en-US" sz="1250" i="1" dirty="0">
                <a:solidFill>
                  <a:srgbClr val="1E293B"/>
                </a:solidFill>
                <a:latin typeface="Calibri" pitchFamily="34" charset="0"/>
                <a:ea typeface="Calibri" pitchFamily="34" charset="-122"/>
                <a:cs typeface="Calibri" pitchFamily="34" charset="-120"/>
              </a:rPr>
              <a:t>A Library Management System (LMS) is software that helps libraries organize and automate their day-to-day operations — making it easier for librarians to manage collections and for users to find, borrow, and return materials.</a:t>
            </a:r>
            <a:endParaRPr lang="en-US" sz="1250" dirty="0"/>
          </a:p>
        </p:txBody>
      </p:sp>
      <p:sp>
        <p:nvSpPr>
          <p:cNvPr id="7" name="Shape 5"/>
          <p:cNvSpPr/>
          <p:nvPr/>
        </p:nvSpPr>
        <p:spPr>
          <a:xfrm>
            <a:off x="201168" y="1719072"/>
            <a:ext cx="1664208" cy="3182112"/>
          </a:xfrm>
          <a:prstGeom prst="rect">
            <a:avLst/>
          </a:prstGeom>
          <a:solidFill>
            <a:srgbClr val="FFFFFF"/>
          </a:solidFill>
          <a:ln w="1016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201168" y="1719072"/>
            <a:ext cx="1664208" cy="914400"/>
          </a:xfrm>
          <a:prstGeom prst="rect">
            <a:avLst/>
          </a:prstGeom>
          <a:solidFill>
            <a:srgbClr val="028090"/>
          </a:solidFill>
          <a:ln w="12700">
            <a:solidFill>
              <a:srgbClr val="028090"/>
            </a:solidFill>
            <a:prstDash val="solid"/>
          </a:ln>
        </p:spPr>
        <p:txBody>
          <a:bodyPr/>
          <a:lstStyle/>
          <a:p>
            <a:endParaRPr lang="en-US"/>
          </a:p>
        </p:txBody>
      </p:sp>
      <p:sp>
        <p:nvSpPr>
          <p:cNvPr id="9" name="Text 7"/>
          <p:cNvSpPr/>
          <p:nvPr/>
        </p:nvSpPr>
        <p:spPr>
          <a:xfrm>
            <a:off x="201168" y="1737360"/>
            <a:ext cx="1664208" cy="420624"/>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256032" y="2176272"/>
            <a:ext cx="1572768"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Books in the Library</a:t>
            </a:r>
            <a:endParaRPr lang="en-US" sz="1000" dirty="0"/>
          </a:p>
        </p:txBody>
      </p:sp>
      <p:sp>
        <p:nvSpPr>
          <p:cNvPr id="11" name="Text 9"/>
          <p:cNvSpPr/>
          <p:nvPr/>
        </p:nvSpPr>
        <p:spPr>
          <a:xfrm>
            <a:off x="292608" y="2688336"/>
            <a:ext cx="1517904" cy="2148840"/>
          </a:xfrm>
          <a:prstGeom prst="rect">
            <a:avLst/>
          </a:prstGeom>
          <a:noFill/>
          <a:ln/>
        </p:spPr>
        <p:txBody>
          <a:bodyPr wrap="square" rtlCol="0" anchor="t"/>
          <a:lstStyle/>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Catalog of all books &amp; materials</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Organized by title, author &amp; subject</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Tracks available vs. checked-out copies</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Supports physical &amp; digital collections</a:t>
            </a:r>
            <a:endParaRPr lang="en-US" sz="900" dirty="0"/>
          </a:p>
        </p:txBody>
      </p:sp>
      <p:sp>
        <p:nvSpPr>
          <p:cNvPr id="12" name="Shape 10"/>
          <p:cNvSpPr/>
          <p:nvPr/>
        </p:nvSpPr>
        <p:spPr>
          <a:xfrm>
            <a:off x="1975104" y="1719072"/>
            <a:ext cx="1664208" cy="3182112"/>
          </a:xfrm>
          <a:prstGeom prst="rect">
            <a:avLst/>
          </a:prstGeom>
          <a:solidFill>
            <a:srgbClr val="FFFFFF"/>
          </a:solidFill>
          <a:ln w="1016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1975104" y="1719072"/>
            <a:ext cx="1664208" cy="914400"/>
          </a:xfrm>
          <a:prstGeom prst="rect">
            <a:avLst/>
          </a:prstGeom>
          <a:solidFill>
            <a:srgbClr val="1C7293"/>
          </a:solidFill>
          <a:ln w="12700">
            <a:solidFill>
              <a:srgbClr val="1C7293"/>
            </a:solidFill>
            <a:prstDash val="solid"/>
          </a:ln>
        </p:spPr>
        <p:txBody>
          <a:bodyPr/>
          <a:lstStyle/>
          <a:p>
            <a:endParaRPr lang="en-US"/>
          </a:p>
        </p:txBody>
      </p:sp>
      <p:sp>
        <p:nvSpPr>
          <p:cNvPr id="14" name="Text 12"/>
          <p:cNvSpPr/>
          <p:nvPr/>
        </p:nvSpPr>
        <p:spPr>
          <a:xfrm>
            <a:off x="1975104" y="1737360"/>
            <a:ext cx="1664208" cy="420624"/>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2029968" y="2176272"/>
            <a:ext cx="1572768"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Who Borrowed What</a:t>
            </a:r>
            <a:endParaRPr lang="en-US" sz="1000" dirty="0"/>
          </a:p>
        </p:txBody>
      </p:sp>
      <p:sp>
        <p:nvSpPr>
          <p:cNvPr id="16" name="Text 14"/>
          <p:cNvSpPr/>
          <p:nvPr/>
        </p:nvSpPr>
        <p:spPr>
          <a:xfrm>
            <a:off x="2066544" y="2688336"/>
            <a:ext cx="1517904" cy="2148840"/>
          </a:xfrm>
          <a:prstGeom prst="rect">
            <a:avLst/>
          </a:prstGeom>
          <a:noFill/>
          <a:ln/>
        </p:spPr>
        <p:txBody>
          <a:bodyPr wrap="square" rtlCol="0" anchor="t"/>
          <a:lstStyle/>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Records of every loan transaction</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Links each book to the borrower</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Full borrowing history per member</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Separate access for staff vs. members</a:t>
            </a:r>
            <a:endParaRPr lang="en-US" sz="900" dirty="0"/>
          </a:p>
        </p:txBody>
      </p:sp>
      <p:sp>
        <p:nvSpPr>
          <p:cNvPr id="17" name="Shape 15"/>
          <p:cNvSpPr/>
          <p:nvPr/>
        </p:nvSpPr>
        <p:spPr>
          <a:xfrm>
            <a:off x="3749040" y="1719072"/>
            <a:ext cx="1664208" cy="3182112"/>
          </a:xfrm>
          <a:prstGeom prst="rect">
            <a:avLst/>
          </a:prstGeom>
          <a:solidFill>
            <a:srgbClr val="FFFFFF"/>
          </a:solidFill>
          <a:ln w="1016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749040" y="1719072"/>
            <a:ext cx="1664208" cy="914400"/>
          </a:xfrm>
          <a:prstGeom prst="rect">
            <a:avLst/>
          </a:prstGeom>
          <a:solidFill>
            <a:srgbClr val="065A82"/>
          </a:solidFill>
          <a:ln w="12700">
            <a:solidFill>
              <a:srgbClr val="065A82"/>
            </a:solidFill>
            <a:prstDash val="solid"/>
          </a:ln>
        </p:spPr>
        <p:txBody>
          <a:bodyPr/>
          <a:lstStyle/>
          <a:p>
            <a:endParaRPr lang="en-US"/>
          </a:p>
        </p:txBody>
      </p:sp>
      <p:sp>
        <p:nvSpPr>
          <p:cNvPr id="19" name="Text 17"/>
          <p:cNvSpPr/>
          <p:nvPr/>
        </p:nvSpPr>
        <p:spPr>
          <a:xfrm>
            <a:off x="3749040" y="1737360"/>
            <a:ext cx="1664208" cy="420624"/>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0" name="Text 18"/>
          <p:cNvSpPr/>
          <p:nvPr/>
        </p:nvSpPr>
        <p:spPr>
          <a:xfrm>
            <a:off x="3803904" y="2176272"/>
            <a:ext cx="1572768"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Due Dates &amp; Late Returns</a:t>
            </a:r>
            <a:endParaRPr lang="en-US" sz="1000" dirty="0"/>
          </a:p>
        </p:txBody>
      </p:sp>
      <p:sp>
        <p:nvSpPr>
          <p:cNvPr id="21" name="Text 19"/>
          <p:cNvSpPr/>
          <p:nvPr/>
        </p:nvSpPr>
        <p:spPr>
          <a:xfrm>
            <a:off x="3840480" y="2688336"/>
            <a:ext cx="1517904" cy="2148840"/>
          </a:xfrm>
          <a:prstGeom prst="rect">
            <a:avLst/>
          </a:prstGeom>
          <a:noFill/>
          <a:ln/>
        </p:spPr>
        <p:txBody>
          <a:bodyPr wrap="square" rtlCol="0" anchor="t"/>
          <a:lstStyle/>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Sets return deadlines for each loan</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Sends reminders before due date</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Automatically flags overdue items</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Supports renewals when no holds exist</a:t>
            </a:r>
            <a:endParaRPr lang="en-US" sz="900" dirty="0"/>
          </a:p>
        </p:txBody>
      </p:sp>
      <p:sp>
        <p:nvSpPr>
          <p:cNvPr id="22" name="Shape 20"/>
          <p:cNvSpPr/>
          <p:nvPr/>
        </p:nvSpPr>
        <p:spPr>
          <a:xfrm>
            <a:off x="5522976" y="1719072"/>
            <a:ext cx="1664208" cy="3182112"/>
          </a:xfrm>
          <a:prstGeom prst="rect">
            <a:avLst/>
          </a:prstGeom>
          <a:solidFill>
            <a:srgbClr val="FFFFFF"/>
          </a:solidFill>
          <a:ln w="1016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5522976" y="1719072"/>
            <a:ext cx="1664208" cy="914400"/>
          </a:xfrm>
          <a:prstGeom prst="rect">
            <a:avLst/>
          </a:prstGeom>
          <a:solidFill>
            <a:srgbClr val="028090"/>
          </a:solidFill>
          <a:ln w="12700">
            <a:solidFill>
              <a:srgbClr val="028090"/>
            </a:solidFill>
            <a:prstDash val="solid"/>
          </a:ln>
        </p:spPr>
        <p:txBody>
          <a:bodyPr/>
          <a:lstStyle/>
          <a:p>
            <a:endParaRPr lang="en-US"/>
          </a:p>
        </p:txBody>
      </p:sp>
      <p:sp>
        <p:nvSpPr>
          <p:cNvPr id="24" name="Text 22"/>
          <p:cNvSpPr/>
          <p:nvPr/>
        </p:nvSpPr>
        <p:spPr>
          <a:xfrm>
            <a:off x="5522976" y="1737360"/>
            <a:ext cx="1664208" cy="420624"/>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Text 23"/>
          <p:cNvSpPr/>
          <p:nvPr/>
        </p:nvSpPr>
        <p:spPr>
          <a:xfrm>
            <a:off x="5577840" y="2176272"/>
            <a:ext cx="1572768"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Fines</a:t>
            </a:r>
            <a:endParaRPr lang="en-US" sz="1000" dirty="0"/>
          </a:p>
        </p:txBody>
      </p:sp>
      <p:sp>
        <p:nvSpPr>
          <p:cNvPr id="26" name="Text 24"/>
          <p:cNvSpPr/>
          <p:nvPr/>
        </p:nvSpPr>
        <p:spPr>
          <a:xfrm>
            <a:off x="5614416" y="2688336"/>
            <a:ext cx="1517904" cy="2148840"/>
          </a:xfrm>
          <a:prstGeom prst="rect">
            <a:avLst/>
          </a:prstGeom>
          <a:noFill/>
          <a:ln/>
        </p:spPr>
        <p:txBody>
          <a:bodyPr wrap="square" rtlCol="0" anchor="t"/>
          <a:lstStyle/>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Calculates fines for late returns</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Maintains fine balance per member</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Staff can review and clear fines</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Encourages timely returns of books</a:t>
            </a:r>
            <a:endParaRPr lang="en-US" sz="900" dirty="0"/>
          </a:p>
        </p:txBody>
      </p:sp>
      <p:sp>
        <p:nvSpPr>
          <p:cNvPr id="27" name="Shape 25"/>
          <p:cNvSpPr/>
          <p:nvPr/>
        </p:nvSpPr>
        <p:spPr>
          <a:xfrm>
            <a:off x="7296912" y="1719072"/>
            <a:ext cx="1664208" cy="3182112"/>
          </a:xfrm>
          <a:prstGeom prst="rect">
            <a:avLst/>
          </a:prstGeom>
          <a:solidFill>
            <a:srgbClr val="FFFFFF"/>
          </a:solidFill>
          <a:ln w="1016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8" name="Shape 26"/>
          <p:cNvSpPr/>
          <p:nvPr/>
        </p:nvSpPr>
        <p:spPr>
          <a:xfrm>
            <a:off x="7296912" y="1719072"/>
            <a:ext cx="1664208" cy="914400"/>
          </a:xfrm>
          <a:prstGeom prst="rect">
            <a:avLst/>
          </a:prstGeom>
          <a:solidFill>
            <a:srgbClr val="02C39A"/>
          </a:solidFill>
          <a:ln w="12700">
            <a:solidFill>
              <a:srgbClr val="02C39A"/>
            </a:solidFill>
            <a:prstDash val="solid"/>
          </a:ln>
        </p:spPr>
        <p:txBody>
          <a:bodyPr/>
          <a:lstStyle/>
          <a:p>
            <a:endParaRPr lang="en-US"/>
          </a:p>
        </p:txBody>
      </p:sp>
      <p:sp>
        <p:nvSpPr>
          <p:cNvPr id="29" name="Text 27"/>
          <p:cNvSpPr/>
          <p:nvPr/>
        </p:nvSpPr>
        <p:spPr>
          <a:xfrm>
            <a:off x="7296912" y="1737360"/>
            <a:ext cx="1664208" cy="420624"/>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0" name="Text 28"/>
          <p:cNvSpPr/>
          <p:nvPr/>
        </p:nvSpPr>
        <p:spPr>
          <a:xfrm>
            <a:off x="7351776" y="2176272"/>
            <a:ext cx="1572768"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Reports &amp; Analytics</a:t>
            </a:r>
            <a:endParaRPr lang="en-US" sz="1000" dirty="0"/>
          </a:p>
        </p:txBody>
      </p:sp>
      <p:sp>
        <p:nvSpPr>
          <p:cNvPr id="31" name="Text 29"/>
          <p:cNvSpPr/>
          <p:nvPr/>
        </p:nvSpPr>
        <p:spPr>
          <a:xfrm>
            <a:off x="7388352" y="2688336"/>
            <a:ext cx="1517904" cy="2148840"/>
          </a:xfrm>
          <a:prstGeom prst="rect">
            <a:avLst/>
          </a:prstGeom>
          <a:noFill/>
          <a:ln/>
        </p:spPr>
        <p:txBody>
          <a:bodyPr wrap="square" rtlCol="0" anchor="t"/>
          <a:lstStyle/>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Most borrowed titles &amp; categories</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Active member usage statistics</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Inventory &amp; acquisition reports</a:t>
            </a:r>
            <a:endParaRPr lang="en-US" sz="900" dirty="0"/>
          </a:p>
          <a:p>
            <a:pPr marL="342900" indent="-342900">
              <a:spcAft>
                <a:spcPts val="400"/>
              </a:spcAft>
              <a:buSzPct val="100000"/>
              <a:buChar char="•"/>
            </a:pPr>
            <a:r>
              <a:rPr lang="en-US" sz="900" dirty="0">
                <a:solidFill>
                  <a:srgbClr val="1E293B"/>
                </a:solidFill>
                <a:latin typeface="Calibri" pitchFamily="34" charset="0"/>
                <a:ea typeface="Calibri" pitchFamily="34" charset="-122"/>
                <a:cs typeface="Calibri" pitchFamily="34" charset="-120"/>
              </a:rPr>
              <a:t>Helps guide purchasing decisions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132320" y="0"/>
            <a:ext cx="2011680" cy="5143500"/>
          </a:xfrm>
          <a:prstGeom prst="rect">
            <a:avLst/>
          </a:prstGeom>
          <a:solidFill>
            <a:srgbClr val="028090">
              <a:alpha val="12000"/>
            </a:srgbClr>
          </a:solidFill>
          <a:ln w="12700">
            <a:solidFill>
              <a:srgbClr val="028090">
                <a:alpha val="12000"/>
              </a:srgbClr>
            </a:solidFill>
            <a:prstDash val="solid"/>
          </a:ln>
        </p:spPr>
        <p:txBody>
          <a:bodyPr/>
          <a:lstStyle/>
          <a:p>
            <a:endParaRPr lang="en-US"/>
          </a:p>
        </p:txBody>
      </p:sp>
      <p:sp>
        <p:nvSpPr>
          <p:cNvPr id="3" name="Shape 1"/>
          <p:cNvSpPr/>
          <p:nvPr/>
        </p:nvSpPr>
        <p:spPr>
          <a:xfrm>
            <a:off x="0" y="0"/>
            <a:ext cx="9144000" cy="54864"/>
          </a:xfrm>
          <a:prstGeom prst="rect">
            <a:avLst/>
          </a:prstGeom>
          <a:solidFill>
            <a:srgbClr val="02C39A"/>
          </a:solidFill>
          <a:ln w="12700">
            <a:solidFill>
              <a:srgbClr val="02C39A"/>
            </a:solidFill>
            <a:prstDash val="solid"/>
          </a:ln>
        </p:spPr>
        <p:txBody>
          <a:bodyPr/>
          <a:lstStyle/>
          <a:p>
            <a:endParaRPr lang="en-US"/>
          </a:p>
        </p:txBody>
      </p:sp>
      <p:sp>
        <p:nvSpPr>
          <p:cNvPr id="4" name="Text 2"/>
          <p:cNvSpPr/>
          <p:nvPr/>
        </p:nvSpPr>
        <p:spPr>
          <a:xfrm>
            <a:off x="411480" y="256032"/>
            <a:ext cx="6583680" cy="457200"/>
          </a:xfrm>
          <a:prstGeom prst="rect">
            <a:avLst/>
          </a:prstGeom>
          <a:noFill/>
          <a:ln/>
        </p:spPr>
        <p:txBody>
          <a:bodyPr wrap="square" lIns="0" tIns="0" rIns="0" bIns="0" rtlCol="0" anchor="ctr"/>
          <a:lstStyle/>
          <a:p>
            <a:pPr marL="0" indent="0">
              <a:buNone/>
            </a:pPr>
            <a:endParaRPr lang="en-US" sz="1500" dirty="0"/>
          </a:p>
        </p:txBody>
      </p:sp>
      <p:sp>
        <p:nvSpPr>
          <p:cNvPr id="5" name="Text 3"/>
          <p:cNvSpPr/>
          <p:nvPr/>
        </p:nvSpPr>
        <p:spPr>
          <a:xfrm>
            <a:off x="411480" y="749808"/>
            <a:ext cx="6583680" cy="502920"/>
          </a:xfrm>
          <a:prstGeom prst="rect">
            <a:avLst/>
          </a:prstGeom>
          <a:noFill/>
          <a:ln/>
        </p:spPr>
        <p:txBody>
          <a:bodyPr wrap="square" lIns="0" tIns="0" rIns="0" bIns="0" rtlCol="0" anchor="ctr"/>
          <a:lstStyle/>
          <a:p>
            <a:r>
              <a:rPr lang="en-US" sz="2400" b="1" kern="0" spc="300" dirty="0">
                <a:solidFill>
                  <a:srgbClr val="02C39A"/>
                </a:solidFill>
                <a:latin typeface="Calibri" pitchFamily="34" charset="0"/>
                <a:ea typeface="Calibri" pitchFamily="34" charset="-122"/>
                <a:cs typeface="Calibri" pitchFamily="34" charset="-120"/>
              </a:rPr>
              <a:t>WHY THIS PROJECT?</a:t>
            </a:r>
            <a:endParaRPr lang="en-US" sz="2400" dirty="0"/>
          </a:p>
        </p:txBody>
      </p:sp>
      <p:sp>
        <p:nvSpPr>
          <p:cNvPr id="18" name="Shape 16"/>
          <p:cNvSpPr/>
          <p:nvPr/>
        </p:nvSpPr>
        <p:spPr>
          <a:xfrm>
            <a:off x="274320" y="2606040"/>
            <a:ext cx="2798064" cy="2286000"/>
          </a:xfrm>
          <a:prstGeom prst="rect">
            <a:avLst/>
          </a:prstGeom>
          <a:solidFill>
            <a:srgbClr val="FFFFFF">
              <a:alpha val="8000"/>
            </a:srgbClr>
          </a:solidFill>
          <a:ln w="10160">
            <a:solidFill>
              <a:srgbClr val="028090"/>
            </a:solidFill>
            <a:prstDash val="solid"/>
          </a:ln>
        </p:spPr>
        <p:txBody>
          <a:bodyPr/>
          <a:lstStyle/>
          <a:p>
            <a:endParaRPr lang="en-US"/>
          </a:p>
        </p:txBody>
      </p:sp>
      <p:sp>
        <p:nvSpPr>
          <p:cNvPr id="19" name="Shape 17"/>
          <p:cNvSpPr/>
          <p:nvPr/>
        </p:nvSpPr>
        <p:spPr>
          <a:xfrm>
            <a:off x="274320" y="2606040"/>
            <a:ext cx="2798064" cy="54864"/>
          </a:xfrm>
          <a:prstGeom prst="rect">
            <a:avLst/>
          </a:prstGeom>
          <a:solidFill>
            <a:srgbClr val="02C39A"/>
          </a:solidFill>
          <a:ln w="12700">
            <a:solidFill>
              <a:srgbClr val="02C39A"/>
            </a:solidFill>
            <a:prstDash val="solid"/>
          </a:ln>
        </p:spPr>
        <p:txBody>
          <a:bodyPr/>
          <a:lstStyle/>
          <a:p>
            <a:endParaRPr lang="en-US"/>
          </a:p>
        </p:txBody>
      </p:sp>
      <p:sp>
        <p:nvSpPr>
          <p:cNvPr id="20" name="Text 18"/>
          <p:cNvSpPr/>
          <p:nvPr/>
        </p:nvSpPr>
        <p:spPr>
          <a:xfrm>
            <a:off x="411480" y="2715768"/>
            <a:ext cx="256032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Direct Impact on Islanders</a:t>
            </a:r>
            <a:endParaRPr lang="en-US" sz="1150" dirty="0"/>
          </a:p>
        </p:txBody>
      </p:sp>
      <p:sp>
        <p:nvSpPr>
          <p:cNvPr id="21" name="Text 19"/>
          <p:cNvSpPr/>
          <p:nvPr/>
        </p:nvSpPr>
        <p:spPr>
          <a:xfrm>
            <a:off x="411480" y="3127248"/>
            <a:ext cx="2560320" cy="1691640"/>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We chose to upgrade OUR OWN college library portal — a tool every TAMU-CC student relies on. A better portal means less time searching, fewer missed due dates, and stronger research outcomes for thousands of students each semester.</a:t>
            </a:r>
            <a:endParaRPr lang="en-US" sz="950" dirty="0"/>
          </a:p>
        </p:txBody>
      </p:sp>
      <p:sp>
        <p:nvSpPr>
          <p:cNvPr id="26" name="Shape 24"/>
          <p:cNvSpPr/>
          <p:nvPr/>
        </p:nvSpPr>
        <p:spPr>
          <a:xfrm>
            <a:off x="6217920" y="2606040"/>
            <a:ext cx="2798064" cy="2286000"/>
          </a:xfrm>
          <a:prstGeom prst="rect">
            <a:avLst/>
          </a:prstGeom>
          <a:solidFill>
            <a:srgbClr val="FFFFFF">
              <a:alpha val="8000"/>
            </a:srgbClr>
          </a:solidFill>
          <a:ln w="10160">
            <a:solidFill>
              <a:srgbClr val="028090"/>
            </a:solidFill>
            <a:prstDash val="solid"/>
          </a:ln>
        </p:spPr>
        <p:txBody>
          <a:bodyPr/>
          <a:lstStyle/>
          <a:p>
            <a:endParaRPr lang="en-US"/>
          </a:p>
        </p:txBody>
      </p:sp>
      <p:sp>
        <p:nvSpPr>
          <p:cNvPr id="27" name="Shape 25"/>
          <p:cNvSpPr/>
          <p:nvPr/>
        </p:nvSpPr>
        <p:spPr>
          <a:xfrm>
            <a:off x="6217920" y="2606040"/>
            <a:ext cx="2798064" cy="54864"/>
          </a:xfrm>
          <a:prstGeom prst="rect">
            <a:avLst/>
          </a:prstGeom>
          <a:solidFill>
            <a:srgbClr val="02C39A"/>
          </a:solidFill>
          <a:ln w="12700">
            <a:solidFill>
              <a:srgbClr val="02C39A"/>
            </a:solidFill>
            <a:prstDash val="solid"/>
          </a:ln>
        </p:spPr>
        <p:txBody>
          <a:bodyPr/>
          <a:lstStyle/>
          <a:p>
            <a:endParaRPr lang="en-US"/>
          </a:p>
        </p:txBody>
      </p:sp>
      <p:sp>
        <p:nvSpPr>
          <p:cNvPr id="28" name="Text 26"/>
          <p:cNvSpPr/>
          <p:nvPr/>
        </p:nvSpPr>
        <p:spPr>
          <a:xfrm>
            <a:off x="6355080" y="2715768"/>
            <a:ext cx="256032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Real-World Engineering Challenge</a:t>
            </a:r>
            <a:endParaRPr lang="en-US" sz="1150" dirty="0"/>
          </a:p>
        </p:txBody>
      </p:sp>
      <p:sp>
        <p:nvSpPr>
          <p:cNvPr id="29" name="Text 27"/>
          <p:cNvSpPr/>
          <p:nvPr/>
        </p:nvSpPr>
        <p:spPr>
          <a:xfrm>
            <a:off x="6355080" y="3127248"/>
            <a:ext cx="2560320" cy="1691640"/>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Building for an existing institution means dealing with real constraints: legacy workflows, multi-role access, compliance, and scalability. It's a richer engineering problem than a greenfield app — and our solution proves it.</a:t>
            </a:r>
            <a:endParaRPr lang="en-US" sz="950" dirty="0"/>
          </a:p>
        </p:txBody>
      </p:sp>
      <p:sp>
        <p:nvSpPr>
          <p:cNvPr id="30" name="TextBox 29">
            <a:extLst>
              <a:ext uri="{FF2B5EF4-FFF2-40B4-BE49-F238E27FC236}">
                <a16:creationId xmlns:a16="http://schemas.microsoft.com/office/drawing/2014/main" id="{1F837FE5-D804-277A-4E18-9BD6B9681D19}"/>
              </a:ext>
            </a:extLst>
          </p:cNvPr>
          <p:cNvSpPr txBox="1"/>
          <p:nvPr/>
        </p:nvSpPr>
        <p:spPr>
          <a:xfrm>
            <a:off x="411480" y="1252728"/>
            <a:ext cx="8011048" cy="923330"/>
          </a:xfrm>
          <a:prstGeom prst="rect">
            <a:avLst/>
          </a:prstGeom>
          <a:noFill/>
        </p:spPr>
        <p:txBody>
          <a:bodyPr wrap="square" rtlCol="0">
            <a:spAutoFit/>
          </a:bodyPr>
          <a:lstStyle/>
          <a:p>
            <a:r>
              <a:rPr lang="en-US" dirty="0">
                <a:solidFill>
                  <a:schemeClr val="bg1"/>
                </a:solidFill>
              </a:rPr>
              <a:t>Instead of investing our time in a random external app, we decided to focus on our own university library system so that every hour we spend directly improves the tools and services we and our classmates actually use on campus.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600" b="1" kern="0" spc="300" dirty="0">
                <a:solidFill>
                  <a:srgbClr val="FFFFFF"/>
                </a:solidFill>
                <a:latin typeface="Calibri" pitchFamily="34" charset="0"/>
                <a:ea typeface="Calibri" pitchFamily="34" charset="-122"/>
                <a:cs typeface="Calibri" pitchFamily="34" charset="-120"/>
              </a:rPr>
              <a:t>EXECUTIVE SUMMARY</a:t>
            </a:r>
            <a:endParaRPr lang="en-US" sz="1600" dirty="0"/>
          </a:p>
        </p:txBody>
      </p:sp>
      <p:sp>
        <p:nvSpPr>
          <p:cNvPr id="4" name="Shape 2"/>
          <p:cNvSpPr/>
          <p:nvPr/>
        </p:nvSpPr>
        <p:spPr>
          <a:xfrm>
            <a:off x="320040" y="822960"/>
            <a:ext cx="8503920" cy="1645920"/>
          </a:xfrm>
          <a:prstGeom prst="rect">
            <a:avLst/>
          </a:prstGeom>
          <a:solidFill>
            <a:srgbClr val="E8F4F8"/>
          </a:solidFill>
          <a:ln w="19050">
            <a:solidFill>
              <a:srgbClr val="02809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822960"/>
            <a:ext cx="109728" cy="164592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548640" y="896112"/>
            <a:ext cx="8138160" cy="146304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LibConnect Pro is a comprehensive, AI-augmented library management platform designed to streamline interactions between university librarians, students, and faculty. It addresses manual tracking, late returns, poor discovery, and lack of research guidance through automation, AI analytics, AR navigation, and semantic search — featuring dual-panel interfaces for both Admins and Students.</a:t>
            </a:r>
            <a:endParaRPr lang="en-US" sz="1300" dirty="0"/>
          </a:p>
        </p:txBody>
      </p:sp>
      <p:sp>
        <p:nvSpPr>
          <p:cNvPr id="7" name="Shape 5"/>
          <p:cNvSpPr/>
          <p:nvPr/>
        </p:nvSpPr>
        <p:spPr>
          <a:xfrm>
            <a:off x="320040" y="2788920"/>
            <a:ext cx="2743200" cy="1783080"/>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320040" y="2788920"/>
            <a:ext cx="2743200" cy="73152"/>
          </a:xfrm>
          <a:prstGeom prst="rect">
            <a:avLst/>
          </a:prstGeom>
          <a:solidFill>
            <a:srgbClr val="02C39A"/>
          </a:solidFill>
          <a:ln w="12700">
            <a:solidFill>
              <a:srgbClr val="02C39A"/>
            </a:solidFill>
            <a:prstDash val="solid"/>
          </a:ln>
        </p:spPr>
        <p:txBody>
          <a:bodyPr/>
          <a:lstStyle/>
          <a:p>
            <a:endParaRPr lang="en-US"/>
          </a:p>
        </p:txBody>
      </p:sp>
      <p:sp>
        <p:nvSpPr>
          <p:cNvPr id="9" name="Text 7"/>
          <p:cNvSpPr/>
          <p:nvPr/>
        </p:nvSpPr>
        <p:spPr>
          <a:xfrm>
            <a:off x="429768" y="2907792"/>
            <a:ext cx="2523744"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Admin Dashboard</a:t>
            </a:r>
            <a:endParaRPr lang="en-US" sz="1300" dirty="0"/>
          </a:p>
        </p:txBody>
      </p:sp>
      <p:sp>
        <p:nvSpPr>
          <p:cNvPr id="10" name="Text 8"/>
          <p:cNvSpPr/>
          <p:nvPr/>
        </p:nvSpPr>
        <p:spPr>
          <a:xfrm>
            <a:off x="429768" y="3337560"/>
            <a:ext cx="2523744" cy="109728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Inventory, analytics, fine management &amp; financial oversight</a:t>
            </a:r>
            <a:endParaRPr lang="en-US" sz="1100" dirty="0"/>
          </a:p>
        </p:txBody>
      </p:sp>
      <p:sp>
        <p:nvSpPr>
          <p:cNvPr id="11" name="Shape 9"/>
          <p:cNvSpPr/>
          <p:nvPr/>
        </p:nvSpPr>
        <p:spPr>
          <a:xfrm>
            <a:off x="3264408" y="2788920"/>
            <a:ext cx="2743200" cy="1783080"/>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264408" y="2788920"/>
            <a:ext cx="2743200" cy="73152"/>
          </a:xfrm>
          <a:prstGeom prst="rect">
            <a:avLst/>
          </a:prstGeom>
          <a:solidFill>
            <a:srgbClr val="02C39A"/>
          </a:solidFill>
          <a:ln w="12700">
            <a:solidFill>
              <a:srgbClr val="02C39A"/>
            </a:solidFill>
            <a:prstDash val="solid"/>
          </a:ln>
        </p:spPr>
        <p:txBody>
          <a:bodyPr/>
          <a:lstStyle/>
          <a:p>
            <a:endParaRPr lang="en-US"/>
          </a:p>
        </p:txBody>
      </p:sp>
      <p:sp>
        <p:nvSpPr>
          <p:cNvPr id="13" name="Text 11"/>
          <p:cNvSpPr/>
          <p:nvPr/>
        </p:nvSpPr>
        <p:spPr>
          <a:xfrm>
            <a:off x="3374136" y="2907792"/>
            <a:ext cx="2523744"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Student Portal</a:t>
            </a:r>
            <a:endParaRPr lang="en-US" sz="1300" dirty="0"/>
          </a:p>
        </p:txBody>
      </p:sp>
      <p:sp>
        <p:nvSpPr>
          <p:cNvPr id="14" name="Text 12"/>
          <p:cNvSpPr/>
          <p:nvPr/>
        </p:nvSpPr>
        <p:spPr>
          <a:xfrm>
            <a:off x="3374136" y="3337560"/>
            <a:ext cx="2523744" cy="109728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Advanced search, research tools &amp; account management</a:t>
            </a:r>
            <a:endParaRPr lang="en-US" sz="1100" dirty="0"/>
          </a:p>
        </p:txBody>
      </p:sp>
      <p:sp>
        <p:nvSpPr>
          <p:cNvPr id="15" name="Shape 13"/>
          <p:cNvSpPr/>
          <p:nvPr/>
        </p:nvSpPr>
        <p:spPr>
          <a:xfrm>
            <a:off x="6208776" y="2788920"/>
            <a:ext cx="2743200" cy="1783080"/>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6208776" y="2788920"/>
            <a:ext cx="2743200" cy="73152"/>
          </a:xfrm>
          <a:prstGeom prst="rect">
            <a:avLst/>
          </a:prstGeom>
          <a:solidFill>
            <a:srgbClr val="02C39A"/>
          </a:solidFill>
          <a:ln w="12700">
            <a:solidFill>
              <a:srgbClr val="02C39A"/>
            </a:solidFill>
            <a:prstDash val="solid"/>
          </a:ln>
        </p:spPr>
        <p:txBody>
          <a:bodyPr/>
          <a:lstStyle/>
          <a:p>
            <a:endParaRPr lang="en-US"/>
          </a:p>
        </p:txBody>
      </p:sp>
      <p:sp>
        <p:nvSpPr>
          <p:cNvPr id="17" name="Text 15"/>
          <p:cNvSpPr/>
          <p:nvPr/>
        </p:nvSpPr>
        <p:spPr>
          <a:xfrm>
            <a:off x="6318504" y="2907792"/>
            <a:ext cx="2523744"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 &amp; AR Layer</a:t>
            </a:r>
            <a:endParaRPr lang="en-US" sz="1300" dirty="0"/>
          </a:p>
        </p:txBody>
      </p:sp>
      <p:sp>
        <p:nvSpPr>
          <p:cNvPr id="18" name="Text 16"/>
          <p:cNvSpPr/>
          <p:nvPr/>
        </p:nvSpPr>
        <p:spPr>
          <a:xfrm>
            <a:off x="6318504" y="3337560"/>
            <a:ext cx="2523744" cy="1097280"/>
          </a:xfrm>
          <a:prstGeom prst="rect">
            <a:avLst/>
          </a:prstGeom>
          <a:noFill/>
          <a:ln/>
        </p:spPr>
        <p:txBody>
          <a:bodyPr wrap="square" rtlCol="0" anchor="ctr"/>
          <a:lstStyle/>
          <a:p>
            <a:pPr marL="0" indent="0">
              <a:buNone/>
            </a:pPr>
            <a:r>
              <a:rPr lang="en-US" sz="1100" dirty="0">
                <a:solidFill>
                  <a:srgbClr val="E8F4F8"/>
                </a:solidFill>
                <a:latin typeface="Calibri" pitchFamily="34" charset="0"/>
                <a:ea typeface="Calibri" pitchFamily="34" charset="-122"/>
                <a:cs typeface="Calibri" pitchFamily="34" charset="-120"/>
              </a:rPr>
              <a:t>Demand forecasting, semantic search &amp; AR navigation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5943600" cy="640080"/>
          </a:xfrm>
          <a:prstGeom prst="rect">
            <a:avLst/>
          </a:prstGeom>
          <a:noFill/>
          <a:ln/>
        </p:spPr>
        <p:txBody>
          <a:bodyPr wrap="square"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FEATURE GAP ANALYSIS</a:t>
            </a:r>
            <a:endParaRPr lang="en-US" sz="1500" dirty="0"/>
          </a:p>
        </p:txBody>
      </p:sp>
      <p:sp>
        <p:nvSpPr>
          <p:cNvPr id="4" name="Shape 2"/>
          <p:cNvSpPr/>
          <p:nvPr/>
        </p:nvSpPr>
        <p:spPr>
          <a:xfrm>
            <a:off x="6492240" y="182880"/>
            <a:ext cx="201168" cy="201168"/>
          </a:xfrm>
          <a:prstGeom prst="rect">
            <a:avLst/>
          </a:prstGeom>
          <a:solidFill>
            <a:srgbClr val="02C39A"/>
          </a:solidFill>
          <a:ln w="12700">
            <a:solidFill>
              <a:srgbClr val="02C39A"/>
            </a:solidFill>
            <a:prstDash val="solid"/>
          </a:ln>
        </p:spPr>
        <p:txBody>
          <a:bodyPr/>
          <a:lstStyle/>
          <a:p>
            <a:endParaRPr lang="en-US"/>
          </a:p>
        </p:txBody>
      </p:sp>
      <p:sp>
        <p:nvSpPr>
          <p:cNvPr id="5" name="Text 3"/>
          <p:cNvSpPr/>
          <p:nvPr/>
        </p:nvSpPr>
        <p:spPr>
          <a:xfrm>
            <a:off x="6748272" y="137160"/>
            <a:ext cx="1371600" cy="292608"/>
          </a:xfrm>
          <a:prstGeom prst="rect">
            <a:avLst/>
          </a:prstGeom>
          <a:noFill/>
          <a:ln/>
        </p:spPr>
        <p:txBody>
          <a:bodyPr wrap="square" lIns="0" tIns="0" rIns="0" bIns="0" rtlCol="0" anchor="ctr"/>
          <a:lstStyle/>
          <a:p>
            <a:pPr marL="0" indent="0">
              <a:buNone/>
            </a:pPr>
            <a:r>
              <a:rPr lang="en-US" sz="800" dirty="0">
                <a:solidFill>
                  <a:srgbClr val="E8F4F8"/>
                </a:solidFill>
                <a:latin typeface="Calibri" pitchFamily="34" charset="0"/>
                <a:ea typeface="Calibri" pitchFamily="34" charset="-122"/>
                <a:cs typeface="Calibri" pitchFamily="34" charset="-120"/>
              </a:rPr>
              <a:t>= Exists in TAMUCC library</a:t>
            </a:r>
            <a:endParaRPr lang="en-US" sz="800" dirty="0"/>
          </a:p>
        </p:txBody>
      </p:sp>
      <p:sp>
        <p:nvSpPr>
          <p:cNvPr id="6" name="Shape 4"/>
          <p:cNvSpPr/>
          <p:nvPr/>
        </p:nvSpPr>
        <p:spPr>
          <a:xfrm>
            <a:off x="8156448" y="182880"/>
            <a:ext cx="201168" cy="201168"/>
          </a:xfrm>
          <a:prstGeom prst="rect">
            <a:avLst/>
          </a:prstGeom>
          <a:solidFill>
            <a:srgbClr val="F96167"/>
          </a:solidFill>
          <a:ln w="12700">
            <a:solidFill>
              <a:srgbClr val="F96167"/>
            </a:solidFill>
            <a:prstDash val="solid"/>
          </a:ln>
        </p:spPr>
        <p:txBody>
          <a:bodyPr/>
          <a:lstStyle/>
          <a:p>
            <a:endParaRPr lang="en-US"/>
          </a:p>
        </p:txBody>
      </p:sp>
      <p:sp>
        <p:nvSpPr>
          <p:cNvPr id="7" name="Text 5"/>
          <p:cNvSpPr/>
          <p:nvPr/>
        </p:nvSpPr>
        <p:spPr>
          <a:xfrm>
            <a:off x="8394192" y="137160"/>
            <a:ext cx="640080" cy="292608"/>
          </a:xfrm>
          <a:prstGeom prst="rect">
            <a:avLst/>
          </a:prstGeom>
          <a:noFill/>
          <a:ln/>
        </p:spPr>
        <p:txBody>
          <a:bodyPr wrap="square" lIns="0" tIns="0" rIns="0" bIns="0" rtlCol="0" anchor="ctr"/>
          <a:lstStyle/>
          <a:p>
            <a:pPr marL="0" indent="0">
              <a:buNone/>
            </a:pPr>
            <a:r>
              <a:rPr lang="en-US" sz="800" dirty="0">
                <a:solidFill>
                  <a:srgbClr val="E8F4F8"/>
                </a:solidFill>
                <a:latin typeface="Calibri" pitchFamily="34" charset="0"/>
                <a:ea typeface="Calibri" pitchFamily="34" charset="-122"/>
                <a:cs typeface="Calibri" pitchFamily="34" charset="-120"/>
              </a:rPr>
              <a:t>= Gap</a:t>
            </a:r>
            <a:endParaRPr lang="en-US" sz="800" dirty="0"/>
          </a:p>
        </p:txBody>
      </p:sp>
      <p:sp>
        <p:nvSpPr>
          <p:cNvPr id="8" name="Shape 6"/>
          <p:cNvSpPr/>
          <p:nvPr/>
        </p:nvSpPr>
        <p:spPr>
          <a:xfrm>
            <a:off x="201168" y="713232"/>
            <a:ext cx="3017520" cy="475488"/>
          </a:xfrm>
          <a:prstGeom prst="rect">
            <a:avLst/>
          </a:prstGeom>
          <a:solidFill>
            <a:srgbClr val="028090"/>
          </a:solidFill>
          <a:ln w="12700">
            <a:solidFill>
              <a:srgbClr val="0D1B2A"/>
            </a:solidFill>
            <a:prstDash val="solid"/>
          </a:ln>
        </p:spPr>
        <p:txBody>
          <a:bodyPr/>
          <a:lstStyle/>
          <a:p>
            <a:endParaRPr lang="en-US"/>
          </a:p>
        </p:txBody>
      </p:sp>
      <p:sp>
        <p:nvSpPr>
          <p:cNvPr id="9" name="Text 7"/>
          <p:cNvSpPr/>
          <p:nvPr/>
        </p:nvSpPr>
        <p:spPr>
          <a:xfrm>
            <a:off x="256032" y="713232"/>
            <a:ext cx="2944368"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p>
        </p:txBody>
      </p:sp>
      <p:sp>
        <p:nvSpPr>
          <p:cNvPr id="10" name="Shape 8"/>
          <p:cNvSpPr/>
          <p:nvPr/>
        </p:nvSpPr>
        <p:spPr>
          <a:xfrm>
            <a:off x="3291840" y="713232"/>
            <a:ext cx="2331720" cy="475488"/>
          </a:xfrm>
          <a:prstGeom prst="rect">
            <a:avLst/>
          </a:prstGeom>
          <a:solidFill>
            <a:srgbClr val="028090"/>
          </a:solidFill>
          <a:ln w="12700">
            <a:solidFill>
              <a:srgbClr val="0D1B2A"/>
            </a:solidFill>
            <a:prstDash val="solid"/>
          </a:ln>
        </p:spPr>
        <p:txBody>
          <a:bodyPr/>
          <a:lstStyle/>
          <a:p>
            <a:endParaRPr lang="en-US"/>
          </a:p>
        </p:txBody>
      </p:sp>
      <p:sp>
        <p:nvSpPr>
          <p:cNvPr id="11" name="Text 9"/>
          <p:cNvSpPr/>
          <p:nvPr/>
        </p:nvSpPr>
        <p:spPr>
          <a:xfrm>
            <a:off x="3346704" y="713232"/>
            <a:ext cx="2258568"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p>
        </p:txBody>
      </p:sp>
      <p:sp>
        <p:nvSpPr>
          <p:cNvPr id="12" name="Shape 10"/>
          <p:cNvSpPr/>
          <p:nvPr/>
        </p:nvSpPr>
        <p:spPr>
          <a:xfrm>
            <a:off x="5669280" y="713232"/>
            <a:ext cx="1188720" cy="475488"/>
          </a:xfrm>
          <a:prstGeom prst="rect">
            <a:avLst/>
          </a:prstGeom>
          <a:solidFill>
            <a:srgbClr val="028090"/>
          </a:solidFill>
          <a:ln w="12700">
            <a:solidFill>
              <a:srgbClr val="0D1B2A"/>
            </a:solidFill>
            <a:prstDash val="solid"/>
          </a:ln>
        </p:spPr>
        <p:txBody>
          <a:bodyPr/>
          <a:lstStyle/>
          <a:p>
            <a:endParaRPr lang="en-US"/>
          </a:p>
        </p:txBody>
      </p:sp>
      <p:sp>
        <p:nvSpPr>
          <p:cNvPr id="13" name="Text 11"/>
          <p:cNvSpPr/>
          <p:nvPr/>
        </p:nvSpPr>
        <p:spPr>
          <a:xfrm>
            <a:off x="5724144" y="713232"/>
            <a:ext cx="1115568"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TAMUCC Library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Portal</a:t>
            </a:r>
            <a:endParaRPr lang="en-US" sz="1000" dirty="0"/>
          </a:p>
        </p:txBody>
      </p:sp>
      <p:sp>
        <p:nvSpPr>
          <p:cNvPr id="14" name="Shape 12"/>
          <p:cNvSpPr/>
          <p:nvPr/>
        </p:nvSpPr>
        <p:spPr>
          <a:xfrm>
            <a:off x="6903720" y="713232"/>
            <a:ext cx="1143000" cy="475488"/>
          </a:xfrm>
          <a:prstGeom prst="rect">
            <a:avLst/>
          </a:prstGeom>
          <a:solidFill>
            <a:srgbClr val="028090"/>
          </a:solidFill>
          <a:ln w="12700">
            <a:solidFill>
              <a:srgbClr val="0D1B2A"/>
            </a:solidFill>
            <a:prstDash val="solid"/>
          </a:ln>
        </p:spPr>
        <p:txBody>
          <a:bodyPr/>
          <a:lstStyle/>
          <a:p>
            <a:endParaRPr lang="en-US"/>
          </a:p>
        </p:txBody>
      </p:sp>
      <p:sp>
        <p:nvSpPr>
          <p:cNvPr id="15" name="Text 13"/>
          <p:cNvSpPr/>
          <p:nvPr/>
        </p:nvSpPr>
        <p:spPr>
          <a:xfrm>
            <a:off x="6958584" y="713232"/>
            <a:ext cx="1069848"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LibConnect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Pro</a:t>
            </a:r>
            <a:endParaRPr lang="en-US" sz="1000" dirty="0"/>
          </a:p>
        </p:txBody>
      </p:sp>
      <p:sp>
        <p:nvSpPr>
          <p:cNvPr id="16" name="Shape 14"/>
          <p:cNvSpPr/>
          <p:nvPr/>
        </p:nvSpPr>
        <p:spPr>
          <a:xfrm>
            <a:off x="8046720" y="713232"/>
            <a:ext cx="914400" cy="475488"/>
          </a:xfrm>
          <a:prstGeom prst="rect">
            <a:avLst/>
          </a:prstGeom>
          <a:solidFill>
            <a:srgbClr val="028090"/>
          </a:solidFill>
          <a:ln w="12700">
            <a:solidFill>
              <a:srgbClr val="0D1B2A"/>
            </a:solidFill>
            <a:prstDash val="solid"/>
          </a:ln>
        </p:spPr>
        <p:txBody>
          <a:bodyPr/>
          <a:lstStyle/>
          <a:p>
            <a:endParaRPr lang="en-US"/>
          </a:p>
        </p:txBody>
      </p:sp>
      <p:sp>
        <p:nvSpPr>
          <p:cNvPr id="17" name="Text 15"/>
          <p:cNvSpPr/>
          <p:nvPr/>
        </p:nvSpPr>
        <p:spPr>
          <a:xfrm>
            <a:off x="8101584" y="713232"/>
            <a:ext cx="841248"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Priority</a:t>
            </a:r>
            <a:endParaRPr lang="en-US" sz="1000" dirty="0"/>
          </a:p>
        </p:txBody>
      </p:sp>
      <p:sp>
        <p:nvSpPr>
          <p:cNvPr id="18" name="Shape 16"/>
          <p:cNvSpPr/>
          <p:nvPr/>
        </p:nvSpPr>
        <p:spPr>
          <a:xfrm>
            <a:off x="201168" y="1216152"/>
            <a:ext cx="8759952" cy="315468"/>
          </a:xfrm>
          <a:prstGeom prst="rect">
            <a:avLst/>
          </a:prstGeom>
          <a:solidFill>
            <a:srgbClr val="FFFFFF"/>
          </a:solidFill>
          <a:ln w="6350">
            <a:solidFill>
              <a:srgbClr val="E2E8F0"/>
            </a:solidFill>
            <a:prstDash val="solid"/>
          </a:ln>
        </p:spPr>
        <p:txBody>
          <a:bodyPr/>
          <a:lstStyle/>
          <a:p>
            <a:endParaRPr lang="en-US"/>
          </a:p>
        </p:txBody>
      </p:sp>
      <p:sp>
        <p:nvSpPr>
          <p:cNvPr id="19" name="Text 17"/>
          <p:cNvSpPr/>
          <p:nvPr/>
        </p:nvSpPr>
        <p:spPr>
          <a:xfrm>
            <a:off x="274320" y="1216152"/>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Real-Time Stock Alerts</a:t>
            </a:r>
            <a:endParaRPr lang="en-US" sz="950" dirty="0"/>
          </a:p>
        </p:txBody>
      </p:sp>
      <p:sp>
        <p:nvSpPr>
          <p:cNvPr id="20" name="Text 18"/>
          <p:cNvSpPr/>
          <p:nvPr/>
        </p:nvSpPr>
        <p:spPr>
          <a:xfrm>
            <a:off x="3346704" y="1216152"/>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Notify users when out-of-stock books return</a:t>
            </a:r>
            <a:endParaRPr lang="en-US" sz="850" dirty="0"/>
          </a:p>
        </p:txBody>
      </p:sp>
      <p:sp>
        <p:nvSpPr>
          <p:cNvPr id="21" name="Text 19"/>
          <p:cNvSpPr/>
          <p:nvPr/>
        </p:nvSpPr>
        <p:spPr>
          <a:xfrm>
            <a:off x="5669280" y="1216152"/>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6903720" y="1216152"/>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8046720" y="1216152"/>
            <a:ext cx="914400" cy="315468"/>
          </a:xfrm>
          <a:prstGeom prst="rect">
            <a:avLst/>
          </a:prstGeom>
          <a:noFill/>
          <a:ln/>
        </p:spPr>
        <p:txBody>
          <a:bodyPr wrap="square" lIns="0" tIns="0" rIns="0" bIns="0" rtlCol="0" anchor="ctr"/>
          <a:lstStyle/>
          <a:p>
            <a:pPr marL="0" indent="0" algn="ctr">
              <a:buNone/>
            </a:pPr>
            <a:r>
              <a:rPr lang="en-US" sz="850" b="1" dirty="0">
                <a:solidFill>
                  <a:srgbClr val="F96167"/>
                </a:solidFill>
                <a:latin typeface="Calibri" pitchFamily="34" charset="0"/>
                <a:ea typeface="Calibri" pitchFamily="34" charset="-122"/>
                <a:cs typeface="Calibri" pitchFamily="34" charset="-120"/>
              </a:rPr>
              <a:t>High</a:t>
            </a:r>
            <a:endParaRPr lang="en-US" sz="850" dirty="0"/>
          </a:p>
        </p:txBody>
      </p:sp>
      <p:sp>
        <p:nvSpPr>
          <p:cNvPr id="24" name="Shape 22"/>
          <p:cNvSpPr/>
          <p:nvPr/>
        </p:nvSpPr>
        <p:spPr>
          <a:xfrm>
            <a:off x="201168" y="1531620"/>
            <a:ext cx="8759952" cy="315468"/>
          </a:xfrm>
          <a:prstGeom prst="rect">
            <a:avLst/>
          </a:prstGeom>
          <a:solidFill>
            <a:srgbClr val="F0F7F9"/>
          </a:solidFill>
          <a:ln w="6350">
            <a:solidFill>
              <a:srgbClr val="E2E8F0"/>
            </a:solidFill>
            <a:prstDash val="solid"/>
          </a:ln>
        </p:spPr>
        <p:txBody>
          <a:bodyPr/>
          <a:lstStyle/>
          <a:p>
            <a:endParaRPr lang="en-US"/>
          </a:p>
        </p:txBody>
      </p:sp>
      <p:sp>
        <p:nvSpPr>
          <p:cNvPr id="25" name="Text 23"/>
          <p:cNvSpPr/>
          <p:nvPr/>
        </p:nvSpPr>
        <p:spPr>
          <a:xfrm>
            <a:off x="274320" y="1531620"/>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Automated Fine Blocking</a:t>
            </a:r>
            <a:endParaRPr lang="en-US" sz="950" dirty="0"/>
          </a:p>
        </p:txBody>
      </p:sp>
      <p:sp>
        <p:nvSpPr>
          <p:cNvPr id="26" name="Text 24"/>
          <p:cNvSpPr/>
          <p:nvPr/>
        </p:nvSpPr>
        <p:spPr>
          <a:xfrm>
            <a:off x="3346704" y="1531620"/>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Hard-block borrowing when fines exceed limit</a:t>
            </a:r>
            <a:endParaRPr lang="en-US" sz="850" dirty="0"/>
          </a:p>
        </p:txBody>
      </p:sp>
      <p:sp>
        <p:nvSpPr>
          <p:cNvPr id="27" name="Text 25"/>
          <p:cNvSpPr/>
          <p:nvPr/>
        </p:nvSpPr>
        <p:spPr>
          <a:xfrm>
            <a:off x="5669280" y="1531620"/>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903720" y="1531620"/>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8046720" y="1531620"/>
            <a:ext cx="914400" cy="315468"/>
          </a:xfrm>
          <a:prstGeom prst="rect">
            <a:avLst/>
          </a:prstGeom>
          <a:noFill/>
          <a:ln/>
        </p:spPr>
        <p:txBody>
          <a:bodyPr wrap="square" lIns="0" tIns="0" rIns="0" bIns="0" rtlCol="0" anchor="ctr"/>
          <a:lstStyle/>
          <a:p>
            <a:pPr marL="0" indent="0" algn="ctr">
              <a:buNone/>
            </a:pPr>
            <a:r>
              <a:rPr lang="en-US" sz="850" b="1" dirty="0">
                <a:solidFill>
                  <a:srgbClr val="F96167"/>
                </a:solidFill>
                <a:latin typeface="Calibri" pitchFamily="34" charset="0"/>
                <a:ea typeface="Calibri" pitchFamily="34" charset="-122"/>
                <a:cs typeface="Calibri" pitchFamily="34" charset="-120"/>
              </a:rPr>
              <a:t>High</a:t>
            </a:r>
            <a:endParaRPr lang="en-US" sz="850" dirty="0"/>
          </a:p>
        </p:txBody>
      </p:sp>
      <p:sp>
        <p:nvSpPr>
          <p:cNvPr id="30" name="Shape 28"/>
          <p:cNvSpPr/>
          <p:nvPr/>
        </p:nvSpPr>
        <p:spPr>
          <a:xfrm>
            <a:off x="201168" y="1847088"/>
            <a:ext cx="8759952" cy="315468"/>
          </a:xfrm>
          <a:prstGeom prst="rect">
            <a:avLst/>
          </a:prstGeom>
          <a:solidFill>
            <a:srgbClr val="FFFFFF"/>
          </a:solidFill>
          <a:ln w="6350">
            <a:solidFill>
              <a:srgbClr val="E2E8F0"/>
            </a:solidFill>
            <a:prstDash val="solid"/>
          </a:ln>
        </p:spPr>
        <p:txBody>
          <a:bodyPr/>
          <a:lstStyle/>
          <a:p>
            <a:endParaRPr lang="en-US"/>
          </a:p>
        </p:txBody>
      </p:sp>
      <p:sp>
        <p:nvSpPr>
          <p:cNvPr id="31" name="Text 29"/>
          <p:cNvSpPr/>
          <p:nvPr/>
        </p:nvSpPr>
        <p:spPr>
          <a:xfrm>
            <a:off x="274320" y="1847088"/>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Smart Loan Periods</a:t>
            </a:r>
            <a:endParaRPr lang="en-US" sz="950" dirty="0"/>
          </a:p>
        </p:txBody>
      </p:sp>
      <p:sp>
        <p:nvSpPr>
          <p:cNvPr id="32" name="Text 30"/>
          <p:cNvSpPr/>
          <p:nvPr/>
        </p:nvSpPr>
        <p:spPr>
          <a:xfrm>
            <a:off x="3346704" y="1847088"/>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Dynamic loan durations based on demand</a:t>
            </a:r>
            <a:endParaRPr lang="en-US" sz="850" dirty="0"/>
          </a:p>
        </p:txBody>
      </p:sp>
      <p:sp>
        <p:nvSpPr>
          <p:cNvPr id="33" name="Text 31"/>
          <p:cNvSpPr/>
          <p:nvPr/>
        </p:nvSpPr>
        <p:spPr>
          <a:xfrm>
            <a:off x="5669280" y="1847088"/>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6903720" y="1847088"/>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8046720" y="1847088"/>
            <a:ext cx="914400" cy="315468"/>
          </a:xfrm>
          <a:prstGeom prst="rect">
            <a:avLst/>
          </a:prstGeom>
          <a:noFill/>
          <a:ln/>
        </p:spPr>
        <p:txBody>
          <a:bodyPr wrap="square" lIns="0" tIns="0" rIns="0" bIns="0" rtlCol="0" anchor="ctr"/>
          <a:lstStyle/>
          <a:p>
            <a:pPr marL="0" indent="0" algn="ctr">
              <a:buNone/>
            </a:pPr>
            <a:r>
              <a:rPr lang="en-US" sz="850" b="1" dirty="0">
                <a:solidFill>
                  <a:srgbClr val="F96167"/>
                </a:solidFill>
                <a:latin typeface="Calibri" pitchFamily="34" charset="0"/>
                <a:ea typeface="Calibri" pitchFamily="34" charset="-122"/>
                <a:cs typeface="Calibri" pitchFamily="34" charset="-120"/>
              </a:rPr>
              <a:t>High</a:t>
            </a:r>
            <a:endParaRPr lang="en-US" sz="850" dirty="0"/>
          </a:p>
        </p:txBody>
      </p:sp>
      <p:sp>
        <p:nvSpPr>
          <p:cNvPr id="36" name="Shape 34"/>
          <p:cNvSpPr/>
          <p:nvPr/>
        </p:nvSpPr>
        <p:spPr>
          <a:xfrm>
            <a:off x="201168" y="2162556"/>
            <a:ext cx="8759952" cy="315468"/>
          </a:xfrm>
          <a:prstGeom prst="rect">
            <a:avLst/>
          </a:prstGeom>
          <a:solidFill>
            <a:srgbClr val="F0F7F9"/>
          </a:solidFill>
          <a:ln w="6350">
            <a:solidFill>
              <a:srgbClr val="E2E8F0"/>
            </a:solidFill>
            <a:prstDash val="solid"/>
          </a:ln>
        </p:spPr>
        <p:txBody>
          <a:bodyPr/>
          <a:lstStyle/>
          <a:p>
            <a:endParaRPr lang="en-US"/>
          </a:p>
        </p:txBody>
      </p:sp>
      <p:sp>
        <p:nvSpPr>
          <p:cNvPr id="37" name="Text 35"/>
          <p:cNvSpPr/>
          <p:nvPr/>
        </p:nvSpPr>
        <p:spPr>
          <a:xfrm>
            <a:off x="274320" y="2162556"/>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Due-Date Reminders</a:t>
            </a:r>
            <a:endParaRPr lang="en-US" sz="950" dirty="0"/>
          </a:p>
        </p:txBody>
      </p:sp>
      <p:sp>
        <p:nvSpPr>
          <p:cNvPr id="38" name="Text 36"/>
          <p:cNvSpPr/>
          <p:nvPr/>
        </p:nvSpPr>
        <p:spPr>
          <a:xfrm>
            <a:off x="3346704" y="2162556"/>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Auto alerts at 60% &amp; 100% of loan period</a:t>
            </a:r>
            <a:endParaRPr lang="en-US" sz="850" dirty="0"/>
          </a:p>
        </p:txBody>
      </p:sp>
      <p:sp>
        <p:nvSpPr>
          <p:cNvPr id="39" name="Text 37"/>
          <p:cNvSpPr/>
          <p:nvPr/>
        </p:nvSpPr>
        <p:spPr>
          <a:xfrm>
            <a:off x="5669280" y="2162556"/>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40" name="Text 38"/>
          <p:cNvSpPr/>
          <p:nvPr/>
        </p:nvSpPr>
        <p:spPr>
          <a:xfrm>
            <a:off x="6903720" y="2162556"/>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41" name="Text 39"/>
          <p:cNvSpPr/>
          <p:nvPr/>
        </p:nvSpPr>
        <p:spPr>
          <a:xfrm>
            <a:off x="8046720" y="2162556"/>
            <a:ext cx="914400" cy="315468"/>
          </a:xfrm>
          <a:prstGeom prst="rect">
            <a:avLst/>
          </a:prstGeom>
          <a:noFill/>
          <a:ln/>
        </p:spPr>
        <p:txBody>
          <a:bodyPr wrap="square" lIns="0" tIns="0" rIns="0" bIns="0" rtlCol="0" anchor="ctr"/>
          <a:lstStyle/>
          <a:p>
            <a:pPr marL="0" indent="0" algn="ctr">
              <a:buNone/>
            </a:pPr>
            <a:r>
              <a:rPr lang="en-US" sz="850" b="1" dirty="0">
                <a:solidFill>
                  <a:srgbClr val="F96167"/>
                </a:solidFill>
                <a:latin typeface="Calibri" pitchFamily="34" charset="0"/>
                <a:ea typeface="Calibri" pitchFamily="34" charset="-122"/>
                <a:cs typeface="Calibri" pitchFamily="34" charset="-120"/>
              </a:rPr>
              <a:t>High</a:t>
            </a:r>
            <a:endParaRPr lang="en-US" sz="850" dirty="0"/>
          </a:p>
        </p:txBody>
      </p:sp>
      <p:sp>
        <p:nvSpPr>
          <p:cNvPr id="42" name="Shape 40"/>
          <p:cNvSpPr/>
          <p:nvPr/>
        </p:nvSpPr>
        <p:spPr>
          <a:xfrm>
            <a:off x="201168" y="2478024"/>
            <a:ext cx="8759952" cy="315468"/>
          </a:xfrm>
          <a:prstGeom prst="rect">
            <a:avLst/>
          </a:prstGeom>
          <a:solidFill>
            <a:srgbClr val="FFFFFF"/>
          </a:solidFill>
          <a:ln w="6350">
            <a:solidFill>
              <a:srgbClr val="E2E8F0"/>
            </a:solidFill>
            <a:prstDash val="solid"/>
          </a:ln>
        </p:spPr>
        <p:txBody>
          <a:bodyPr/>
          <a:lstStyle/>
          <a:p>
            <a:endParaRPr lang="en-US"/>
          </a:p>
        </p:txBody>
      </p:sp>
      <p:sp>
        <p:nvSpPr>
          <p:cNvPr id="43" name="Text 41"/>
          <p:cNvSpPr/>
          <p:nvPr/>
        </p:nvSpPr>
        <p:spPr>
          <a:xfrm>
            <a:off x="274320" y="2478024"/>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Demand Predictor (AI)</a:t>
            </a:r>
            <a:endParaRPr lang="en-US" sz="950" dirty="0"/>
          </a:p>
        </p:txBody>
      </p:sp>
      <p:sp>
        <p:nvSpPr>
          <p:cNvPr id="44" name="Text 42"/>
          <p:cNvSpPr/>
          <p:nvPr/>
        </p:nvSpPr>
        <p:spPr>
          <a:xfrm>
            <a:off x="3346704" y="2478024"/>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Forecast high-demand books by season/course</a:t>
            </a:r>
            <a:endParaRPr lang="en-US" sz="850" dirty="0"/>
          </a:p>
        </p:txBody>
      </p:sp>
      <p:sp>
        <p:nvSpPr>
          <p:cNvPr id="45" name="Text 43"/>
          <p:cNvSpPr/>
          <p:nvPr/>
        </p:nvSpPr>
        <p:spPr>
          <a:xfrm>
            <a:off x="5669280" y="2478024"/>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46" name="Text 44"/>
          <p:cNvSpPr/>
          <p:nvPr/>
        </p:nvSpPr>
        <p:spPr>
          <a:xfrm>
            <a:off x="6903720" y="2478024"/>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47" name="Text 45"/>
          <p:cNvSpPr/>
          <p:nvPr/>
        </p:nvSpPr>
        <p:spPr>
          <a:xfrm>
            <a:off x="8046720" y="2478024"/>
            <a:ext cx="914400" cy="315468"/>
          </a:xfrm>
          <a:prstGeom prst="rect">
            <a:avLst/>
          </a:prstGeom>
          <a:noFill/>
          <a:ln/>
        </p:spPr>
        <p:txBody>
          <a:bodyPr wrap="square" lIns="0" tIns="0" rIns="0" bIns="0" rtlCol="0" anchor="ctr"/>
          <a:lstStyle/>
          <a:p>
            <a:pPr marL="0" indent="0" algn="ctr">
              <a:buNone/>
            </a:pPr>
            <a:r>
              <a:rPr lang="en-US" sz="850" b="1" dirty="0">
                <a:solidFill>
                  <a:srgbClr val="F96167"/>
                </a:solidFill>
                <a:latin typeface="Calibri" pitchFamily="34" charset="0"/>
                <a:ea typeface="Calibri" pitchFamily="34" charset="-122"/>
                <a:cs typeface="Calibri" pitchFamily="34" charset="-120"/>
              </a:rPr>
              <a:t>High</a:t>
            </a:r>
            <a:endParaRPr lang="en-US" sz="850" dirty="0"/>
          </a:p>
        </p:txBody>
      </p:sp>
      <p:sp>
        <p:nvSpPr>
          <p:cNvPr id="48" name="Shape 46"/>
          <p:cNvSpPr/>
          <p:nvPr/>
        </p:nvSpPr>
        <p:spPr>
          <a:xfrm>
            <a:off x="201168" y="2793492"/>
            <a:ext cx="8759952" cy="315468"/>
          </a:xfrm>
          <a:prstGeom prst="rect">
            <a:avLst/>
          </a:prstGeom>
          <a:solidFill>
            <a:srgbClr val="F0F7F9"/>
          </a:solidFill>
          <a:ln w="6350">
            <a:solidFill>
              <a:srgbClr val="E2E8F0"/>
            </a:solidFill>
            <a:prstDash val="solid"/>
          </a:ln>
        </p:spPr>
        <p:txBody>
          <a:bodyPr/>
          <a:lstStyle/>
          <a:p>
            <a:endParaRPr lang="en-US"/>
          </a:p>
        </p:txBody>
      </p:sp>
      <p:sp>
        <p:nvSpPr>
          <p:cNvPr id="49" name="Text 47"/>
          <p:cNvSpPr/>
          <p:nvPr/>
        </p:nvSpPr>
        <p:spPr>
          <a:xfrm>
            <a:off x="274320" y="2793492"/>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AR Shelf Navigator</a:t>
            </a:r>
            <a:endParaRPr lang="en-US" sz="950" dirty="0"/>
          </a:p>
        </p:txBody>
      </p:sp>
      <p:sp>
        <p:nvSpPr>
          <p:cNvPr id="50" name="Text 48"/>
          <p:cNvSpPr/>
          <p:nvPr/>
        </p:nvSpPr>
        <p:spPr>
          <a:xfrm>
            <a:off x="3346704" y="2793492"/>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Mobile AR to locate books on shelves</a:t>
            </a:r>
            <a:endParaRPr lang="en-US" sz="850" dirty="0"/>
          </a:p>
        </p:txBody>
      </p:sp>
      <p:sp>
        <p:nvSpPr>
          <p:cNvPr id="51" name="Text 49"/>
          <p:cNvSpPr/>
          <p:nvPr/>
        </p:nvSpPr>
        <p:spPr>
          <a:xfrm>
            <a:off x="5669280" y="2793492"/>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52" name="Text 50"/>
          <p:cNvSpPr/>
          <p:nvPr/>
        </p:nvSpPr>
        <p:spPr>
          <a:xfrm>
            <a:off x="6903720" y="2793492"/>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53" name="Text 51"/>
          <p:cNvSpPr/>
          <p:nvPr/>
        </p:nvSpPr>
        <p:spPr>
          <a:xfrm>
            <a:off x="8046720" y="2793492"/>
            <a:ext cx="914400" cy="315468"/>
          </a:xfrm>
          <a:prstGeom prst="rect">
            <a:avLst/>
          </a:prstGeom>
          <a:noFill/>
          <a:ln/>
        </p:spPr>
        <p:txBody>
          <a:bodyPr wrap="square" lIns="0" tIns="0" rIns="0" bIns="0" rtlCol="0" anchor="ctr"/>
          <a:lstStyle/>
          <a:p>
            <a:pPr marL="0" indent="0" algn="ctr">
              <a:buNone/>
            </a:pPr>
            <a:r>
              <a:rPr lang="en-US" sz="850" b="1" dirty="0">
                <a:solidFill>
                  <a:srgbClr val="F9A825"/>
                </a:solidFill>
                <a:latin typeface="Calibri" pitchFamily="34" charset="0"/>
                <a:ea typeface="Calibri" pitchFamily="34" charset="-122"/>
                <a:cs typeface="Calibri" pitchFamily="34" charset="-120"/>
              </a:rPr>
              <a:t>Medium</a:t>
            </a:r>
            <a:endParaRPr lang="en-US" sz="850" dirty="0"/>
          </a:p>
        </p:txBody>
      </p:sp>
      <p:sp>
        <p:nvSpPr>
          <p:cNvPr id="54" name="Shape 52"/>
          <p:cNvSpPr/>
          <p:nvPr/>
        </p:nvSpPr>
        <p:spPr>
          <a:xfrm>
            <a:off x="201168" y="3108960"/>
            <a:ext cx="8759952" cy="315468"/>
          </a:xfrm>
          <a:prstGeom prst="rect">
            <a:avLst/>
          </a:prstGeom>
          <a:solidFill>
            <a:srgbClr val="FFFFFF"/>
          </a:solidFill>
          <a:ln w="6350">
            <a:solidFill>
              <a:srgbClr val="E2E8F0"/>
            </a:solidFill>
            <a:prstDash val="solid"/>
          </a:ln>
        </p:spPr>
        <p:txBody>
          <a:bodyPr/>
          <a:lstStyle/>
          <a:p>
            <a:endParaRPr lang="en-US"/>
          </a:p>
        </p:txBody>
      </p:sp>
      <p:sp>
        <p:nvSpPr>
          <p:cNvPr id="55" name="Text 53"/>
          <p:cNvSpPr/>
          <p:nvPr/>
        </p:nvSpPr>
        <p:spPr>
          <a:xfrm>
            <a:off x="274320" y="3108960"/>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Semantic / NLP Search</a:t>
            </a:r>
            <a:endParaRPr lang="en-US" sz="950" dirty="0"/>
          </a:p>
        </p:txBody>
      </p:sp>
      <p:sp>
        <p:nvSpPr>
          <p:cNvPr id="56" name="Text 54"/>
          <p:cNvSpPr/>
          <p:nvPr/>
        </p:nvSpPr>
        <p:spPr>
          <a:xfrm>
            <a:off x="3346704" y="3108960"/>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Topic-cluster based book discovery</a:t>
            </a:r>
            <a:endParaRPr lang="en-US" sz="850" dirty="0"/>
          </a:p>
        </p:txBody>
      </p:sp>
      <p:sp>
        <p:nvSpPr>
          <p:cNvPr id="57" name="Text 55"/>
          <p:cNvSpPr/>
          <p:nvPr/>
        </p:nvSpPr>
        <p:spPr>
          <a:xfrm>
            <a:off x="5669280" y="3108960"/>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58" name="Text 56"/>
          <p:cNvSpPr/>
          <p:nvPr/>
        </p:nvSpPr>
        <p:spPr>
          <a:xfrm>
            <a:off x="6903720" y="3108960"/>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59" name="Text 57"/>
          <p:cNvSpPr/>
          <p:nvPr/>
        </p:nvSpPr>
        <p:spPr>
          <a:xfrm>
            <a:off x="8046720" y="3108960"/>
            <a:ext cx="914400" cy="315468"/>
          </a:xfrm>
          <a:prstGeom prst="rect">
            <a:avLst/>
          </a:prstGeom>
          <a:noFill/>
          <a:ln/>
        </p:spPr>
        <p:txBody>
          <a:bodyPr wrap="square" lIns="0" tIns="0" rIns="0" bIns="0" rtlCol="0" anchor="ctr"/>
          <a:lstStyle/>
          <a:p>
            <a:pPr marL="0" indent="0" algn="ctr">
              <a:buNone/>
            </a:pPr>
            <a:r>
              <a:rPr lang="en-US" sz="850" b="1" dirty="0">
                <a:solidFill>
                  <a:srgbClr val="F96167"/>
                </a:solidFill>
                <a:latin typeface="Calibri" pitchFamily="34" charset="0"/>
                <a:ea typeface="Calibri" pitchFamily="34" charset="-122"/>
                <a:cs typeface="Calibri" pitchFamily="34" charset="-120"/>
              </a:rPr>
              <a:t>High</a:t>
            </a:r>
            <a:endParaRPr lang="en-US" sz="850" dirty="0"/>
          </a:p>
        </p:txBody>
      </p:sp>
      <p:sp>
        <p:nvSpPr>
          <p:cNvPr id="60" name="Shape 58"/>
          <p:cNvSpPr/>
          <p:nvPr/>
        </p:nvSpPr>
        <p:spPr>
          <a:xfrm>
            <a:off x="201168" y="3424428"/>
            <a:ext cx="8759952" cy="315468"/>
          </a:xfrm>
          <a:prstGeom prst="rect">
            <a:avLst/>
          </a:prstGeom>
          <a:solidFill>
            <a:srgbClr val="F0F7F9"/>
          </a:solidFill>
          <a:ln w="6350">
            <a:solidFill>
              <a:srgbClr val="E2E8F0"/>
            </a:solidFill>
            <a:prstDash val="solid"/>
          </a:ln>
        </p:spPr>
        <p:txBody>
          <a:bodyPr/>
          <a:lstStyle/>
          <a:p>
            <a:endParaRPr lang="en-US"/>
          </a:p>
        </p:txBody>
      </p:sp>
      <p:sp>
        <p:nvSpPr>
          <p:cNvPr id="61" name="Text 59"/>
          <p:cNvSpPr/>
          <p:nvPr/>
        </p:nvSpPr>
        <p:spPr>
          <a:xfrm>
            <a:off x="274320" y="3424428"/>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AI Research Helper</a:t>
            </a:r>
            <a:endParaRPr lang="en-US" sz="950" dirty="0"/>
          </a:p>
        </p:txBody>
      </p:sp>
      <p:sp>
        <p:nvSpPr>
          <p:cNvPr id="62" name="Text 60"/>
          <p:cNvSpPr/>
          <p:nvPr/>
        </p:nvSpPr>
        <p:spPr>
          <a:xfrm>
            <a:off x="3346704" y="3424428"/>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AI chatbot for research guidance &amp; strategy</a:t>
            </a:r>
            <a:endParaRPr lang="en-US" sz="850" dirty="0"/>
          </a:p>
        </p:txBody>
      </p:sp>
      <p:sp>
        <p:nvSpPr>
          <p:cNvPr id="63" name="Text 61"/>
          <p:cNvSpPr/>
          <p:nvPr/>
        </p:nvSpPr>
        <p:spPr>
          <a:xfrm>
            <a:off x="5669280" y="3424428"/>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64" name="Text 62"/>
          <p:cNvSpPr/>
          <p:nvPr/>
        </p:nvSpPr>
        <p:spPr>
          <a:xfrm>
            <a:off x="6903720" y="3424428"/>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65" name="Text 63"/>
          <p:cNvSpPr/>
          <p:nvPr/>
        </p:nvSpPr>
        <p:spPr>
          <a:xfrm>
            <a:off x="8046720" y="3424428"/>
            <a:ext cx="914400" cy="315468"/>
          </a:xfrm>
          <a:prstGeom prst="rect">
            <a:avLst/>
          </a:prstGeom>
          <a:noFill/>
          <a:ln/>
        </p:spPr>
        <p:txBody>
          <a:bodyPr wrap="square" lIns="0" tIns="0" rIns="0" bIns="0" rtlCol="0" anchor="ctr"/>
          <a:lstStyle/>
          <a:p>
            <a:pPr marL="0" indent="0" algn="ctr">
              <a:buNone/>
            </a:pPr>
            <a:r>
              <a:rPr lang="en-US" sz="850" b="1" dirty="0">
                <a:solidFill>
                  <a:srgbClr val="F96167"/>
                </a:solidFill>
                <a:latin typeface="Calibri" pitchFamily="34" charset="0"/>
                <a:ea typeface="Calibri" pitchFamily="34" charset="-122"/>
                <a:cs typeface="Calibri" pitchFamily="34" charset="-120"/>
              </a:rPr>
              <a:t>High</a:t>
            </a:r>
            <a:endParaRPr lang="en-US" sz="850" dirty="0"/>
          </a:p>
        </p:txBody>
      </p:sp>
      <p:sp>
        <p:nvSpPr>
          <p:cNvPr id="66" name="Shape 64"/>
          <p:cNvSpPr/>
          <p:nvPr/>
        </p:nvSpPr>
        <p:spPr>
          <a:xfrm>
            <a:off x="201168" y="3739896"/>
            <a:ext cx="8759952" cy="315468"/>
          </a:xfrm>
          <a:prstGeom prst="rect">
            <a:avLst/>
          </a:prstGeom>
          <a:solidFill>
            <a:srgbClr val="FFFFFF"/>
          </a:solidFill>
          <a:ln w="6350">
            <a:solidFill>
              <a:srgbClr val="E2E8F0"/>
            </a:solidFill>
            <a:prstDash val="solid"/>
          </a:ln>
        </p:spPr>
        <p:txBody>
          <a:bodyPr/>
          <a:lstStyle/>
          <a:p>
            <a:endParaRPr lang="en-US"/>
          </a:p>
        </p:txBody>
      </p:sp>
      <p:sp>
        <p:nvSpPr>
          <p:cNvPr id="67" name="Text 65"/>
          <p:cNvSpPr/>
          <p:nvPr/>
        </p:nvSpPr>
        <p:spPr>
          <a:xfrm>
            <a:off x="274320" y="3739896"/>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Research Tracker</a:t>
            </a:r>
            <a:endParaRPr lang="en-US" sz="950" dirty="0"/>
          </a:p>
        </p:txBody>
      </p:sp>
      <p:sp>
        <p:nvSpPr>
          <p:cNvPr id="68" name="Text 66"/>
          <p:cNvSpPr/>
          <p:nvPr/>
        </p:nvSpPr>
        <p:spPr>
          <a:xfrm>
            <a:off x="3346704" y="3739896"/>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Milestone-based research progress tracker</a:t>
            </a:r>
            <a:endParaRPr lang="en-US" sz="850" dirty="0"/>
          </a:p>
        </p:txBody>
      </p:sp>
      <p:sp>
        <p:nvSpPr>
          <p:cNvPr id="69" name="Text 67"/>
          <p:cNvSpPr/>
          <p:nvPr/>
        </p:nvSpPr>
        <p:spPr>
          <a:xfrm>
            <a:off x="5669280" y="3739896"/>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70" name="Text 68"/>
          <p:cNvSpPr/>
          <p:nvPr/>
        </p:nvSpPr>
        <p:spPr>
          <a:xfrm>
            <a:off x="6903720" y="3739896"/>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71" name="Text 69"/>
          <p:cNvSpPr/>
          <p:nvPr/>
        </p:nvSpPr>
        <p:spPr>
          <a:xfrm>
            <a:off x="8046720" y="3739896"/>
            <a:ext cx="914400" cy="315468"/>
          </a:xfrm>
          <a:prstGeom prst="rect">
            <a:avLst/>
          </a:prstGeom>
          <a:noFill/>
          <a:ln/>
        </p:spPr>
        <p:txBody>
          <a:bodyPr wrap="square" lIns="0" tIns="0" rIns="0" bIns="0" rtlCol="0" anchor="ctr"/>
          <a:lstStyle/>
          <a:p>
            <a:pPr marL="0" indent="0" algn="ctr">
              <a:buNone/>
            </a:pPr>
            <a:r>
              <a:rPr lang="en-US" sz="850" b="1" dirty="0">
                <a:solidFill>
                  <a:srgbClr val="F9A825"/>
                </a:solidFill>
                <a:latin typeface="Calibri" pitchFamily="34" charset="0"/>
                <a:ea typeface="Calibri" pitchFamily="34" charset="-122"/>
                <a:cs typeface="Calibri" pitchFamily="34" charset="-120"/>
              </a:rPr>
              <a:t>Medium</a:t>
            </a:r>
            <a:endParaRPr lang="en-US" sz="850" dirty="0"/>
          </a:p>
        </p:txBody>
      </p:sp>
      <p:sp>
        <p:nvSpPr>
          <p:cNvPr id="72" name="Shape 70"/>
          <p:cNvSpPr/>
          <p:nvPr/>
        </p:nvSpPr>
        <p:spPr>
          <a:xfrm>
            <a:off x="201168" y="4055364"/>
            <a:ext cx="8759952" cy="315468"/>
          </a:xfrm>
          <a:prstGeom prst="rect">
            <a:avLst/>
          </a:prstGeom>
          <a:solidFill>
            <a:srgbClr val="F0F7F9"/>
          </a:solidFill>
          <a:ln w="6350">
            <a:solidFill>
              <a:srgbClr val="E2E8F0"/>
            </a:solidFill>
            <a:prstDash val="solid"/>
          </a:ln>
        </p:spPr>
        <p:txBody>
          <a:bodyPr/>
          <a:lstStyle/>
          <a:p>
            <a:endParaRPr lang="en-US"/>
          </a:p>
        </p:txBody>
      </p:sp>
      <p:sp>
        <p:nvSpPr>
          <p:cNvPr id="73" name="Text 71"/>
          <p:cNvSpPr/>
          <p:nvPr/>
        </p:nvSpPr>
        <p:spPr>
          <a:xfrm>
            <a:off x="274320" y="4055364"/>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Usage Analytics Dashboard</a:t>
            </a:r>
            <a:endParaRPr lang="en-US" sz="950" dirty="0"/>
          </a:p>
        </p:txBody>
      </p:sp>
      <p:sp>
        <p:nvSpPr>
          <p:cNvPr id="74" name="Text 72"/>
          <p:cNvSpPr/>
          <p:nvPr/>
        </p:nvSpPr>
        <p:spPr>
          <a:xfrm>
            <a:off x="3346704" y="4055364"/>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Visual insights on trends &amp; popular resources</a:t>
            </a:r>
            <a:endParaRPr lang="en-US" sz="850" dirty="0"/>
          </a:p>
        </p:txBody>
      </p:sp>
      <p:sp>
        <p:nvSpPr>
          <p:cNvPr id="75" name="Text 73"/>
          <p:cNvSpPr/>
          <p:nvPr/>
        </p:nvSpPr>
        <p:spPr>
          <a:xfrm>
            <a:off x="5669280" y="4055364"/>
            <a:ext cx="1188720" cy="315468"/>
          </a:xfrm>
          <a:prstGeom prst="rect">
            <a:avLst/>
          </a:prstGeom>
          <a:noFill/>
          <a:ln/>
        </p:spPr>
        <p:txBody>
          <a:bodyPr wrap="square" lIns="0" tIns="0" rIns="0" bIns="0" rtlCol="0" anchor="ctr"/>
          <a:lstStyle/>
          <a:p>
            <a:pPr marL="0" indent="0" algn="ctr">
              <a:buNone/>
            </a:pPr>
            <a:r>
              <a:rPr lang="en-US" sz="1200" b="1" dirty="0">
                <a:solidFill>
                  <a:srgbClr val="F96167"/>
                </a:solidFill>
                <a:latin typeface="Calibri" pitchFamily="34" charset="0"/>
                <a:ea typeface="Calibri" pitchFamily="34" charset="-122"/>
                <a:cs typeface="Calibri" pitchFamily="34" charset="-120"/>
              </a:rPr>
              <a:t>✗</a:t>
            </a:r>
            <a:endParaRPr lang="en-US" sz="1200" dirty="0"/>
          </a:p>
        </p:txBody>
      </p:sp>
      <p:sp>
        <p:nvSpPr>
          <p:cNvPr id="76" name="Text 74"/>
          <p:cNvSpPr/>
          <p:nvPr/>
        </p:nvSpPr>
        <p:spPr>
          <a:xfrm>
            <a:off x="6903720" y="4055364"/>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77" name="Text 75"/>
          <p:cNvSpPr/>
          <p:nvPr/>
        </p:nvSpPr>
        <p:spPr>
          <a:xfrm>
            <a:off x="8046720" y="4055364"/>
            <a:ext cx="914400" cy="315468"/>
          </a:xfrm>
          <a:prstGeom prst="rect">
            <a:avLst/>
          </a:prstGeom>
          <a:noFill/>
          <a:ln/>
        </p:spPr>
        <p:txBody>
          <a:bodyPr wrap="square" lIns="0" tIns="0" rIns="0" bIns="0" rtlCol="0" anchor="ctr"/>
          <a:lstStyle/>
          <a:p>
            <a:pPr marL="0" indent="0" algn="ctr">
              <a:buNone/>
            </a:pPr>
            <a:r>
              <a:rPr lang="en-US" sz="850" b="1" dirty="0">
                <a:solidFill>
                  <a:srgbClr val="F9A825"/>
                </a:solidFill>
                <a:latin typeface="Calibri" pitchFamily="34" charset="0"/>
                <a:ea typeface="Calibri" pitchFamily="34" charset="-122"/>
                <a:cs typeface="Calibri" pitchFamily="34" charset="-120"/>
              </a:rPr>
              <a:t>Medium</a:t>
            </a:r>
            <a:endParaRPr lang="en-US" sz="850" dirty="0"/>
          </a:p>
        </p:txBody>
      </p:sp>
      <p:sp>
        <p:nvSpPr>
          <p:cNvPr id="78" name="Shape 76"/>
          <p:cNvSpPr/>
          <p:nvPr/>
        </p:nvSpPr>
        <p:spPr>
          <a:xfrm>
            <a:off x="201168" y="4370832"/>
            <a:ext cx="8759952" cy="315468"/>
          </a:xfrm>
          <a:prstGeom prst="rect">
            <a:avLst/>
          </a:prstGeom>
          <a:solidFill>
            <a:srgbClr val="FFFFFF"/>
          </a:solidFill>
          <a:ln w="6350">
            <a:solidFill>
              <a:srgbClr val="E2E8F0"/>
            </a:solidFill>
            <a:prstDash val="solid"/>
          </a:ln>
        </p:spPr>
        <p:txBody>
          <a:bodyPr/>
          <a:lstStyle/>
          <a:p>
            <a:endParaRPr lang="en-US"/>
          </a:p>
        </p:txBody>
      </p:sp>
      <p:sp>
        <p:nvSpPr>
          <p:cNvPr id="79" name="Text 77"/>
          <p:cNvSpPr/>
          <p:nvPr/>
        </p:nvSpPr>
        <p:spPr>
          <a:xfrm>
            <a:off x="274320" y="4370832"/>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Fine Clearance Module</a:t>
            </a:r>
            <a:endParaRPr lang="en-US" sz="950" dirty="0"/>
          </a:p>
        </p:txBody>
      </p:sp>
      <p:sp>
        <p:nvSpPr>
          <p:cNvPr id="80" name="Text 78"/>
          <p:cNvSpPr/>
          <p:nvPr/>
        </p:nvSpPr>
        <p:spPr>
          <a:xfrm>
            <a:off x="3346704" y="4370832"/>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Librarian tool to verify &amp; override fines</a:t>
            </a:r>
            <a:endParaRPr lang="en-US" sz="850" dirty="0"/>
          </a:p>
        </p:txBody>
      </p:sp>
      <p:sp>
        <p:nvSpPr>
          <p:cNvPr id="81" name="Text 79"/>
          <p:cNvSpPr/>
          <p:nvPr/>
        </p:nvSpPr>
        <p:spPr>
          <a:xfrm>
            <a:off x="5669280" y="4370832"/>
            <a:ext cx="1188720" cy="315468"/>
          </a:xfrm>
          <a:prstGeom prst="rect">
            <a:avLst/>
          </a:prstGeom>
          <a:noFill/>
          <a:ln/>
        </p:spPr>
        <p:txBody>
          <a:bodyPr wrap="square" lIns="0" tIns="0" rIns="0" bIns="0" rtlCol="0" anchor="ctr"/>
          <a:lstStyle/>
          <a:p>
            <a:pPr marL="0" indent="0" algn="ctr">
              <a:buNone/>
            </a:pPr>
            <a:r>
              <a:rPr lang="en-US" sz="1200" b="1" dirty="0">
                <a:solidFill>
                  <a:srgbClr val="F9A825"/>
                </a:solidFill>
                <a:latin typeface="Calibri" pitchFamily="34" charset="0"/>
                <a:ea typeface="Calibri" pitchFamily="34" charset="-122"/>
                <a:cs typeface="Calibri" pitchFamily="34" charset="-120"/>
              </a:rPr>
              <a:t>Partial</a:t>
            </a:r>
            <a:endParaRPr lang="en-US" sz="1200" dirty="0"/>
          </a:p>
        </p:txBody>
      </p:sp>
      <p:sp>
        <p:nvSpPr>
          <p:cNvPr id="82" name="Text 80"/>
          <p:cNvSpPr/>
          <p:nvPr/>
        </p:nvSpPr>
        <p:spPr>
          <a:xfrm>
            <a:off x="6903720" y="4370832"/>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83" name="Text 81"/>
          <p:cNvSpPr/>
          <p:nvPr/>
        </p:nvSpPr>
        <p:spPr>
          <a:xfrm>
            <a:off x="8046720" y="4370832"/>
            <a:ext cx="914400" cy="315468"/>
          </a:xfrm>
          <a:prstGeom prst="rect">
            <a:avLst/>
          </a:prstGeom>
          <a:noFill/>
          <a:ln/>
        </p:spPr>
        <p:txBody>
          <a:bodyPr wrap="square" lIns="0" tIns="0" rIns="0" bIns="0" rtlCol="0" anchor="ctr"/>
          <a:lstStyle/>
          <a:p>
            <a:pPr marL="0" indent="0" algn="ctr">
              <a:buNone/>
            </a:pPr>
            <a:r>
              <a:rPr lang="en-US" sz="850" b="1" dirty="0">
                <a:solidFill>
                  <a:srgbClr val="F9A825"/>
                </a:solidFill>
                <a:latin typeface="Calibri" pitchFamily="34" charset="0"/>
                <a:ea typeface="Calibri" pitchFamily="34" charset="-122"/>
                <a:cs typeface="Calibri" pitchFamily="34" charset="-120"/>
              </a:rPr>
              <a:t>Medium</a:t>
            </a:r>
            <a:endParaRPr lang="en-US" sz="850" dirty="0"/>
          </a:p>
        </p:txBody>
      </p:sp>
      <p:sp>
        <p:nvSpPr>
          <p:cNvPr id="84" name="Shape 82"/>
          <p:cNvSpPr/>
          <p:nvPr/>
        </p:nvSpPr>
        <p:spPr>
          <a:xfrm>
            <a:off x="201168" y="4686300"/>
            <a:ext cx="8759952" cy="315468"/>
          </a:xfrm>
          <a:prstGeom prst="rect">
            <a:avLst/>
          </a:prstGeom>
          <a:solidFill>
            <a:srgbClr val="F0F7F9"/>
          </a:solidFill>
          <a:ln w="6350">
            <a:solidFill>
              <a:srgbClr val="E2E8F0"/>
            </a:solidFill>
            <a:prstDash val="solid"/>
          </a:ln>
        </p:spPr>
        <p:txBody>
          <a:bodyPr/>
          <a:lstStyle/>
          <a:p>
            <a:endParaRPr lang="en-US"/>
          </a:p>
        </p:txBody>
      </p:sp>
      <p:sp>
        <p:nvSpPr>
          <p:cNvPr id="85" name="Text 83"/>
          <p:cNvSpPr/>
          <p:nvPr/>
        </p:nvSpPr>
        <p:spPr>
          <a:xfrm>
            <a:off x="274320" y="4686300"/>
            <a:ext cx="2926080" cy="3154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Basic Book Catalog Search</a:t>
            </a:r>
            <a:endParaRPr lang="en-US" sz="950" dirty="0"/>
          </a:p>
        </p:txBody>
      </p:sp>
      <p:sp>
        <p:nvSpPr>
          <p:cNvPr id="86" name="Text 84"/>
          <p:cNvSpPr/>
          <p:nvPr/>
        </p:nvSpPr>
        <p:spPr>
          <a:xfrm>
            <a:off x="3346704" y="4686300"/>
            <a:ext cx="2258568" cy="3154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Search books by title/author/keyword</a:t>
            </a:r>
            <a:endParaRPr lang="en-US" sz="850" dirty="0"/>
          </a:p>
        </p:txBody>
      </p:sp>
      <p:sp>
        <p:nvSpPr>
          <p:cNvPr id="87" name="Text 85"/>
          <p:cNvSpPr/>
          <p:nvPr/>
        </p:nvSpPr>
        <p:spPr>
          <a:xfrm>
            <a:off x="5669280" y="4686300"/>
            <a:ext cx="118872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88" name="Text 86"/>
          <p:cNvSpPr/>
          <p:nvPr/>
        </p:nvSpPr>
        <p:spPr>
          <a:xfrm>
            <a:off x="6903720" y="4686300"/>
            <a:ext cx="1143000" cy="315468"/>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a:t>
            </a:r>
            <a:endParaRPr lang="en-US" sz="1200" dirty="0"/>
          </a:p>
        </p:txBody>
      </p:sp>
      <p:sp>
        <p:nvSpPr>
          <p:cNvPr id="89" name="Text 87"/>
          <p:cNvSpPr/>
          <p:nvPr/>
        </p:nvSpPr>
        <p:spPr>
          <a:xfrm>
            <a:off x="8046720" y="4686300"/>
            <a:ext cx="914400" cy="315468"/>
          </a:xfrm>
          <a:prstGeom prst="rect">
            <a:avLst/>
          </a:prstGeom>
          <a:noFill/>
          <a:ln/>
        </p:spPr>
        <p:txBody>
          <a:bodyPr wrap="square" lIns="0" tIns="0" rIns="0" bIns="0" rtlCol="0" anchor="ctr"/>
          <a:lstStyle/>
          <a:p>
            <a:pPr marL="0" indent="0" algn="ctr">
              <a:buNone/>
            </a:pPr>
            <a:r>
              <a:rPr lang="en-US" sz="850" b="1" dirty="0">
                <a:solidFill>
                  <a:srgbClr val="64748B"/>
                </a:solidFill>
                <a:latin typeface="Calibri" pitchFamily="34" charset="0"/>
                <a:ea typeface="Calibri" pitchFamily="34" charset="-122"/>
                <a:cs typeface="Calibri" pitchFamily="34" charset="-120"/>
              </a:rPr>
              <a:t>—</a:t>
            </a:r>
            <a:endParaRPr lang="en-US" sz="850" dirty="0"/>
          </a:p>
        </p:txBody>
      </p:sp>
      <p:sp>
        <p:nvSpPr>
          <p:cNvPr id="90" name="Shape 88"/>
          <p:cNvSpPr/>
          <p:nvPr/>
        </p:nvSpPr>
        <p:spPr>
          <a:xfrm>
            <a:off x="201168" y="5010912"/>
            <a:ext cx="8759952" cy="347472"/>
          </a:xfrm>
          <a:prstGeom prst="rect">
            <a:avLst/>
          </a:prstGeom>
          <a:solidFill>
            <a:srgbClr val="0D1B2A"/>
          </a:solidFill>
          <a:ln w="12700">
            <a:solidFill>
              <a:srgbClr val="0D1B2A"/>
            </a:solidFill>
            <a:prstDash val="solid"/>
          </a:ln>
        </p:spPr>
        <p:txBody>
          <a:bodyPr/>
          <a:lstStyle/>
          <a:p>
            <a:endParaRPr lang="en-US"/>
          </a:p>
        </p:txBody>
      </p:sp>
      <p:sp>
        <p:nvSpPr>
          <p:cNvPr id="91" name="Text 89"/>
          <p:cNvSpPr/>
          <p:nvPr/>
        </p:nvSpPr>
        <p:spPr>
          <a:xfrm>
            <a:off x="365760" y="5010912"/>
            <a:ext cx="8412480" cy="347472"/>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LibConnect Pro introduces 10 new features + enhances 1 existing feature compared to the current Bell Library portal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548640"/>
          </a:xfrm>
          <a:prstGeom prst="rect">
            <a:avLst/>
          </a:prstGeom>
          <a:noFill/>
          <a:ln/>
        </p:spPr>
        <p:txBody>
          <a:bodyPr wrap="square" lIns="0" tIns="0" rIns="0" bIns="0" rtlCol="0" anchor="ctr"/>
          <a:lstStyle/>
          <a:p>
            <a:pPr marL="0" indent="0">
              <a:buNone/>
            </a:pPr>
            <a:r>
              <a:rPr lang="en-US" sz="1600" b="1" kern="0" spc="300" dirty="0">
                <a:solidFill>
                  <a:srgbClr val="02C39A"/>
                </a:solidFill>
                <a:latin typeface="Calibri" pitchFamily="34" charset="0"/>
                <a:ea typeface="Calibri" pitchFamily="34" charset="-122"/>
                <a:cs typeface="Calibri" pitchFamily="34" charset="-120"/>
              </a:rPr>
              <a:t>APPLICATION GOALS</a:t>
            </a:r>
            <a:endParaRPr lang="en-US" sz="1600" dirty="0"/>
          </a:p>
        </p:txBody>
      </p:sp>
      <p:sp>
        <p:nvSpPr>
          <p:cNvPr id="3" name="Shape 1"/>
          <p:cNvSpPr/>
          <p:nvPr/>
        </p:nvSpPr>
        <p:spPr>
          <a:xfrm>
            <a:off x="365760" y="777240"/>
            <a:ext cx="1097280" cy="45720"/>
          </a:xfrm>
          <a:prstGeom prst="rect">
            <a:avLst/>
          </a:prstGeom>
          <a:solidFill>
            <a:srgbClr val="028090"/>
          </a:solidFill>
          <a:ln w="12700">
            <a:solidFill>
              <a:srgbClr val="028090"/>
            </a:solidFill>
            <a:prstDash val="solid"/>
          </a:ln>
        </p:spPr>
        <p:txBody>
          <a:bodyPr/>
          <a:lstStyle/>
          <a:p>
            <a:endParaRPr lang="en-US"/>
          </a:p>
        </p:txBody>
      </p:sp>
      <p:sp>
        <p:nvSpPr>
          <p:cNvPr id="4" name="Shape 2"/>
          <p:cNvSpPr/>
          <p:nvPr/>
        </p:nvSpPr>
        <p:spPr>
          <a:xfrm>
            <a:off x="274320" y="1005840"/>
            <a:ext cx="4160520" cy="868680"/>
          </a:xfrm>
          <a:prstGeom prst="rect">
            <a:avLst/>
          </a:prstGeom>
          <a:solidFill>
            <a:srgbClr val="FFFFFF">
              <a:alpha val="7000"/>
            </a:srgbClr>
          </a:solidFill>
          <a:ln w="6350">
            <a:solidFill>
              <a:srgbClr val="028090"/>
            </a:solidFill>
            <a:prstDash val="solid"/>
          </a:ln>
        </p:spPr>
        <p:txBody>
          <a:bodyPr/>
          <a:lstStyle/>
          <a:p>
            <a:endParaRPr lang="en-US"/>
          </a:p>
        </p:txBody>
      </p:sp>
      <p:sp>
        <p:nvSpPr>
          <p:cNvPr id="5" name="Shape 3"/>
          <p:cNvSpPr/>
          <p:nvPr/>
        </p:nvSpPr>
        <p:spPr>
          <a:xfrm>
            <a:off x="274320" y="1005840"/>
            <a:ext cx="502920" cy="868680"/>
          </a:xfrm>
          <a:prstGeom prst="rect">
            <a:avLst/>
          </a:prstGeom>
          <a:solidFill>
            <a:srgbClr val="028090">
              <a:alpha val="70000"/>
            </a:srgbClr>
          </a:solidFill>
          <a:ln w="12700">
            <a:solidFill>
              <a:srgbClr val="028090">
                <a:alpha val="70000"/>
              </a:srgbClr>
            </a:solidFill>
            <a:prstDash val="solid"/>
          </a:ln>
        </p:spPr>
        <p:txBody>
          <a:bodyPr/>
          <a:lstStyle/>
          <a:p>
            <a:endParaRPr lang="en-US"/>
          </a:p>
        </p:txBody>
      </p:sp>
      <p:sp>
        <p:nvSpPr>
          <p:cNvPr id="6" name="Text 4"/>
          <p:cNvSpPr/>
          <p:nvPr/>
        </p:nvSpPr>
        <p:spPr>
          <a:xfrm>
            <a:off x="274320" y="1005840"/>
            <a:ext cx="502920" cy="868680"/>
          </a:xfrm>
          <a:prstGeom prst="rect">
            <a:avLst/>
          </a:prstGeom>
          <a:noFill/>
          <a:ln/>
        </p:spPr>
        <p:txBody>
          <a:bodyPr wrap="square" lIns="0" tIns="0" rIns="0" bIns="0"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868680" y="1060704"/>
            <a:ext cx="34747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Automate Inventory Control</a:t>
            </a:r>
            <a:endParaRPr lang="en-US" sz="1100" dirty="0"/>
          </a:p>
        </p:txBody>
      </p:sp>
      <p:sp>
        <p:nvSpPr>
          <p:cNvPr id="8" name="Text 6"/>
          <p:cNvSpPr/>
          <p:nvPr/>
        </p:nvSpPr>
        <p:spPr>
          <a:xfrm>
            <a:off x="868680" y="1408176"/>
            <a:ext cx="3474720" cy="402336"/>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Real-time tools for librarians to manage stock, updates, and removals efficiently</a:t>
            </a:r>
            <a:endParaRPr lang="en-US" sz="950" dirty="0"/>
          </a:p>
        </p:txBody>
      </p:sp>
      <p:sp>
        <p:nvSpPr>
          <p:cNvPr id="9" name="Shape 7"/>
          <p:cNvSpPr/>
          <p:nvPr/>
        </p:nvSpPr>
        <p:spPr>
          <a:xfrm>
            <a:off x="4754880" y="1005840"/>
            <a:ext cx="4160520" cy="868680"/>
          </a:xfrm>
          <a:prstGeom prst="rect">
            <a:avLst/>
          </a:prstGeom>
          <a:solidFill>
            <a:srgbClr val="FFFFFF">
              <a:alpha val="7000"/>
            </a:srgbClr>
          </a:solidFill>
          <a:ln w="6350">
            <a:solidFill>
              <a:srgbClr val="028090"/>
            </a:solidFill>
            <a:prstDash val="solid"/>
          </a:ln>
        </p:spPr>
        <p:txBody>
          <a:bodyPr/>
          <a:lstStyle/>
          <a:p>
            <a:endParaRPr lang="en-US"/>
          </a:p>
        </p:txBody>
      </p:sp>
      <p:sp>
        <p:nvSpPr>
          <p:cNvPr id="10" name="Shape 8"/>
          <p:cNvSpPr/>
          <p:nvPr/>
        </p:nvSpPr>
        <p:spPr>
          <a:xfrm>
            <a:off x="4754880" y="1005840"/>
            <a:ext cx="502920" cy="868680"/>
          </a:xfrm>
          <a:prstGeom prst="rect">
            <a:avLst/>
          </a:prstGeom>
          <a:solidFill>
            <a:srgbClr val="028090">
              <a:alpha val="70000"/>
            </a:srgbClr>
          </a:solidFill>
          <a:ln w="12700">
            <a:solidFill>
              <a:srgbClr val="028090">
                <a:alpha val="70000"/>
              </a:srgbClr>
            </a:solidFill>
            <a:prstDash val="solid"/>
          </a:ln>
        </p:spPr>
        <p:txBody>
          <a:bodyPr/>
          <a:lstStyle/>
          <a:p>
            <a:endParaRPr lang="en-US"/>
          </a:p>
        </p:txBody>
      </p:sp>
      <p:sp>
        <p:nvSpPr>
          <p:cNvPr id="11" name="Text 9"/>
          <p:cNvSpPr/>
          <p:nvPr/>
        </p:nvSpPr>
        <p:spPr>
          <a:xfrm>
            <a:off x="4754880" y="1005840"/>
            <a:ext cx="502920" cy="868680"/>
          </a:xfrm>
          <a:prstGeom prst="rect">
            <a:avLst/>
          </a:prstGeom>
          <a:noFill/>
          <a:ln/>
        </p:spPr>
        <p:txBody>
          <a:bodyPr wrap="square" lIns="0" tIns="0" rIns="0" bIns="0"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5349240" y="1060704"/>
            <a:ext cx="34747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Enforce Academic Accountability</a:t>
            </a:r>
            <a:endParaRPr lang="en-US" sz="1100" dirty="0"/>
          </a:p>
        </p:txBody>
      </p:sp>
      <p:sp>
        <p:nvSpPr>
          <p:cNvPr id="13" name="Text 11"/>
          <p:cNvSpPr/>
          <p:nvPr/>
        </p:nvSpPr>
        <p:spPr>
          <a:xfrm>
            <a:off x="5349240" y="1408176"/>
            <a:ext cx="3474720" cy="402336"/>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Automated fine system ensuring on-time returns and maintaining resource availability</a:t>
            </a:r>
            <a:endParaRPr lang="en-US" sz="950" dirty="0"/>
          </a:p>
        </p:txBody>
      </p:sp>
      <p:sp>
        <p:nvSpPr>
          <p:cNvPr id="14" name="Shape 12"/>
          <p:cNvSpPr/>
          <p:nvPr/>
        </p:nvSpPr>
        <p:spPr>
          <a:xfrm>
            <a:off x="274320" y="2011680"/>
            <a:ext cx="4160520" cy="868680"/>
          </a:xfrm>
          <a:prstGeom prst="rect">
            <a:avLst/>
          </a:prstGeom>
          <a:solidFill>
            <a:srgbClr val="FFFFFF">
              <a:alpha val="7000"/>
            </a:srgbClr>
          </a:solidFill>
          <a:ln w="6350">
            <a:solidFill>
              <a:srgbClr val="028090"/>
            </a:solidFill>
            <a:prstDash val="solid"/>
          </a:ln>
        </p:spPr>
        <p:txBody>
          <a:bodyPr/>
          <a:lstStyle/>
          <a:p>
            <a:endParaRPr lang="en-US"/>
          </a:p>
        </p:txBody>
      </p:sp>
      <p:sp>
        <p:nvSpPr>
          <p:cNvPr id="15" name="Shape 13"/>
          <p:cNvSpPr/>
          <p:nvPr/>
        </p:nvSpPr>
        <p:spPr>
          <a:xfrm>
            <a:off x="274320" y="2011680"/>
            <a:ext cx="502920" cy="868680"/>
          </a:xfrm>
          <a:prstGeom prst="rect">
            <a:avLst/>
          </a:prstGeom>
          <a:solidFill>
            <a:srgbClr val="028090">
              <a:alpha val="70000"/>
            </a:srgbClr>
          </a:solidFill>
          <a:ln w="12700">
            <a:solidFill>
              <a:srgbClr val="028090">
                <a:alpha val="70000"/>
              </a:srgbClr>
            </a:solidFill>
            <a:prstDash val="solid"/>
          </a:ln>
        </p:spPr>
        <p:txBody>
          <a:bodyPr/>
          <a:lstStyle/>
          <a:p>
            <a:endParaRPr lang="en-US"/>
          </a:p>
        </p:txBody>
      </p:sp>
      <p:sp>
        <p:nvSpPr>
          <p:cNvPr id="16" name="Text 14"/>
          <p:cNvSpPr/>
          <p:nvPr/>
        </p:nvSpPr>
        <p:spPr>
          <a:xfrm>
            <a:off x="274320" y="2011680"/>
            <a:ext cx="502920" cy="868680"/>
          </a:xfrm>
          <a:prstGeom prst="rect">
            <a:avLst/>
          </a:prstGeom>
          <a:noFill/>
          <a:ln/>
        </p:spPr>
        <p:txBody>
          <a:bodyPr wrap="square" lIns="0" tIns="0" rIns="0" bIns="0"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868680" y="2066544"/>
            <a:ext cx="34747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Enhance User Experience</a:t>
            </a:r>
            <a:endParaRPr lang="en-US" sz="1100" dirty="0"/>
          </a:p>
        </p:txBody>
      </p:sp>
      <p:sp>
        <p:nvSpPr>
          <p:cNvPr id="18" name="Text 16"/>
          <p:cNvSpPr/>
          <p:nvPr/>
        </p:nvSpPr>
        <p:spPr>
          <a:xfrm>
            <a:off x="868680" y="2414016"/>
            <a:ext cx="3474720" cy="402336"/>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Reduce out-of-stock frustration via automated notifications and proactive alerts</a:t>
            </a:r>
            <a:endParaRPr lang="en-US" sz="950" dirty="0"/>
          </a:p>
        </p:txBody>
      </p:sp>
      <p:sp>
        <p:nvSpPr>
          <p:cNvPr id="19" name="Shape 17"/>
          <p:cNvSpPr/>
          <p:nvPr/>
        </p:nvSpPr>
        <p:spPr>
          <a:xfrm>
            <a:off x="4754880" y="2011680"/>
            <a:ext cx="4160520" cy="868680"/>
          </a:xfrm>
          <a:prstGeom prst="rect">
            <a:avLst/>
          </a:prstGeom>
          <a:solidFill>
            <a:srgbClr val="FFFFFF">
              <a:alpha val="7000"/>
            </a:srgbClr>
          </a:solidFill>
          <a:ln w="6350">
            <a:solidFill>
              <a:srgbClr val="028090"/>
            </a:solidFill>
            <a:prstDash val="solid"/>
          </a:ln>
        </p:spPr>
        <p:txBody>
          <a:bodyPr/>
          <a:lstStyle/>
          <a:p>
            <a:endParaRPr lang="en-US"/>
          </a:p>
        </p:txBody>
      </p:sp>
      <p:sp>
        <p:nvSpPr>
          <p:cNvPr id="20" name="Shape 18"/>
          <p:cNvSpPr/>
          <p:nvPr/>
        </p:nvSpPr>
        <p:spPr>
          <a:xfrm>
            <a:off x="4754880" y="2011680"/>
            <a:ext cx="502920" cy="868680"/>
          </a:xfrm>
          <a:prstGeom prst="rect">
            <a:avLst/>
          </a:prstGeom>
          <a:solidFill>
            <a:srgbClr val="028090">
              <a:alpha val="70000"/>
            </a:srgbClr>
          </a:solidFill>
          <a:ln w="12700">
            <a:solidFill>
              <a:srgbClr val="028090">
                <a:alpha val="70000"/>
              </a:srgbClr>
            </a:solidFill>
            <a:prstDash val="solid"/>
          </a:ln>
        </p:spPr>
        <p:txBody>
          <a:bodyPr/>
          <a:lstStyle/>
          <a:p>
            <a:endParaRPr lang="en-US"/>
          </a:p>
        </p:txBody>
      </p:sp>
      <p:sp>
        <p:nvSpPr>
          <p:cNvPr id="21" name="Text 19"/>
          <p:cNvSpPr/>
          <p:nvPr/>
        </p:nvSpPr>
        <p:spPr>
          <a:xfrm>
            <a:off x="4754880" y="2011680"/>
            <a:ext cx="502920" cy="868680"/>
          </a:xfrm>
          <a:prstGeom prst="rect">
            <a:avLst/>
          </a:prstGeom>
          <a:noFill/>
          <a:ln/>
        </p:spPr>
        <p:txBody>
          <a:bodyPr wrap="square" lIns="0" tIns="0" rIns="0" bIns="0"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04</a:t>
            </a:r>
            <a:endParaRPr lang="en-US" sz="1400" dirty="0"/>
          </a:p>
        </p:txBody>
      </p:sp>
      <p:sp>
        <p:nvSpPr>
          <p:cNvPr id="22" name="Text 20"/>
          <p:cNvSpPr/>
          <p:nvPr/>
        </p:nvSpPr>
        <p:spPr>
          <a:xfrm>
            <a:off x="5349240" y="2066544"/>
            <a:ext cx="34747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Intelligent Demand Forecasting</a:t>
            </a:r>
            <a:endParaRPr lang="en-US" sz="1100" dirty="0"/>
          </a:p>
        </p:txBody>
      </p:sp>
      <p:sp>
        <p:nvSpPr>
          <p:cNvPr id="23" name="Text 21"/>
          <p:cNvSpPr/>
          <p:nvPr/>
        </p:nvSpPr>
        <p:spPr>
          <a:xfrm>
            <a:off x="5349240" y="2414016"/>
            <a:ext cx="3474720" cy="402336"/>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Predict high-demand books for exam seasons to optimize acquisition decisions</a:t>
            </a:r>
            <a:endParaRPr lang="en-US" sz="950" dirty="0"/>
          </a:p>
        </p:txBody>
      </p:sp>
      <p:sp>
        <p:nvSpPr>
          <p:cNvPr id="24" name="Shape 22"/>
          <p:cNvSpPr/>
          <p:nvPr/>
        </p:nvSpPr>
        <p:spPr>
          <a:xfrm>
            <a:off x="274320" y="3017520"/>
            <a:ext cx="4160520" cy="868680"/>
          </a:xfrm>
          <a:prstGeom prst="rect">
            <a:avLst/>
          </a:prstGeom>
          <a:solidFill>
            <a:srgbClr val="FFFFFF">
              <a:alpha val="7000"/>
            </a:srgbClr>
          </a:solidFill>
          <a:ln w="6350">
            <a:solidFill>
              <a:srgbClr val="028090"/>
            </a:solidFill>
            <a:prstDash val="solid"/>
          </a:ln>
        </p:spPr>
        <p:txBody>
          <a:bodyPr/>
          <a:lstStyle/>
          <a:p>
            <a:endParaRPr lang="en-US"/>
          </a:p>
        </p:txBody>
      </p:sp>
      <p:sp>
        <p:nvSpPr>
          <p:cNvPr id="25" name="Shape 23"/>
          <p:cNvSpPr/>
          <p:nvPr/>
        </p:nvSpPr>
        <p:spPr>
          <a:xfrm>
            <a:off x="274320" y="3017520"/>
            <a:ext cx="502920" cy="868680"/>
          </a:xfrm>
          <a:prstGeom prst="rect">
            <a:avLst/>
          </a:prstGeom>
          <a:solidFill>
            <a:srgbClr val="028090">
              <a:alpha val="70000"/>
            </a:srgbClr>
          </a:solidFill>
          <a:ln w="12700">
            <a:solidFill>
              <a:srgbClr val="028090">
                <a:alpha val="70000"/>
              </a:srgbClr>
            </a:solidFill>
            <a:prstDash val="solid"/>
          </a:ln>
        </p:spPr>
        <p:txBody>
          <a:bodyPr/>
          <a:lstStyle/>
          <a:p>
            <a:endParaRPr lang="en-US"/>
          </a:p>
        </p:txBody>
      </p:sp>
      <p:sp>
        <p:nvSpPr>
          <p:cNvPr id="26" name="Text 24"/>
          <p:cNvSpPr/>
          <p:nvPr/>
        </p:nvSpPr>
        <p:spPr>
          <a:xfrm>
            <a:off x="274320" y="3017520"/>
            <a:ext cx="502920" cy="868680"/>
          </a:xfrm>
          <a:prstGeom prst="rect">
            <a:avLst/>
          </a:prstGeom>
          <a:noFill/>
          <a:ln/>
        </p:spPr>
        <p:txBody>
          <a:bodyPr wrap="square" lIns="0" tIns="0" rIns="0" bIns="0"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05</a:t>
            </a:r>
            <a:endParaRPr lang="en-US" sz="1400" dirty="0"/>
          </a:p>
        </p:txBody>
      </p:sp>
      <p:sp>
        <p:nvSpPr>
          <p:cNvPr id="27" name="Text 25"/>
          <p:cNvSpPr/>
          <p:nvPr/>
        </p:nvSpPr>
        <p:spPr>
          <a:xfrm>
            <a:off x="868680" y="3072384"/>
            <a:ext cx="34747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Improve In-Library Navigation</a:t>
            </a:r>
            <a:endParaRPr lang="en-US" sz="1100" dirty="0"/>
          </a:p>
        </p:txBody>
      </p:sp>
      <p:sp>
        <p:nvSpPr>
          <p:cNvPr id="28" name="Text 26"/>
          <p:cNvSpPr/>
          <p:nvPr/>
        </p:nvSpPr>
        <p:spPr>
          <a:xfrm>
            <a:off x="868680" y="3419856"/>
            <a:ext cx="3474720" cy="402336"/>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AR-guided shelf navigation to help students locate books faster</a:t>
            </a:r>
            <a:endParaRPr lang="en-US" sz="950" dirty="0"/>
          </a:p>
        </p:txBody>
      </p:sp>
      <p:sp>
        <p:nvSpPr>
          <p:cNvPr id="29" name="Shape 27"/>
          <p:cNvSpPr/>
          <p:nvPr/>
        </p:nvSpPr>
        <p:spPr>
          <a:xfrm>
            <a:off x="4754880" y="3017520"/>
            <a:ext cx="4160520" cy="868680"/>
          </a:xfrm>
          <a:prstGeom prst="rect">
            <a:avLst/>
          </a:prstGeom>
          <a:solidFill>
            <a:srgbClr val="FFFFFF">
              <a:alpha val="7000"/>
            </a:srgbClr>
          </a:solidFill>
          <a:ln w="6350">
            <a:solidFill>
              <a:srgbClr val="028090"/>
            </a:solidFill>
            <a:prstDash val="solid"/>
          </a:ln>
        </p:spPr>
        <p:txBody>
          <a:bodyPr/>
          <a:lstStyle/>
          <a:p>
            <a:endParaRPr lang="en-US"/>
          </a:p>
        </p:txBody>
      </p:sp>
      <p:sp>
        <p:nvSpPr>
          <p:cNvPr id="30" name="Shape 28"/>
          <p:cNvSpPr/>
          <p:nvPr/>
        </p:nvSpPr>
        <p:spPr>
          <a:xfrm>
            <a:off x="4754880" y="3017520"/>
            <a:ext cx="502920" cy="868680"/>
          </a:xfrm>
          <a:prstGeom prst="rect">
            <a:avLst/>
          </a:prstGeom>
          <a:solidFill>
            <a:srgbClr val="028090">
              <a:alpha val="70000"/>
            </a:srgbClr>
          </a:solidFill>
          <a:ln w="12700">
            <a:solidFill>
              <a:srgbClr val="028090">
                <a:alpha val="70000"/>
              </a:srgbClr>
            </a:solidFill>
            <a:prstDash val="solid"/>
          </a:ln>
        </p:spPr>
        <p:txBody>
          <a:bodyPr/>
          <a:lstStyle/>
          <a:p>
            <a:endParaRPr lang="en-US"/>
          </a:p>
        </p:txBody>
      </p:sp>
      <p:sp>
        <p:nvSpPr>
          <p:cNvPr id="31" name="Text 29"/>
          <p:cNvSpPr/>
          <p:nvPr/>
        </p:nvSpPr>
        <p:spPr>
          <a:xfrm>
            <a:off x="4754880" y="3017520"/>
            <a:ext cx="502920" cy="868680"/>
          </a:xfrm>
          <a:prstGeom prst="rect">
            <a:avLst/>
          </a:prstGeom>
          <a:noFill/>
          <a:ln/>
        </p:spPr>
        <p:txBody>
          <a:bodyPr wrap="square" lIns="0" tIns="0" rIns="0" bIns="0"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06</a:t>
            </a:r>
            <a:endParaRPr lang="en-US" sz="1400" dirty="0"/>
          </a:p>
        </p:txBody>
      </p:sp>
      <p:sp>
        <p:nvSpPr>
          <p:cNvPr id="32" name="Text 30"/>
          <p:cNvSpPr/>
          <p:nvPr/>
        </p:nvSpPr>
        <p:spPr>
          <a:xfrm>
            <a:off x="5349240" y="3072384"/>
            <a:ext cx="34747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Enable Advanced Discovery</a:t>
            </a:r>
            <a:endParaRPr lang="en-US" sz="1100" dirty="0"/>
          </a:p>
        </p:txBody>
      </p:sp>
      <p:sp>
        <p:nvSpPr>
          <p:cNvPr id="33" name="Text 31"/>
          <p:cNvSpPr/>
          <p:nvPr/>
        </p:nvSpPr>
        <p:spPr>
          <a:xfrm>
            <a:off x="5349240" y="3419856"/>
            <a:ext cx="3474720" cy="402336"/>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Semantic topic-cluster search for related materials and refined research queries</a:t>
            </a:r>
            <a:endParaRPr lang="en-US" sz="950" dirty="0"/>
          </a:p>
        </p:txBody>
      </p:sp>
      <p:sp>
        <p:nvSpPr>
          <p:cNvPr id="34" name="Shape 32"/>
          <p:cNvSpPr/>
          <p:nvPr/>
        </p:nvSpPr>
        <p:spPr>
          <a:xfrm>
            <a:off x="274320" y="4023360"/>
            <a:ext cx="4160520" cy="868680"/>
          </a:xfrm>
          <a:prstGeom prst="rect">
            <a:avLst/>
          </a:prstGeom>
          <a:solidFill>
            <a:srgbClr val="FFFFFF">
              <a:alpha val="7000"/>
            </a:srgbClr>
          </a:solidFill>
          <a:ln w="6350">
            <a:solidFill>
              <a:srgbClr val="028090"/>
            </a:solidFill>
            <a:prstDash val="solid"/>
          </a:ln>
        </p:spPr>
        <p:txBody>
          <a:bodyPr/>
          <a:lstStyle/>
          <a:p>
            <a:endParaRPr lang="en-US"/>
          </a:p>
        </p:txBody>
      </p:sp>
      <p:sp>
        <p:nvSpPr>
          <p:cNvPr id="35" name="Shape 33"/>
          <p:cNvSpPr/>
          <p:nvPr/>
        </p:nvSpPr>
        <p:spPr>
          <a:xfrm>
            <a:off x="274320" y="4023360"/>
            <a:ext cx="502920" cy="868680"/>
          </a:xfrm>
          <a:prstGeom prst="rect">
            <a:avLst/>
          </a:prstGeom>
          <a:solidFill>
            <a:srgbClr val="028090">
              <a:alpha val="70000"/>
            </a:srgbClr>
          </a:solidFill>
          <a:ln w="12700">
            <a:solidFill>
              <a:srgbClr val="028090">
                <a:alpha val="70000"/>
              </a:srgbClr>
            </a:solidFill>
            <a:prstDash val="solid"/>
          </a:ln>
        </p:spPr>
        <p:txBody>
          <a:bodyPr/>
          <a:lstStyle/>
          <a:p>
            <a:endParaRPr lang="en-US"/>
          </a:p>
        </p:txBody>
      </p:sp>
      <p:sp>
        <p:nvSpPr>
          <p:cNvPr id="36" name="Text 34"/>
          <p:cNvSpPr/>
          <p:nvPr/>
        </p:nvSpPr>
        <p:spPr>
          <a:xfrm>
            <a:off x="274320" y="4023360"/>
            <a:ext cx="502920" cy="868680"/>
          </a:xfrm>
          <a:prstGeom prst="rect">
            <a:avLst/>
          </a:prstGeom>
          <a:noFill/>
          <a:ln/>
        </p:spPr>
        <p:txBody>
          <a:bodyPr wrap="square" lIns="0" tIns="0" rIns="0" bIns="0"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07</a:t>
            </a:r>
            <a:endParaRPr lang="en-US" sz="1400" dirty="0"/>
          </a:p>
        </p:txBody>
      </p:sp>
      <p:sp>
        <p:nvSpPr>
          <p:cNvPr id="37" name="Text 35"/>
          <p:cNvSpPr/>
          <p:nvPr/>
        </p:nvSpPr>
        <p:spPr>
          <a:xfrm>
            <a:off x="868680" y="4078224"/>
            <a:ext cx="34747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Expose Actionable Analytics</a:t>
            </a:r>
            <a:endParaRPr lang="en-US" sz="1100" dirty="0"/>
          </a:p>
        </p:txBody>
      </p:sp>
      <p:sp>
        <p:nvSpPr>
          <p:cNvPr id="38" name="Text 36"/>
          <p:cNvSpPr/>
          <p:nvPr/>
        </p:nvSpPr>
        <p:spPr>
          <a:xfrm>
            <a:off x="868680" y="4425696"/>
            <a:ext cx="3474720" cy="402336"/>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Usage and trending topic dashboards for strategic decisions by librarians and faculty</a:t>
            </a:r>
            <a:endParaRPr lang="en-US" sz="950" dirty="0"/>
          </a:p>
        </p:txBody>
      </p:sp>
      <p:sp>
        <p:nvSpPr>
          <p:cNvPr id="39" name="Shape 37"/>
          <p:cNvSpPr/>
          <p:nvPr/>
        </p:nvSpPr>
        <p:spPr>
          <a:xfrm>
            <a:off x="4754880" y="4023360"/>
            <a:ext cx="4160520" cy="868680"/>
          </a:xfrm>
          <a:prstGeom prst="rect">
            <a:avLst/>
          </a:prstGeom>
          <a:solidFill>
            <a:srgbClr val="FFFFFF">
              <a:alpha val="7000"/>
            </a:srgbClr>
          </a:solidFill>
          <a:ln w="6350">
            <a:solidFill>
              <a:srgbClr val="028090"/>
            </a:solidFill>
            <a:prstDash val="solid"/>
          </a:ln>
        </p:spPr>
        <p:txBody>
          <a:bodyPr/>
          <a:lstStyle/>
          <a:p>
            <a:endParaRPr lang="en-US"/>
          </a:p>
        </p:txBody>
      </p:sp>
      <p:sp>
        <p:nvSpPr>
          <p:cNvPr id="40" name="Shape 38"/>
          <p:cNvSpPr/>
          <p:nvPr/>
        </p:nvSpPr>
        <p:spPr>
          <a:xfrm>
            <a:off x="4754880" y="4023360"/>
            <a:ext cx="502920" cy="868680"/>
          </a:xfrm>
          <a:prstGeom prst="rect">
            <a:avLst/>
          </a:prstGeom>
          <a:solidFill>
            <a:srgbClr val="028090">
              <a:alpha val="70000"/>
            </a:srgbClr>
          </a:solidFill>
          <a:ln w="12700">
            <a:solidFill>
              <a:srgbClr val="028090">
                <a:alpha val="70000"/>
              </a:srgbClr>
            </a:solidFill>
            <a:prstDash val="solid"/>
          </a:ln>
        </p:spPr>
        <p:txBody>
          <a:bodyPr/>
          <a:lstStyle/>
          <a:p>
            <a:endParaRPr lang="en-US"/>
          </a:p>
        </p:txBody>
      </p:sp>
      <p:sp>
        <p:nvSpPr>
          <p:cNvPr id="41" name="Text 39"/>
          <p:cNvSpPr/>
          <p:nvPr/>
        </p:nvSpPr>
        <p:spPr>
          <a:xfrm>
            <a:off x="4754880" y="4023360"/>
            <a:ext cx="502920" cy="868680"/>
          </a:xfrm>
          <a:prstGeom prst="rect">
            <a:avLst/>
          </a:prstGeom>
          <a:noFill/>
          <a:ln/>
        </p:spPr>
        <p:txBody>
          <a:bodyPr wrap="square" lIns="0" tIns="0" rIns="0" bIns="0"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08</a:t>
            </a:r>
            <a:endParaRPr lang="en-US" sz="1400" dirty="0"/>
          </a:p>
        </p:txBody>
      </p:sp>
      <p:sp>
        <p:nvSpPr>
          <p:cNvPr id="42" name="Text 40"/>
          <p:cNvSpPr/>
          <p:nvPr/>
        </p:nvSpPr>
        <p:spPr>
          <a:xfrm>
            <a:off x="5349240" y="4078224"/>
            <a:ext cx="34747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Scaffold Research Activities</a:t>
            </a:r>
            <a:endParaRPr lang="en-US" sz="1100" dirty="0"/>
          </a:p>
        </p:txBody>
      </p:sp>
      <p:sp>
        <p:nvSpPr>
          <p:cNvPr id="43" name="Text 41"/>
          <p:cNvSpPr/>
          <p:nvPr/>
        </p:nvSpPr>
        <p:spPr>
          <a:xfrm>
            <a:off x="5349240" y="4425696"/>
            <a:ext cx="3474720" cy="402336"/>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Progress tracking, milestones, and AI-powered research assistance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CORE FEATURES — AI &amp; SMART CAPABILITIES</a:t>
            </a:r>
            <a:endParaRPr lang="en-US" sz="1500" dirty="0"/>
          </a:p>
        </p:txBody>
      </p:sp>
      <p:sp>
        <p:nvSpPr>
          <p:cNvPr id="4" name="Shape 2"/>
          <p:cNvSpPr/>
          <p:nvPr/>
        </p:nvSpPr>
        <p:spPr>
          <a:xfrm>
            <a:off x="274320" y="822960"/>
            <a:ext cx="416052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657600" y="932688"/>
            <a:ext cx="658368" cy="274320"/>
          </a:xfrm>
          <a:prstGeom prst="rect">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3657600" y="932688"/>
            <a:ext cx="6583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AI</a:t>
            </a:r>
            <a:endParaRPr lang="en-US" sz="900" dirty="0"/>
          </a:p>
        </p:txBody>
      </p:sp>
      <p:sp>
        <p:nvSpPr>
          <p:cNvPr id="7" name="Text 5"/>
          <p:cNvSpPr/>
          <p:nvPr/>
        </p:nvSpPr>
        <p:spPr>
          <a:xfrm>
            <a:off x="457200" y="914400"/>
            <a:ext cx="3108960" cy="38404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Demand Predictor</a:t>
            </a:r>
            <a:endParaRPr lang="en-US" sz="1300" dirty="0"/>
          </a:p>
        </p:txBody>
      </p:sp>
      <p:sp>
        <p:nvSpPr>
          <p:cNvPr id="8" name="Text 6"/>
          <p:cNvSpPr/>
          <p:nvPr/>
        </p:nvSpPr>
        <p:spPr>
          <a:xfrm>
            <a:off x="457200" y="1307592"/>
            <a:ext cx="3840480" cy="65836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Analyzes historical borrowing and course data to forecast high-demand books for acquisition planning</a:t>
            </a:r>
            <a:endParaRPr lang="en-US" sz="1050" dirty="0"/>
          </a:p>
        </p:txBody>
      </p:sp>
      <p:sp>
        <p:nvSpPr>
          <p:cNvPr id="9" name="Shape 7"/>
          <p:cNvSpPr/>
          <p:nvPr/>
        </p:nvSpPr>
        <p:spPr>
          <a:xfrm>
            <a:off x="4754880" y="822960"/>
            <a:ext cx="416052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8138160" y="932688"/>
            <a:ext cx="658368" cy="274320"/>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8138160" y="932688"/>
            <a:ext cx="6583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Analytics</a:t>
            </a:r>
            <a:endParaRPr lang="en-US" sz="900" dirty="0"/>
          </a:p>
        </p:txBody>
      </p:sp>
      <p:sp>
        <p:nvSpPr>
          <p:cNvPr id="12" name="Text 10"/>
          <p:cNvSpPr/>
          <p:nvPr/>
        </p:nvSpPr>
        <p:spPr>
          <a:xfrm>
            <a:off x="4937760" y="914400"/>
            <a:ext cx="3108960" cy="38404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Usage Analytics</a:t>
            </a:r>
            <a:endParaRPr lang="en-US" sz="1300" dirty="0"/>
          </a:p>
        </p:txBody>
      </p:sp>
      <p:sp>
        <p:nvSpPr>
          <p:cNvPr id="13" name="Text 11"/>
          <p:cNvSpPr/>
          <p:nvPr/>
        </p:nvSpPr>
        <p:spPr>
          <a:xfrm>
            <a:off x="4937760" y="1307592"/>
            <a:ext cx="3840480" cy="65836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Visual dashboard showing most viewed resources, active user segments, and hot research topics</a:t>
            </a:r>
            <a:endParaRPr lang="en-US" sz="1050" dirty="0"/>
          </a:p>
        </p:txBody>
      </p:sp>
      <p:sp>
        <p:nvSpPr>
          <p:cNvPr id="14" name="Shape 12"/>
          <p:cNvSpPr/>
          <p:nvPr/>
        </p:nvSpPr>
        <p:spPr>
          <a:xfrm>
            <a:off x="274320" y="2240280"/>
            <a:ext cx="416052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3657600" y="2350008"/>
            <a:ext cx="658368" cy="274320"/>
          </a:xfrm>
          <a:prstGeom prst="rect">
            <a:avLst/>
          </a:prstGeom>
          <a:solidFill>
            <a:srgbClr val="F96167"/>
          </a:solidFill>
          <a:ln w="12700">
            <a:solidFill>
              <a:srgbClr val="F96167"/>
            </a:solidFill>
            <a:prstDash val="solid"/>
          </a:ln>
        </p:spPr>
        <p:txBody>
          <a:bodyPr/>
          <a:lstStyle/>
          <a:p>
            <a:endParaRPr lang="en-US"/>
          </a:p>
        </p:txBody>
      </p:sp>
      <p:sp>
        <p:nvSpPr>
          <p:cNvPr id="16" name="Text 14"/>
          <p:cNvSpPr/>
          <p:nvPr/>
        </p:nvSpPr>
        <p:spPr>
          <a:xfrm>
            <a:off x="3657600" y="2350008"/>
            <a:ext cx="6583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AR</a:t>
            </a:r>
            <a:endParaRPr lang="en-US" sz="900" dirty="0"/>
          </a:p>
        </p:txBody>
      </p:sp>
      <p:sp>
        <p:nvSpPr>
          <p:cNvPr id="17" name="Text 15"/>
          <p:cNvSpPr/>
          <p:nvPr/>
        </p:nvSpPr>
        <p:spPr>
          <a:xfrm>
            <a:off x="457200" y="2331720"/>
            <a:ext cx="3108960" cy="38404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AR Navigator</a:t>
            </a:r>
            <a:endParaRPr lang="en-US" sz="1300" dirty="0"/>
          </a:p>
        </p:txBody>
      </p:sp>
      <p:sp>
        <p:nvSpPr>
          <p:cNvPr id="18" name="Text 16"/>
          <p:cNvSpPr/>
          <p:nvPr/>
        </p:nvSpPr>
        <p:spPr>
          <a:xfrm>
            <a:off x="457200" y="2724912"/>
            <a:ext cx="3840480" cy="65836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Mobile AR guidance helping students locate books on shelves, reducing search time</a:t>
            </a:r>
            <a:endParaRPr lang="en-US" sz="1050" dirty="0"/>
          </a:p>
        </p:txBody>
      </p:sp>
      <p:sp>
        <p:nvSpPr>
          <p:cNvPr id="19" name="Shape 17"/>
          <p:cNvSpPr/>
          <p:nvPr/>
        </p:nvSpPr>
        <p:spPr>
          <a:xfrm>
            <a:off x="4754880" y="2240280"/>
            <a:ext cx="416052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8138160" y="2350008"/>
            <a:ext cx="658368" cy="274320"/>
          </a:xfrm>
          <a:prstGeom prst="rect">
            <a:avLst/>
          </a:prstGeom>
          <a:solidFill>
            <a:srgbClr val="F9A825"/>
          </a:solidFill>
          <a:ln w="12700">
            <a:solidFill>
              <a:srgbClr val="F9A825"/>
            </a:solidFill>
            <a:prstDash val="solid"/>
          </a:ln>
        </p:spPr>
        <p:txBody>
          <a:bodyPr/>
          <a:lstStyle/>
          <a:p>
            <a:endParaRPr lang="en-US"/>
          </a:p>
        </p:txBody>
      </p:sp>
      <p:sp>
        <p:nvSpPr>
          <p:cNvPr id="21" name="Text 19"/>
          <p:cNvSpPr/>
          <p:nvPr/>
        </p:nvSpPr>
        <p:spPr>
          <a:xfrm>
            <a:off x="8138160" y="2350008"/>
            <a:ext cx="6583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NLP</a:t>
            </a:r>
            <a:endParaRPr lang="en-US" sz="900" dirty="0"/>
          </a:p>
        </p:txBody>
      </p:sp>
      <p:sp>
        <p:nvSpPr>
          <p:cNvPr id="22" name="Text 20"/>
          <p:cNvSpPr/>
          <p:nvPr/>
        </p:nvSpPr>
        <p:spPr>
          <a:xfrm>
            <a:off x="4937760" y="2331720"/>
            <a:ext cx="3108960" cy="38404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Semantic Search</a:t>
            </a:r>
            <a:endParaRPr lang="en-US" sz="1300" dirty="0"/>
          </a:p>
        </p:txBody>
      </p:sp>
      <p:sp>
        <p:nvSpPr>
          <p:cNvPr id="23" name="Text 21"/>
          <p:cNvSpPr/>
          <p:nvPr/>
        </p:nvSpPr>
        <p:spPr>
          <a:xfrm>
            <a:off x="4937760" y="2724912"/>
            <a:ext cx="3840480" cy="65836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NLP-based search grouping results by topics and related themes for effective discovery</a:t>
            </a:r>
            <a:endParaRPr lang="en-US" sz="1050" dirty="0"/>
          </a:p>
        </p:txBody>
      </p:sp>
      <p:sp>
        <p:nvSpPr>
          <p:cNvPr id="24" name="Shape 22"/>
          <p:cNvSpPr/>
          <p:nvPr/>
        </p:nvSpPr>
        <p:spPr>
          <a:xfrm>
            <a:off x="274320" y="3657600"/>
            <a:ext cx="416052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3657600" y="3767328"/>
            <a:ext cx="658368" cy="274320"/>
          </a:xfrm>
          <a:prstGeom prst="rect">
            <a:avLst/>
          </a:prstGeom>
          <a:solidFill>
            <a:srgbClr val="7C3AED"/>
          </a:solidFill>
          <a:ln w="12700">
            <a:solidFill>
              <a:srgbClr val="7C3AED"/>
            </a:solidFill>
            <a:prstDash val="solid"/>
          </a:ln>
        </p:spPr>
        <p:txBody>
          <a:bodyPr/>
          <a:lstStyle/>
          <a:p>
            <a:endParaRPr lang="en-US"/>
          </a:p>
        </p:txBody>
      </p:sp>
      <p:sp>
        <p:nvSpPr>
          <p:cNvPr id="26" name="Text 24"/>
          <p:cNvSpPr/>
          <p:nvPr/>
        </p:nvSpPr>
        <p:spPr>
          <a:xfrm>
            <a:off x="3657600" y="3767328"/>
            <a:ext cx="6583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Productivity</a:t>
            </a:r>
            <a:endParaRPr lang="en-US" sz="900" dirty="0"/>
          </a:p>
        </p:txBody>
      </p:sp>
      <p:sp>
        <p:nvSpPr>
          <p:cNvPr id="27" name="Text 25"/>
          <p:cNvSpPr/>
          <p:nvPr/>
        </p:nvSpPr>
        <p:spPr>
          <a:xfrm>
            <a:off x="457200" y="3749040"/>
            <a:ext cx="3108960" cy="38404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Research Tracker</a:t>
            </a:r>
            <a:endParaRPr lang="en-US" sz="1300" dirty="0"/>
          </a:p>
        </p:txBody>
      </p:sp>
      <p:sp>
        <p:nvSpPr>
          <p:cNvPr id="28" name="Text 26"/>
          <p:cNvSpPr/>
          <p:nvPr/>
        </p:nvSpPr>
        <p:spPr>
          <a:xfrm>
            <a:off x="457200" y="4142232"/>
            <a:ext cx="3840480" cy="65836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Organizes research into phases, sets milestones, tracks progress with suggested next steps</a:t>
            </a:r>
            <a:endParaRPr lang="en-US" sz="1050" dirty="0"/>
          </a:p>
        </p:txBody>
      </p:sp>
      <p:sp>
        <p:nvSpPr>
          <p:cNvPr id="29" name="Shape 27"/>
          <p:cNvSpPr/>
          <p:nvPr/>
        </p:nvSpPr>
        <p:spPr>
          <a:xfrm>
            <a:off x="4754880" y="3657600"/>
            <a:ext cx="416052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0" name="Shape 28"/>
          <p:cNvSpPr/>
          <p:nvPr/>
        </p:nvSpPr>
        <p:spPr>
          <a:xfrm>
            <a:off x="8138160" y="3767328"/>
            <a:ext cx="658368" cy="274320"/>
          </a:xfrm>
          <a:prstGeom prst="rect">
            <a:avLst/>
          </a:prstGeom>
          <a:solidFill>
            <a:srgbClr val="02C39A"/>
          </a:solidFill>
          <a:ln w="12700">
            <a:solidFill>
              <a:srgbClr val="02C39A"/>
            </a:solidFill>
            <a:prstDash val="solid"/>
          </a:ln>
        </p:spPr>
        <p:txBody>
          <a:bodyPr/>
          <a:lstStyle/>
          <a:p>
            <a:endParaRPr lang="en-US"/>
          </a:p>
        </p:txBody>
      </p:sp>
      <p:sp>
        <p:nvSpPr>
          <p:cNvPr id="31" name="Text 29"/>
          <p:cNvSpPr/>
          <p:nvPr/>
        </p:nvSpPr>
        <p:spPr>
          <a:xfrm>
            <a:off x="8138160" y="3767328"/>
            <a:ext cx="6583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AI</a:t>
            </a:r>
            <a:endParaRPr lang="en-US" sz="900" dirty="0"/>
          </a:p>
        </p:txBody>
      </p:sp>
      <p:sp>
        <p:nvSpPr>
          <p:cNvPr id="32" name="Text 30"/>
          <p:cNvSpPr/>
          <p:nvPr/>
        </p:nvSpPr>
        <p:spPr>
          <a:xfrm>
            <a:off x="4937760" y="3749040"/>
            <a:ext cx="3108960" cy="38404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AI Research Helper</a:t>
            </a:r>
            <a:endParaRPr lang="en-US" sz="1300" dirty="0"/>
          </a:p>
        </p:txBody>
      </p:sp>
      <p:sp>
        <p:nvSpPr>
          <p:cNvPr id="33" name="Text 31"/>
          <p:cNvSpPr/>
          <p:nvPr/>
        </p:nvSpPr>
        <p:spPr>
          <a:xfrm>
            <a:off x="4937760" y="4142232"/>
            <a:ext cx="3840480" cy="65836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AI-powered chatbot assisting with research formulation, source discovery, and search strategy refinement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928899-4B13-012C-C9BA-2164C415BD4C}"/>
              </a:ext>
            </a:extLst>
          </p:cNvPr>
          <p:cNvSpPr txBox="1"/>
          <p:nvPr/>
        </p:nvSpPr>
        <p:spPr>
          <a:xfrm>
            <a:off x="2569388" y="884172"/>
            <a:ext cx="3426066" cy="369332"/>
          </a:xfrm>
          <a:prstGeom prst="rect">
            <a:avLst/>
          </a:prstGeom>
          <a:noFill/>
        </p:spPr>
        <p:txBody>
          <a:bodyPr wrap="none" rtlCol="0">
            <a:spAutoFit/>
          </a:bodyPr>
          <a:lstStyle/>
          <a:p>
            <a:r>
              <a:rPr lang="en-US" dirty="0"/>
              <a:t>Project progress and </a:t>
            </a:r>
            <a:r>
              <a:rPr lang="en-US" dirty="0" err="1"/>
              <a:t>implemtation</a:t>
            </a:r>
            <a:endParaRPr lang="en-US" dirty="0"/>
          </a:p>
        </p:txBody>
      </p:sp>
    </p:spTree>
    <p:extLst>
      <p:ext uri="{BB962C8B-B14F-4D97-AF65-F5344CB8AC3E}">
        <p14:creationId xmlns:p14="http://schemas.microsoft.com/office/powerpoint/2010/main" val="3334606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758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028090">
              <a:alpha val="15000"/>
            </a:srgbClr>
          </a:solidFill>
          <a:ln w="12700">
            <a:solidFill>
              <a:srgbClr val="028090">
                <a:alpha val="15000"/>
              </a:srgbClr>
            </a:solidFill>
            <a:prstDash val="solid"/>
          </a:ln>
        </p:spPr>
        <p:txBody>
          <a:bodyPr/>
          <a:lstStyle/>
          <a:p>
            <a:endParaRPr lang="en-US"/>
          </a:p>
        </p:txBody>
      </p:sp>
      <p:sp>
        <p:nvSpPr>
          <p:cNvPr id="3" name="Shape 1"/>
          <p:cNvSpPr/>
          <p:nvPr/>
        </p:nvSpPr>
        <p:spPr>
          <a:xfrm>
            <a:off x="0" y="4114800"/>
            <a:ext cx="9144000" cy="1028700"/>
          </a:xfrm>
          <a:prstGeom prst="rect">
            <a:avLst/>
          </a:prstGeom>
          <a:solidFill>
            <a:srgbClr val="028090">
              <a:alpha val="30000"/>
            </a:srgbClr>
          </a:solidFill>
          <a:ln w="12700">
            <a:solidFill>
              <a:srgbClr val="028090">
                <a:alpha val="30000"/>
              </a:srgbClr>
            </a:solidFill>
            <a:prstDash val="solid"/>
          </a:ln>
        </p:spPr>
        <p:txBody>
          <a:bodyPr/>
          <a:lstStyle/>
          <a:p>
            <a:endParaRPr lang="en-US"/>
          </a:p>
        </p:txBody>
      </p:sp>
      <p:sp>
        <p:nvSpPr>
          <p:cNvPr id="4" name="Text 2"/>
          <p:cNvSpPr/>
          <p:nvPr/>
        </p:nvSpPr>
        <p:spPr>
          <a:xfrm>
            <a:off x="457200" y="1097280"/>
            <a:ext cx="5943600" cy="118872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5" name="Shape 3"/>
          <p:cNvSpPr/>
          <p:nvPr/>
        </p:nvSpPr>
        <p:spPr>
          <a:xfrm>
            <a:off x="457200" y="2423160"/>
            <a:ext cx="3200400" cy="45720"/>
          </a:xfrm>
          <a:prstGeom prst="rect">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457200" y="2606040"/>
            <a:ext cx="5943600" cy="411480"/>
          </a:xfrm>
          <a:prstGeom prst="rect">
            <a:avLst/>
          </a:prstGeom>
          <a:noFill/>
          <a:ln/>
        </p:spPr>
        <p:txBody>
          <a:bodyPr wrap="square" lIns="0" tIns="0" rIns="0" bIns="0" rtlCol="0" anchor="ctr"/>
          <a:lstStyle/>
          <a:p>
            <a:pPr marL="0" indent="0">
              <a:buNone/>
            </a:pPr>
            <a:r>
              <a:rPr lang="en-US" sz="1600" dirty="0">
                <a:solidFill>
                  <a:srgbClr val="E8F4F8"/>
                </a:solidFill>
                <a:latin typeface="Calibri" pitchFamily="34" charset="0"/>
                <a:ea typeface="Calibri" pitchFamily="34" charset="-122"/>
                <a:cs typeface="Calibri" pitchFamily="34" charset="-120"/>
              </a:rPr>
              <a:t>LibConnect Pro — Coding Masters</a:t>
            </a:r>
            <a:endParaRPr lang="en-US" sz="1600" dirty="0"/>
          </a:p>
        </p:txBody>
      </p:sp>
      <p:sp>
        <p:nvSpPr>
          <p:cNvPr id="7" name="Text 5"/>
          <p:cNvSpPr/>
          <p:nvPr/>
        </p:nvSpPr>
        <p:spPr>
          <a:xfrm>
            <a:off x="457200" y="3108960"/>
            <a:ext cx="594360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COSC 6370.001 · Advanced Software Engineering · Feb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868</Words>
  <Application>Microsoft Macintosh PowerPoint</Application>
  <PresentationFormat>On-screen Show (16:9)</PresentationFormat>
  <Paragraphs>178</Paragraphs>
  <Slides>10</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LibConnect Pro - Coding Masters Proposal</dc:title>
  <dc:subject>PptxGenJS Presentation</dc:subject>
  <dc:creator>PptxGenJS</dc:creator>
  <cp:lastModifiedBy>Poduturu, Madhusudhan</cp:lastModifiedBy>
  <cp:revision>4</cp:revision>
  <dcterms:created xsi:type="dcterms:W3CDTF">2026-02-22T17:13:00Z</dcterms:created>
  <dcterms:modified xsi:type="dcterms:W3CDTF">2026-02-22T18:05:14Z</dcterms:modified>
</cp:coreProperties>
</file>