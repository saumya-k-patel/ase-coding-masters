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6" r:id="rId10"/>
    <p:sldId id="267" r:id="rId11"/>
    <p:sldId id="265" r:id="rId12"/>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46" d="100"/>
          <a:sy n="146" d="100"/>
        </p:scale>
        <p:origin x="594"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534901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jpeg"/><Relationship Id="rId7"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5.xml.rels><?xml version="1.0" encoding="UTF-8" standalone="yes"?>
<Relationships xmlns="http://schemas.openxmlformats.org/package/2006/relationships"><Relationship Id="rId8" Type="http://schemas.openxmlformats.org/officeDocument/2006/relationships/image" Target="../media/image20.png"/><Relationship Id="rId13" Type="http://schemas.openxmlformats.org/officeDocument/2006/relationships/image" Target="../media/image25.png"/><Relationship Id="rId3" Type="http://schemas.openxmlformats.org/officeDocument/2006/relationships/image" Target="../media/image15.jpeg"/><Relationship Id="rId7" Type="http://schemas.openxmlformats.org/officeDocument/2006/relationships/image" Target="../media/image19.png"/><Relationship Id="rId12" Type="http://schemas.openxmlformats.org/officeDocument/2006/relationships/image" Target="../media/image24.png"/><Relationship Id="rId17" Type="http://schemas.openxmlformats.org/officeDocument/2006/relationships/image" Target="../media/image29.png"/><Relationship Id="rId2" Type="http://schemas.openxmlformats.org/officeDocument/2006/relationships/notesSlide" Target="../notesSlides/notesSlide5.xml"/><Relationship Id="rId16" Type="http://schemas.openxmlformats.org/officeDocument/2006/relationships/image" Target="../media/image28.png"/><Relationship Id="rId1" Type="http://schemas.openxmlformats.org/officeDocument/2006/relationships/slideLayout" Target="../slideLayouts/slideLayout1.xml"/><Relationship Id="rId6" Type="http://schemas.openxmlformats.org/officeDocument/2006/relationships/image" Target="../media/image18.png"/><Relationship Id="rId11" Type="http://schemas.openxmlformats.org/officeDocument/2006/relationships/image" Target="../media/image23.png"/><Relationship Id="rId5" Type="http://schemas.openxmlformats.org/officeDocument/2006/relationships/image" Target="../media/image17.png"/><Relationship Id="rId15" Type="http://schemas.openxmlformats.org/officeDocument/2006/relationships/image" Target="../media/image27.png"/><Relationship Id="rId10" Type="http://schemas.openxmlformats.org/officeDocument/2006/relationships/image" Target="../media/image22.png"/><Relationship Id="rId4" Type="http://schemas.openxmlformats.org/officeDocument/2006/relationships/image" Target="../media/image16.png"/><Relationship Id="rId9" Type="http://schemas.openxmlformats.org/officeDocument/2006/relationships/image" Target="../media/image21.png"/><Relationship Id="rId14" Type="http://schemas.openxmlformats.org/officeDocument/2006/relationships/image" Target="../media/image26.png"/></Relationships>
</file>

<file path=ppt/slides/_rels/slide6.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8" Type="http://schemas.openxmlformats.org/officeDocument/2006/relationships/image" Target="../media/image36.png"/><Relationship Id="rId3" Type="http://schemas.openxmlformats.org/officeDocument/2006/relationships/image" Target="../media/image31.jpeg"/><Relationship Id="rId7" Type="http://schemas.openxmlformats.org/officeDocument/2006/relationships/image" Target="../media/image35.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 Id="rId9" Type="http://schemas.openxmlformats.org/officeDocument/2006/relationships/image" Target="../media/image37.png"/></Relationships>
</file>

<file path=ppt/slides/_rels/slide8.xml.rels><?xml version="1.0" encoding="UTF-8" standalone="yes"?>
<Relationships xmlns="http://schemas.openxmlformats.org/package/2006/relationships"><Relationship Id="rId3" Type="http://schemas.openxmlformats.org/officeDocument/2006/relationships/image" Target="../media/image38.jpeg"/><Relationship Id="rId7" Type="http://schemas.openxmlformats.org/officeDocument/2006/relationships/image" Target="../media/image42.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41.png"/><Relationship Id="rId5" Type="http://schemas.openxmlformats.org/officeDocument/2006/relationships/image" Target="../media/image40.png"/><Relationship Id="rId4" Type="http://schemas.openxmlformats.org/officeDocument/2006/relationships/image" Target="../media/image39.png"/></Relationships>
</file>

<file path=ppt/slides/_rels/slide9.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714375" y="1004953"/>
            <a:ext cx="8429625" cy="233958"/>
          </a:xfrm>
          <a:prstGeom prst="rect">
            <a:avLst/>
          </a:prstGeom>
          <a:noFill/>
          <a:ln/>
        </p:spPr>
        <p:txBody>
          <a:bodyPr wrap="none" lIns="0" tIns="0" rIns="0" bIns="0" rtlCol="0" anchor="t">
            <a:spAutoFit/>
          </a:bodyPr>
          <a:lstStyle/>
          <a:p>
            <a:pPr marL="0" indent="0" algn="l">
              <a:lnSpc>
                <a:spcPts val="1600"/>
              </a:lnSpc>
              <a:buNone/>
            </a:pPr>
            <a:r>
              <a:rPr lang="en-US" sz="1193" b="1" kern="0" spc="2" dirty="0">
                <a:solidFill>
                  <a:srgbClr val="E67E22"/>
                </a:solidFill>
              </a:rPr>
              <a:t>Coding Masters</a:t>
            </a:r>
            <a:endParaRPr lang="en-US" sz="1193" dirty="0"/>
          </a:p>
        </p:txBody>
      </p:sp>
      <p:sp>
        <p:nvSpPr>
          <p:cNvPr id="4" name="Text 1"/>
          <p:cNvSpPr/>
          <p:nvPr/>
        </p:nvSpPr>
        <p:spPr>
          <a:xfrm>
            <a:off x="714375" y="1667535"/>
            <a:ext cx="8429625" cy="660071"/>
          </a:xfrm>
          <a:prstGeom prst="rect">
            <a:avLst/>
          </a:prstGeom>
          <a:noFill/>
          <a:ln/>
        </p:spPr>
        <p:txBody>
          <a:bodyPr wrap="none" lIns="0" tIns="0" rIns="0" bIns="0" rtlCol="0" anchor="t">
            <a:spAutoFit/>
          </a:bodyPr>
          <a:lstStyle/>
          <a:p>
            <a:pPr marL="0" indent="0" algn="l">
              <a:lnSpc>
                <a:spcPts val="5200"/>
              </a:lnSpc>
              <a:buNone/>
            </a:pPr>
            <a:r>
              <a:rPr lang="en-US" sz="4353" b="1" dirty="0">
                <a:solidFill>
                  <a:srgbClr val="2C3E50"/>
                </a:solidFill>
              </a:rPr>
              <a:t>LibConnect Pro</a:t>
            </a:r>
            <a:endParaRPr lang="en-US" sz="4353" dirty="0"/>
          </a:p>
        </p:txBody>
      </p:sp>
      <p:sp>
        <p:nvSpPr>
          <p:cNvPr id="5" name="Text 2"/>
          <p:cNvSpPr/>
          <p:nvPr/>
        </p:nvSpPr>
        <p:spPr>
          <a:xfrm>
            <a:off x="714375" y="2470482"/>
            <a:ext cx="8429625" cy="350044"/>
          </a:xfrm>
          <a:prstGeom prst="rect">
            <a:avLst/>
          </a:prstGeom>
          <a:noFill/>
          <a:ln/>
        </p:spPr>
        <p:txBody>
          <a:bodyPr wrap="none" lIns="0" tIns="0" rIns="0" bIns="0" rtlCol="0" anchor="t">
            <a:spAutoFit/>
          </a:bodyPr>
          <a:lstStyle/>
          <a:p>
            <a:pPr marL="0" indent="0" algn="l">
              <a:lnSpc>
                <a:spcPts val="2400"/>
              </a:lnSpc>
              <a:buNone/>
            </a:pPr>
            <a:r>
              <a:rPr lang="en-US" sz="1924" kern="0" spc="1" dirty="0">
                <a:solidFill>
                  <a:srgbClr val="2C3E50"/>
                </a:solidFill>
              </a:rPr>
              <a:t>AI-Augmented Library Management Platform</a:t>
            </a:r>
            <a:endParaRPr lang="en-US" sz="1924" dirty="0"/>
          </a:p>
        </p:txBody>
      </p:sp>
      <p:sp>
        <p:nvSpPr>
          <p:cNvPr id="6" name="Text 3"/>
          <p:cNvSpPr/>
          <p:nvPr/>
        </p:nvSpPr>
        <p:spPr>
          <a:xfrm>
            <a:off x="714375" y="3249151"/>
            <a:ext cx="8429625" cy="642938"/>
          </a:xfrm>
          <a:prstGeom prst="rect">
            <a:avLst/>
          </a:prstGeom>
          <a:noFill/>
          <a:ln/>
        </p:spPr>
        <p:txBody>
          <a:bodyPr wrap="square" lIns="0" tIns="0" rIns="0" bIns="0" rtlCol="0" anchor="t">
            <a:spAutoFit/>
          </a:bodyPr>
          <a:lstStyle/>
          <a:p>
            <a:pPr marL="0" indent="0" algn="l">
              <a:lnSpc>
                <a:spcPts val="1500"/>
              </a:lnSpc>
              <a:buNone/>
            </a:pPr>
            <a:r>
              <a:rPr lang="en-US" sz="1090" b="1" dirty="0">
                <a:solidFill>
                  <a:srgbClr val="2C3E50"/>
                </a:solidFill>
              </a:rPr>
              <a:t>Saumya Patel
Madhusudhan Poduturu
Hakhilesh Neelamegan</a:t>
            </a:r>
            <a:endParaRPr lang="en-US" sz="1090" dirty="0"/>
          </a:p>
        </p:txBody>
      </p:sp>
      <p:sp>
        <p:nvSpPr>
          <p:cNvPr id="7" name="Text 4"/>
          <p:cNvSpPr/>
          <p:nvPr/>
        </p:nvSpPr>
        <p:spPr>
          <a:xfrm>
            <a:off x="714375" y="3963526"/>
            <a:ext cx="8429625" cy="175022"/>
          </a:xfrm>
          <a:prstGeom prst="rect">
            <a:avLst/>
          </a:prstGeom>
          <a:noFill/>
          <a:ln/>
        </p:spPr>
        <p:txBody>
          <a:bodyPr wrap="none" lIns="0" tIns="0" rIns="0" bIns="0" rtlCol="0" anchor="t">
            <a:spAutoFit/>
          </a:bodyPr>
          <a:lstStyle/>
          <a:p>
            <a:pPr marL="0" indent="0" algn="l">
              <a:lnSpc>
                <a:spcPts val="1200"/>
              </a:lnSpc>
              <a:buNone/>
            </a:pPr>
            <a:r>
              <a:rPr lang="en-US" sz="942" dirty="0">
                <a:solidFill>
                  <a:srgbClr val="7F8C8D"/>
                </a:solidFill>
              </a:rPr>
              <a:t>Advanced Software Engineering COSC 6370.001</a:t>
            </a:r>
            <a:endParaRPr lang="en-US" sz="942"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428625" y="357188"/>
            <a:ext cx="5073821" cy="350044"/>
          </a:xfrm>
          <a:prstGeom prst="rect">
            <a:avLst/>
          </a:prstGeom>
          <a:noFill/>
          <a:ln/>
        </p:spPr>
        <p:txBody>
          <a:bodyPr wrap="none" lIns="0" tIns="0" rIns="0" bIns="0" rtlCol="0" anchor="t">
            <a:spAutoFit/>
          </a:bodyPr>
          <a:lstStyle/>
          <a:p>
            <a:pPr marL="0" indent="0" algn="l">
              <a:lnSpc>
                <a:spcPts val="2400"/>
              </a:lnSpc>
              <a:buNone/>
            </a:pPr>
            <a:r>
              <a:rPr lang="en-US" sz="1808" b="1" dirty="0">
                <a:solidFill>
                  <a:srgbClr val="2C3E50"/>
                </a:solidFill>
              </a:rPr>
              <a:t>What is a Library Management System?</a:t>
            </a:r>
            <a:endParaRPr lang="en-US" sz="1808" dirty="0"/>
          </a:p>
        </p:txBody>
      </p:sp>
      <p:sp>
        <p:nvSpPr>
          <p:cNvPr id="4" name="Text 1"/>
          <p:cNvSpPr/>
          <p:nvPr/>
        </p:nvSpPr>
        <p:spPr>
          <a:xfrm>
            <a:off x="428625" y="1092994"/>
            <a:ext cx="7143750" cy="385763"/>
          </a:xfrm>
          <a:prstGeom prst="rect">
            <a:avLst/>
          </a:prstGeom>
          <a:noFill/>
          <a:ln/>
        </p:spPr>
        <p:txBody>
          <a:bodyPr wrap="square" lIns="0" tIns="0" rIns="0" bIns="0" rtlCol="0" anchor="t">
            <a:spAutoFit/>
          </a:bodyPr>
          <a:lstStyle/>
          <a:p>
            <a:pPr marL="0" indent="0" algn="l">
              <a:lnSpc>
                <a:spcPts val="1500"/>
              </a:lnSpc>
              <a:buNone/>
            </a:pPr>
            <a:r>
              <a:rPr lang="en-US" sz="942" dirty="0">
                <a:solidFill>
                  <a:srgbClr val="2C3E50"/>
                </a:solidFill>
              </a:rPr>
              <a:t>A Library Management System (LMS) is software that helps libraries organize and automate their day-to-day operations — making it easier for librarians to manage collections and for users to find, borrow, and return materials.</a:t>
            </a:r>
            <a:endParaRPr lang="en-US" sz="942" dirty="0"/>
          </a:p>
        </p:txBody>
      </p:sp>
      <p:sp>
        <p:nvSpPr>
          <p:cNvPr id="5" name="Shape 2"/>
          <p:cNvSpPr/>
          <p:nvPr/>
        </p:nvSpPr>
        <p:spPr>
          <a:xfrm>
            <a:off x="428625" y="1764506"/>
            <a:ext cx="1543050" cy="2538487"/>
          </a:xfrm>
          <a:prstGeom prst="rect">
            <a:avLst/>
          </a:prstGeom>
          <a:solidFill>
            <a:srgbClr val="FFFFFF"/>
          </a:solidFill>
          <a:ln/>
        </p:spPr>
        <p:txBody>
          <a:bodyPr/>
          <a:lstStyle/>
          <a:p>
            <a:endParaRPr lang="en-IN"/>
          </a:p>
        </p:txBody>
      </p:sp>
      <p:sp>
        <p:nvSpPr>
          <p:cNvPr id="6" name="Shape 3"/>
          <p:cNvSpPr/>
          <p:nvPr/>
        </p:nvSpPr>
        <p:spPr>
          <a:xfrm>
            <a:off x="428625" y="1764506"/>
            <a:ext cx="1543050" cy="28575"/>
          </a:xfrm>
          <a:prstGeom prst="rect">
            <a:avLst/>
          </a:prstGeom>
          <a:solidFill>
            <a:srgbClr val="5DADE2"/>
          </a:solidFill>
          <a:ln/>
        </p:spPr>
        <p:txBody>
          <a:bodyPr/>
          <a:lstStyle/>
          <a:p>
            <a:endParaRPr lang="en-IN"/>
          </a:p>
        </p:txBody>
      </p:sp>
      <p:pic>
        <p:nvPicPr>
          <p:cNvPr id="7" name="Image 1" descr="preencoded.png"/>
          <p:cNvPicPr>
            <a:picLocks noChangeAspect="1"/>
          </p:cNvPicPr>
          <p:nvPr/>
        </p:nvPicPr>
        <p:blipFill>
          <a:blip r:embed="rId4"/>
          <a:stretch>
            <a:fillRect/>
          </a:stretch>
        </p:blipFill>
        <p:spPr>
          <a:xfrm>
            <a:off x="1100138" y="1987748"/>
            <a:ext cx="200025" cy="228600"/>
          </a:xfrm>
          <a:prstGeom prst="rect">
            <a:avLst/>
          </a:prstGeom>
        </p:spPr>
      </p:pic>
      <p:sp>
        <p:nvSpPr>
          <p:cNvPr id="8" name="Text 4"/>
          <p:cNvSpPr/>
          <p:nvPr/>
        </p:nvSpPr>
        <p:spPr>
          <a:xfrm>
            <a:off x="535781" y="2362795"/>
            <a:ext cx="1328738" cy="357188"/>
          </a:xfrm>
          <a:prstGeom prst="rect">
            <a:avLst/>
          </a:prstGeom>
          <a:noFill/>
          <a:ln/>
        </p:spPr>
        <p:txBody>
          <a:bodyPr wrap="square" lIns="0" tIns="0" rIns="0" bIns="0" rtlCol="0" anchor="ctr">
            <a:spAutoFit/>
          </a:bodyPr>
          <a:lstStyle/>
          <a:p>
            <a:pPr marL="0" indent="0" algn="ctr">
              <a:lnSpc>
                <a:spcPts val="1200"/>
              </a:lnSpc>
              <a:buNone/>
            </a:pPr>
            <a:r>
              <a:rPr lang="en-US" sz="885" b="1" dirty="0">
                <a:solidFill>
                  <a:srgbClr val="2C3E50"/>
                </a:solidFill>
              </a:rPr>
              <a:t>Books in the Library</a:t>
            </a:r>
            <a:endParaRPr lang="en-US" sz="885" dirty="0"/>
          </a:p>
        </p:txBody>
      </p:sp>
      <p:sp>
        <p:nvSpPr>
          <p:cNvPr id="9" name="Text 5"/>
          <p:cNvSpPr/>
          <p:nvPr/>
        </p:nvSpPr>
        <p:spPr>
          <a:xfrm>
            <a:off x="535781" y="2827139"/>
            <a:ext cx="34909" cy="129983"/>
          </a:xfrm>
          <a:prstGeom prst="rect">
            <a:avLst/>
          </a:prstGeom>
          <a:noFill/>
          <a:ln/>
        </p:spPr>
        <p:txBody>
          <a:bodyPr wrap="none" lIns="0" tIns="0" rIns="0" bIns="0" rtlCol="0" anchor="t">
            <a:spAutoFit/>
          </a:bodyPr>
          <a:lstStyle/>
          <a:p>
            <a:pPr marL="0" indent="0" algn="l">
              <a:lnSpc>
                <a:spcPts val="1000"/>
              </a:lnSpc>
              <a:buNone/>
            </a:pPr>
            <a:r>
              <a:rPr lang="en-US" sz="634" b="1" dirty="0">
                <a:solidFill>
                  <a:srgbClr val="E67E22"/>
                </a:solidFill>
              </a:rPr>
              <a:t>•</a:t>
            </a:r>
            <a:endParaRPr lang="en-US" sz="634" dirty="0"/>
          </a:p>
        </p:txBody>
      </p:sp>
      <p:sp>
        <p:nvSpPr>
          <p:cNvPr id="10" name="Text 6"/>
          <p:cNvSpPr/>
          <p:nvPr/>
        </p:nvSpPr>
        <p:spPr>
          <a:xfrm>
            <a:off x="642938" y="2827139"/>
            <a:ext cx="949979" cy="256812"/>
          </a:xfrm>
          <a:prstGeom prst="rect">
            <a:avLst/>
          </a:prstGeom>
          <a:noFill/>
          <a:ln/>
        </p:spPr>
        <p:txBody>
          <a:bodyPr wrap="square" lIns="0" tIns="0" rIns="0" bIns="0" rtlCol="0" anchor="t">
            <a:spAutoFit/>
          </a:bodyPr>
          <a:lstStyle/>
          <a:p>
            <a:pPr marL="0" indent="0" algn="l">
              <a:lnSpc>
                <a:spcPts val="1000"/>
              </a:lnSpc>
              <a:buNone/>
            </a:pPr>
            <a:r>
              <a:rPr lang="en-US" sz="674" dirty="0">
                <a:solidFill>
                  <a:srgbClr val="2C3E50"/>
                </a:solidFill>
              </a:rPr>
              <a:t>Catalog of all books &amp; materials</a:t>
            </a:r>
            <a:endParaRPr lang="en-US" sz="674" dirty="0"/>
          </a:p>
        </p:txBody>
      </p:sp>
      <p:sp>
        <p:nvSpPr>
          <p:cNvPr id="11" name="Text 7"/>
          <p:cNvSpPr/>
          <p:nvPr/>
        </p:nvSpPr>
        <p:spPr>
          <a:xfrm>
            <a:off x="535781" y="3144310"/>
            <a:ext cx="34909" cy="129983"/>
          </a:xfrm>
          <a:prstGeom prst="rect">
            <a:avLst/>
          </a:prstGeom>
          <a:noFill/>
          <a:ln/>
        </p:spPr>
        <p:txBody>
          <a:bodyPr wrap="none" lIns="0" tIns="0" rIns="0" bIns="0" rtlCol="0" anchor="t">
            <a:spAutoFit/>
          </a:bodyPr>
          <a:lstStyle/>
          <a:p>
            <a:pPr marL="0" indent="0" algn="l">
              <a:lnSpc>
                <a:spcPts val="1000"/>
              </a:lnSpc>
              <a:buNone/>
            </a:pPr>
            <a:r>
              <a:rPr lang="en-US" sz="634" b="1" dirty="0">
                <a:solidFill>
                  <a:srgbClr val="E67E22"/>
                </a:solidFill>
              </a:rPr>
              <a:t>•</a:t>
            </a:r>
            <a:endParaRPr lang="en-US" sz="634" dirty="0"/>
          </a:p>
        </p:txBody>
      </p:sp>
      <p:sp>
        <p:nvSpPr>
          <p:cNvPr id="12" name="Text 8"/>
          <p:cNvSpPr/>
          <p:nvPr/>
        </p:nvSpPr>
        <p:spPr>
          <a:xfrm>
            <a:off x="642938" y="3144310"/>
            <a:ext cx="1208047" cy="256812"/>
          </a:xfrm>
          <a:prstGeom prst="rect">
            <a:avLst/>
          </a:prstGeom>
          <a:noFill/>
          <a:ln/>
        </p:spPr>
        <p:txBody>
          <a:bodyPr wrap="square" lIns="0" tIns="0" rIns="0" bIns="0" rtlCol="0" anchor="t">
            <a:spAutoFit/>
          </a:bodyPr>
          <a:lstStyle/>
          <a:p>
            <a:pPr marL="0" indent="0" algn="l">
              <a:lnSpc>
                <a:spcPts val="1000"/>
              </a:lnSpc>
              <a:buNone/>
            </a:pPr>
            <a:r>
              <a:rPr lang="en-US" sz="674" dirty="0">
                <a:solidFill>
                  <a:srgbClr val="2C3E50"/>
                </a:solidFill>
              </a:rPr>
              <a:t>Organized by title, author &amp; subject</a:t>
            </a:r>
            <a:endParaRPr lang="en-US" sz="674" dirty="0"/>
          </a:p>
        </p:txBody>
      </p:sp>
      <p:sp>
        <p:nvSpPr>
          <p:cNvPr id="13" name="Text 9"/>
          <p:cNvSpPr/>
          <p:nvPr/>
        </p:nvSpPr>
        <p:spPr>
          <a:xfrm>
            <a:off x="535781" y="3461482"/>
            <a:ext cx="34909" cy="129983"/>
          </a:xfrm>
          <a:prstGeom prst="rect">
            <a:avLst/>
          </a:prstGeom>
          <a:noFill/>
          <a:ln/>
        </p:spPr>
        <p:txBody>
          <a:bodyPr wrap="none" lIns="0" tIns="0" rIns="0" bIns="0" rtlCol="0" anchor="t">
            <a:spAutoFit/>
          </a:bodyPr>
          <a:lstStyle/>
          <a:p>
            <a:pPr marL="0" indent="0" algn="l">
              <a:lnSpc>
                <a:spcPts val="1000"/>
              </a:lnSpc>
              <a:buNone/>
            </a:pPr>
            <a:r>
              <a:rPr lang="en-US" sz="634" b="1" dirty="0">
                <a:solidFill>
                  <a:srgbClr val="E67E22"/>
                </a:solidFill>
              </a:rPr>
              <a:t>•</a:t>
            </a:r>
            <a:endParaRPr lang="en-US" sz="634" dirty="0"/>
          </a:p>
        </p:txBody>
      </p:sp>
      <p:sp>
        <p:nvSpPr>
          <p:cNvPr id="14" name="Text 10"/>
          <p:cNvSpPr/>
          <p:nvPr/>
        </p:nvSpPr>
        <p:spPr>
          <a:xfrm>
            <a:off x="642938" y="3461482"/>
            <a:ext cx="837884" cy="256812"/>
          </a:xfrm>
          <a:prstGeom prst="rect">
            <a:avLst/>
          </a:prstGeom>
          <a:noFill/>
          <a:ln/>
        </p:spPr>
        <p:txBody>
          <a:bodyPr wrap="square" lIns="0" tIns="0" rIns="0" bIns="0" rtlCol="0" anchor="t">
            <a:spAutoFit/>
          </a:bodyPr>
          <a:lstStyle/>
          <a:p>
            <a:pPr marL="0" indent="0" algn="l">
              <a:lnSpc>
                <a:spcPts val="1000"/>
              </a:lnSpc>
              <a:buNone/>
            </a:pPr>
            <a:r>
              <a:rPr lang="en-US" sz="674" dirty="0">
                <a:solidFill>
                  <a:srgbClr val="2C3E50"/>
                </a:solidFill>
              </a:rPr>
              <a:t>Tracks available vs. checked-out copies</a:t>
            </a:r>
            <a:endParaRPr lang="en-US" sz="674" dirty="0"/>
          </a:p>
        </p:txBody>
      </p:sp>
      <p:sp>
        <p:nvSpPr>
          <p:cNvPr id="15" name="Text 11"/>
          <p:cNvSpPr/>
          <p:nvPr/>
        </p:nvSpPr>
        <p:spPr>
          <a:xfrm>
            <a:off x="535781" y="3778653"/>
            <a:ext cx="34909" cy="129983"/>
          </a:xfrm>
          <a:prstGeom prst="rect">
            <a:avLst/>
          </a:prstGeom>
          <a:noFill/>
          <a:ln/>
        </p:spPr>
        <p:txBody>
          <a:bodyPr wrap="none" lIns="0" tIns="0" rIns="0" bIns="0" rtlCol="0" anchor="t">
            <a:spAutoFit/>
          </a:bodyPr>
          <a:lstStyle/>
          <a:p>
            <a:pPr marL="0" indent="0" algn="l">
              <a:lnSpc>
                <a:spcPts val="1000"/>
              </a:lnSpc>
              <a:buNone/>
            </a:pPr>
            <a:r>
              <a:rPr lang="en-US" sz="634" b="1" dirty="0">
                <a:solidFill>
                  <a:srgbClr val="E67E22"/>
                </a:solidFill>
              </a:rPr>
              <a:t>•</a:t>
            </a:r>
            <a:endParaRPr lang="en-US" sz="634" dirty="0"/>
          </a:p>
        </p:txBody>
      </p:sp>
      <p:sp>
        <p:nvSpPr>
          <p:cNvPr id="16" name="Text 12"/>
          <p:cNvSpPr/>
          <p:nvPr/>
        </p:nvSpPr>
        <p:spPr>
          <a:xfrm>
            <a:off x="642938" y="3778653"/>
            <a:ext cx="1158264" cy="256812"/>
          </a:xfrm>
          <a:prstGeom prst="rect">
            <a:avLst/>
          </a:prstGeom>
          <a:noFill/>
          <a:ln/>
        </p:spPr>
        <p:txBody>
          <a:bodyPr wrap="square" lIns="0" tIns="0" rIns="0" bIns="0" rtlCol="0" anchor="t">
            <a:spAutoFit/>
          </a:bodyPr>
          <a:lstStyle/>
          <a:p>
            <a:pPr marL="0" indent="0" algn="l">
              <a:lnSpc>
                <a:spcPts val="1000"/>
              </a:lnSpc>
              <a:buNone/>
            </a:pPr>
            <a:r>
              <a:rPr lang="en-US" sz="674" dirty="0">
                <a:solidFill>
                  <a:srgbClr val="2C3E50"/>
                </a:solidFill>
              </a:rPr>
              <a:t>Supports physical &amp; digital collections</a:t>
            </a:r>
            <a:endParaRPr lang="en-US" sz="674" dirty="0"/>
          </a:p>
        </p:txBody>
      </p:sp>
      <p:sp>
        <p:nvSpPr>
          <p:cNvPr id="17" name="Shape 13"/>
          <p:cNvSpPr/>
          <p:nvPr/>
        </p:nvSpPr>
        <p:spPr>
          <a:xfrm>
            <a:off x="2114550" y="1764506"/>
            <a:ext cx="1543050" cy="2538487"/>
          </a:xfrm>
          <a:prstGeom prst="rect">
            <a:avLst/>
          </a:prstGeom>
          <a:solidFill>
            <a:srgbClr val="FFFFFF"/>
          </a:solidFill>
          <a:ln/>
        </p:spPr>
        <p:txBody>
          <a:bodyPr/>
          <a:lstStyle/>
          <a:p>
            <a:endParaRPr lang="en-IN"/>
          </a:p>
        </p:txBody>
      </p:sp>
      <p:sp>
        <p:nvSpPr>
          <p:cNvPr id="18" name="Shape 14"/>
          <p:cNvSpPr/>
          <p:nvPr/>
        </p:nvSpPr>
        <p:spPr>
          <a:xfrm>
            <a:off x="2114550" y="1764506"/>
            <a:ext cx="1543050" cy="28575"/>
          </a:xfrm>
          <a:prstGeom prst="rect">
            <a:avLst/>
          </a:prstGeom>
          <a:solidFill>
            <a:srgbClr val="E67E22"/>
          </a:solidFill>
          <a:ln/>
        </p:spPr>
        <p:txBody>
          <a:bodyPr/>
          <a:lstStyle/>
          <a:p>
            <a:endParaRPr lang="en-IN"/>
          </a:p>
        </p:txBody>
      </p:sp>
      <p:pic>
        <p:nvPicPr>
          <p:cNvPr id="19" name="Image 2" descr="preencoded.png"/>
          <p:cNvPicPr>
            <a:picLocks noChangeAspect="1"/>
          </p:cNvPicPr>
          <p:nvPr/>
        </p:nvPicPr>
        <p:blipFill>
          <a:blip r:embed="rId5"/>
          <a:stretch>
            <a:fillRect/>
          </a:stretch>
        </p:blipFill>
        <p:spPr>
          <a:xfrm>
            <a:off x="2771775" y="1987748"/>
            <a:ext cx="228600" cy="228600"/>
          </a:xfrm>
          <a:prstGeom prst="rect">
            <a:avLst/>
          </a:prstGeom>
        </p:spPr>
      </p:pic>
      <p:sp>
        <p:nvSpPr>
          <p:cNvPr id="20" name="Text 15"/>
          <p:cNvSpPr/>
          <p:nvPr/>
        </p:nvSpPr>
        <p:spPr>
          <a:xfrm>
            <a:off x="2221706" y="2362795"/>
            <a:ext cx="1328738" cy="357188"/>
          </a:xfrm>
          <a:prstGeom prst="rect">
            <a:avLst/>
          </a:prstGeom>
          <a:noFill/>
          <a:ln/>
        </p:spPr>
        <p:txBody>
          <a:bodyPr wrap="square" lIns="0" tIns="0" rIns="0" bIns="0" rtlCol="0" anchor="ctr">
            <a:spAutoFit/>
          </a:bodyPr>
          <a:lstStyle/>
          <a:p>
            <a:pPr marL="0" indent="0" algn="ctr">
              <a:lnSpc>
                <a:spcPts val="1200"/>
              </a:lnSpc>
              <a:buNone/>
            </a:pPr>
            <a:r>
              <a:rPr lang="en-US" sz="885" b="1" dirty="0">
                <a:solidFill>
                  <a:srgbClr val="2C3E50"/>
                </a:solidFill>
              </a:rPr>
              <a:t>Who Borrowed What</a:t>
            </a:r>
            <a:endParaRPr lang="en-US" sz="885" dirty="0"/>
          </a:p>
        </p:txBody>
      </p:sp>
      <p:sp>
        <p:nvSpPr>
          <p:cNvPr id="21" name="Text 16"/>
          <p:cNvSpPr/>
          <p:nvPr/>
        </p:nvSpPr>
        <p:spPr>
          <a:xfrm>
            <a:off x="2221706" y="2827139"/>
            <a:ext cx="34909" cy="129983"/>
          </a:xfrm>
          <a:prstGeom prst="rect">
            <a:avLst/>
          </a:prstGeom>
          <a:noFill/>
          <a:ln/>
        </p:spPr>
        <p:txBody>
          <a:bodyPr wrap="none" lIns="0" tIns="0" rIns="0" bIns="0" rtlCol="0" anchor="t">
            <a:spAutoFit/>
          </a:bodyPr>
          <a:lstStyle/>
          <a:p>
            <a:pPr marL="0" indent="0" algn="l">
              <a:lnSpc>
                <a:spcPts val="1000"/>
              </a:lnSpc>
              <a:buNone/>
            </a:pPr>
            <a:r>
              <a:rPr lang="en-US" sz="634" b="1" dirty="0">
                <a:solidFill>
                  <a:srgbClr val="E67E22"/>
                </a:solidFill>
              </a:rPr>
              <a:t>•</a:t>
            </a:r>
            <a:endParaRPr lang="en-US" sz="634" dirty="0"/>
          </a:p>
        </p:txBody>
      </p:sp>
      <p:sp>
        <p:nvSpPr>
          <p:cNvPr id="22" name="Text 17"/>
          <p:cNvSpPr/>
          <p:nvPr/>
        </p:nvSpPr>
        <p:spPr>
          <a:xfrm>
            <a:off x="2328863" y="2827139"/>
            <a:ext cx="935022" cy="256812"/>
          </a:xfrm>
          <a:prstGeom prst="rect">
            <a:avLst/>
          </a:prstGeom>
          <a:noFill/>
          <a:ln/>
        </p:spPr>
        <p:txBody>
          <a:bodyPr wrap="square" lIns="0" tIns="0" rIns="0" bIns="0" rtlCol="0" anchor="t">
            <a:spAutoFit/>
          </a:bodyPr>
          <a:lstStyle/>
          <a:p>
            <a:pPr marL="0" indent="0" algn="l">
              <a:lnSpc>
                <a:spcPts val="1000"/>
              </a:lnSpc>
              <a:buNone/>
            </a:pPr>
            <a:r>
              <a:rPr lang="en-US" sz="674" dirty="0">
                <a:solidFill>
                  <a:srgbClr val="2C3E50"/>
                </a:solidFill>
              </a:rPr>
              <a:t>Records of every loan transaction</a:t>
            </a:r>
            <a:endParaRPr lang="en-US" sz="674" dirty="0"/>
          </a:p>
        </p:txBody>
      </p:sp>
      <p:sp>
        <p:nvSpPr>
          <p:cNvPr id="23" name="Text 18"/>
          <p:cNvSpPr/>
          <p:nvPr/>
        </p:nvSpPr>
        <p:spPr>
          <a:xfrm>
            <a:off x="2221706" y="3144310"/>
            <a:ext cx="34909" cy="129983"/>
          </a:xfrm>
          <a:prstGeom prst="rect">
            <a:avLst/>
          </a:prstGeom>
          <a:noFill/>
          <a:ln/>
        </p:spPr>
        <p:txBody>
          <a:bodyPr wrap="none" lIns="0" tIns="0" rIns="0" bIns="0" rtlCol="0" anchor="t">
            <a:spAutoFit/>
          </a:bodyPr>
          <a:lstStyle/>
          <a:p>
            <a:pPr marL="0" indent="0" algn="l">
              <a:lnSpc>
                <a:spcPts val="1000"/>
              </a:lnSpc>
              <a:buNone/>
            </a:pPr>
            <a:r>
              <a:rPr lang="en-US" sz="634" b="1" dirty="0">
                <a:solidFill>
                  <a:srgbClr val="E67E22"/>
                </a:solidFill>
              </a:rPr>
              <a:t>•</a:t>
            </a:r>
            <a:endParaRPr lang="en-US" sz="634" dirty="0"/>
          </a:p>
        </p:txBody>
      </p:sp>
      <p:sp>
        <p:nvSpPr>
          <p:cNvPr id="24" name="Text 19"/>
          <p:cNvSpPr/>
          <p:nvPr/>
        </p:nvSpPr>
        <p:spPr>
          <a:xfrm>
            <a:off x="2328863" y="3144310"/>
            <a:ext cx="979224" cy="256812"/>
          </a:xfrm>
          <a:prstGeom prst="rect">
            <a:avLst/>
          </a:prstGeom>
          <a:noFill/>
          <a:ln/>
        </p:spPr>
        <p:txBody>
          <a:bodyPr wrap="square" lIns="0" tIns="0" rIns="0" bIns="0" rtlCol="0" anchor="t">
            <a:spAutoFit/>
          </a:bodyPr>
          <a:lstStyle/>
          <a:p>
            <a:pPr marL="0" indent="0" algn="l">
              <a:lnSpc>
                <a:spcPts val="1000"/>
              </a:lnSpc>
              <a:buNone/>
            </a:pPr>
            <a:r>
              <a:rPr lang="en-US" sz="674" dirty="0">
                <a:solidFill>
                  <a:srgbClr val="2C3E50"/>
                </a:solidFill>
              </a:rPr>
              <a:t>Links each book to the borrower</a:t>
            </a:r>
            <a:endParaRPr lang="en-US" sz="674" dirty="0"/>
          </a:p>
        </p:txBody>
      </p:sp>
      <p:sp>
        <p:nvSpPr>
          <p:cNvPr id="25" name="Text 20"/>
          <p:cNvSpPr/>
          <p:nvPr/>
        </p:nvSpPr>
        <p:spPr>
          <a:xfrm>
            <a:off x="2221706" y="3461482"/>
            <a:ext cx="34909" cy="129983"/>
          </a:xfrm>
          <a:prstGeom prst="rect">
            <a:avLst/>
          </a:prstGeom>
          <a:noFill/>
          <a:ln/>
        </p:spPr>
        <p:txBody>
          <a:bodyPr wrap="none" lIns="0" tIns="0" rIns="0" bIns="0" rtlCol="0" anchor="t">
            <a:spAutoFit/>
          </a:bodyPr>
          <a:lstStyle/>
          <a:p>
            <a:pPr marL="0" indent="0" algn="l">
              <a:lnSpc>
                <a:spcPts val="1000"/>
              </a:lnSpc>
              <a:buNone/>
            </a:pPr>
            <a:r>
              <a:rPr lang="en-US" sz="634" b="1" dirty="0">
                <a:solidFill>
                  <a:srgbClr val="E67E22"/>
                </a:solidFill>
              </a:rPr>
              <a:t>•</a:t>
            </a:r>
            <a:endParaRPr lang="en-US" sz="634" dirty="0"/>
          </a:p>
        </p:txBody>
      </p:sp>
      <p:sp>
        <p:nvSpPr>
          <p:cNvPr id="26" name="Text 21"/>
          <p:cNvSpPr/>
          <p:nvPr/>
        </p:nvSpPr>
        <p:spPr>
          <a:xfrm>
            <a:off x="2328863" y="3461482"/>
            <a:ext cx="1129019" cy="256812"/>
          </a:xfrm>
          <a:prstGeom prst="rect">
            <a:avLst/>
          </a:prstGeom>
          <a:noFill/>
          <a:ln/>
        </p:spPr>
        <p:txBody>
          <a:bodyPr wrap="square" lIns="0" tIns="0" rIns="0" bIns="0" rtlCol="0" anchor="t">
            <a:spAutoFit/>
          </a:bodyPr>
          <a:lstStyle/>
          <a:p>
            <a:pPr marL="0" indent="0" algn="l">
              <a:lnSpc>
                <a:spcPts val="1000"/>
              </a:lnSpc>
              <a:buNone/>
            </a:pPr>
            <a:r>
              <a:rPr lang="en-US" sz="674" dirty="0">
                <a:solidFill>
                  <a:srgbClr val="2C3E50"/>
                </a:solidFill>
              </a:rPr>
              <a:t>Full borrowing history per member</a:t>
            </a:r>
            <a:endParaRPr lang="en-US" sz="674" dirty="0"/>
          </a:p>
        </p:txBody>
      </p:sp>
      <p:sp>
        <p:nvSpPr>
          <p:cNvPr id="27" name="Text 22"/>
          <p:cNvSpPr/>
          <p:nvPr/>
        </p:nvSpPr>
        <p:spPr>
          <a:xfrm>
            <a:off x="2221706" y="3778653"/>
            <a:ext cx="34909" cy="129983"/>
          </a:xfrm>
          <a:prstGeom prst="rect">
            <a:avLst/>
          </a:prstGeom>
          <a:noFill/>
          <a:ln/>
        </p:spPr>
        <p:txBody>
          <a:bodyPr wrap="none" lIns="0" tIns="0" rIns="0" bIns="0" rtlCol="0" anchor="t">
            <a:spAutoFit/>
          </a:bodyPr>
          <a:lstStyle/>
          <a:p>
            <a:pPr marL="0" indent="0" algn="l">
              <a:lnSpc>
                <a:spcPts val="1000"/>
              </a:lnSpc>
              <a:buNone/>
            </a:pPr>
            <a:r>
              <a:rPr lang="en-US" sz="634" b="1" dirty="0">
                <a:solidFill>
                  <a:srgbClr val="E67E22"/>
                </a:solidFill>
              </a:rPr>
              <a:t>•</a:t>
            </a:r>
            <a:endParaRPr lang="en-US" sz="634" dirty="0"/>
          </a:p>
        </p:txBody>
      </p:sp>
      <p:sp>
        <p:nvSpPr>
          <p:cNvPr id="28" name="Text 23"/>
          <p:cNvSpPr/>
          <p:nvPr/>
        </p:nvSpPr>
        <p:spPr>
          <a:xfrm>
            <a:off x="2328863" y="3778653"/>
            <a:ext cx="1203303" cy="256812"/>
          </a:xfrm>
          <a:prstGeom prst="rect">
            <a:avLst/>
          </a:prstGeom>
          <a:noFill/>
          <a:ln/>
        </p:spPr>
        <p:txBody>
          <a:bodyPr wrap="square" lIns="0" tIns="0" rIns="0" bIns="0" rtlCol="0" anchor="t">
            <a:spAutoFit/>
          </a:bodyPr>
          <a:lstStyle/>
          <a:p>
            <a:pPr marL="0" indent="0" algn="l">
              <a:lnSpc>
                <a:spcPts val="1000"/>
              </a:lnSpc>
              <a:buNone/>
            </a:pPr>
            <a:r>
              <a:rPr lang="en-US" sz="674" dirty="0">
                <a:solidFill>
                  <a:srgbClr val="2C3E50"/>
                </a:solidFill>
              </a:rPr>
              <a:t>Separate access for staff vs. members</a:t>
            </a:r>
            <a:endParaRPr lang="en-US" sz="674" dirty="0"/>
          </a:p>
        </p:txBody>
      </p:sp>
      <p:sp>
        <p:nvSpPr>
          <p:cNvPr id="29" name="Shape 24"/>
          <p:cNvSpPr/>
          <p:nvPr/>
        </p:nvSpPr>
        <p:spPr>
          <a:xfrm>
            <a:off x="3800475" y="1764506"/>
            <a:ext cx="1543050" cy="2538487"/>
          </a:xfrm>
          <a:prstGeom prst="rect">
            <a:avLst/>
          </a:prstGeom>
          <a:solidFill>
            <a:srgbClr val="FFFFFF"/>
          </a:solidFill>
          <a:ln/>
        </p:spPr>
        <p:txBody>
          <a:bodyPr/>
          <a:lstStyle/>
          <a:p>
            <a:endParaRPr lang="en-IN"/>
          </a:p>
        </p:txBody>
      </p:sp>
      <p:sp>
        <p:nvSpPr>
          <p:cNvPr id="30" name="Shape 25"/>
          <p:cNvSpPr/>
          <p:nvPr/>
        </p:nvSpPr>
        <p:spPr>
          <a:xfrm>
            <a:off x="3800475" y="1764506"/>
            <a:ext cx="1543050" cy="28575"/>
          </a:xfrm>
          <a:prstGeom prst="rect">
            <a:avLst/>
          </a:prstGeom>
          <a:solidFill>
            <a:srgbClr val="5DADE2"/>
          </a:solidFill>
          <a:ln/>
        </p:spPr>
        <p:txBody>
          <a:bodyPr/>
          <a:lstStyle/>
          <a:p>
            <a:endParaRPr lang="en-IN"/>
          </a:p>
        </p:txBody>
      </p:sp>
      <p:pic>
        <p:nvPicPr>
          <p:cNvPr id="31" name="Image 3" descr="preencoded.png"/>
          <p:cNvPicPr>
            <a:picLocks noChangeAspect="1"/>
          </p:cNvPicPr>
          <p:nvPr/>
        </p:nvPicPr>
        <p:blipFill>
          <a:blip r:embed="rId6"/>
          <a:stretch>
            <a:fillRect/>
          </a:stretch>
        </p:blipFill>
        <p:spPr>
          <a:xfrm>
            <a:off x="4457700" y="1987748"/>
            <a:ext cx="228600" cy="228600"/>
          </a:xfrm>
          <a:prstGeom prst="rect">
            <a:avLst/>
          </a:prstGeom>
        </p:spPr>
      </p:pic>
      <p:sp>
        <p:nvSpPr>
          <p:cNvPr id="32" name="Text 26"/>
          <p:cNvSpPr/>
          <p:nvPr/>
        </p:nvSpPr>
        <p:spPr>
          <a:xfrm>
            <a:off x="3907631" y="2362795"/>
            <a:ext cx="1328738" cy="357188"/>
          </a:xfrm>
          <a:prstGeom prst="rect">
            <a:avLst/>
          </a:prstGeom>
          <a:noFill/>
          <a:ln/>
        </p:spPr>
        <p:txBody>
          <a:bodyPr wrap="square" lIns="0" tIns="0" rIns="0" bIns="0" rtlCol="0" anchor="ctr">
            <a:spAutoFit/>
          </a:bodyPr>
          <a:lstStyle/>
          <a:p>
            <a:pPr marL="0" indent="0" algn="ctr">
              <a:lnSpc>
                <a:spcPts val="1200"/>
              </a:lnSpc>
              <a:buNone/>
            </a:pPr>
            <a:r>
              <a:rPr lang="en-US" sz="885" b="1" dirty="0">
                <a:solidFill>
                  <a:srgbClr val="2C3E50"/>
                </a:solidFill>
              </a:rPr>
              <a:t>Due Dates &amp; Late Returns</a:t>
            </a:r>
            <a:endParaRPr lang="en-US" sz="885" dirty="0"/>
          </a:p>
        </p:txBody>
      </p:sp>
      <p:sp>
        <p:nvSpPr>
          <p:cNvPr id="33" name="Text 27"/>
          <p:cNvSpPr/>
          <p:nvPr/>
        </p:nvSpPr>
        <p:spPr>
          <a:xfrm>
            <a:off x="3907631" y="2827139"/>
            <a:ext cx="34909" cy="129983"/>
          </a:xfrm>
          <a:prstGeom prst="rect">
            <a:avLst/>
          </a:prstGeom>
          <a:noFill/>
          <a:ln/>
        </p:spPr>
        <p:txBody>
          <a:bodyPr wrap="none" lIns="0" tIns="0" rIns="0" bIns="0" rtlCol="0" anchor="t">
            <a:spAutoFit/>
          </a:bodyPr>
          <a:lstStyle/>
          <a:p>
            <a:pPr marL="0" indent="0" algn="l">
              <a:lnSpc>
                <a:spcPts val="1000"/>
              </a:lnSpc>
              <a:buNone/>
            </a:pPr>
            <a:r>
              <a:rPr lang="en-US" sz="634" b="1" dirty="0">
                <a:solidFill>
                  <a:srgbClr val="E67E22"/>
                </a:solidFill>
              </a:rPr>
              <a:t>•</a:t>
            </a:r>
            <a:endParaRPr lang="en-US" sz="634" dirty="0"/>
          </a:p>
        </p:txBody>
      </p:sp>
      <p:sp>
        <p:nvSpPr>
          <p:cNvPr id="34" name="Text 28"/>
          <p:cNvSpPr/>
          <p:nvPr/>
        </p:nvSpPr>
        <p:spPr>
          <a:xfrm>
            <a:off x="4014788" y="2827139"/>
            <a:ext cx="1076725" cy="256812"/>
          </a:xfrm>
          <a:prstGeom prst="rect">
            <a:avLst/>
          </a:prstGeom>
          <a:noFill/>
          <a:ln/>
        </p:spPr>
        <p:txBody>
          <a:bodyPr wrap="square" lIns="0" tIns="0" rIns="0" bIns="0" rtlCol="0" anchor="t">
            <a:spAutoFit/>
          </a:bodyPr>
          <a:lstStyle/>
          <a:p>
            <a:pPr marL="0" indent="0" algn="l">
              <a:lnSpc>
                <a:spcPts val="1000"/>
              </a:lnSpc>
              <a:buNone/>
            </a:pPr>
            <a:r>
              <a:rPr lang="en-US" sz="674" dirty="0">
                <a:solidFill>
                  <a:srgbClr val="2C3E50"/>
                </a:solidFill>
              </a:rPr>
              <a:t>Sets return deadlines for each loan</a:t>
            </a:r>
            <a:endParaRPr lang="en-US" sz="674" dirty="0"/>
          </a:p>
        </p:txBody>
      </p:sp>
      <p:sp>
        <p:nvSpPr>
          <p:cNvPr id="35" name="Text 29"/>
          <p:cNvSpPr/>
          <p:nvPr/>
        </p:nvSpPr>
        <p:spPr>
          <a:xfrm>
            <a:off x="3907631" y="3144310"/>
            <a:ext cx="34909" cy="129983"/>
          </a:xfrm>
          <a:prstGeom prst="rect">
            <a:avLst/>
          </a:prstGeom>
          <a:noFill/>
          <a:ln/>
        </p:spPr>
        <p:txBody>
          <a:bodyPr wrap="none" lIns="0" tIns="0" rIns="0" bIns="0" rtlCol="0" anchor="t">
            <a:spAutoFit/>
          </a:bodyPr>
          <a:lstStyle/>
          <a:p>
            <a:pPr marL="0" indent="0" algn="l">
              <a:lnSpc>
                <a:spcPts val="1000"/>
              </a:lnSpc>
              <a:buNone/>
            </a:pPr>
            <a:r>
              <a:rPr lang="en-US" sz="634" b="1" dirty="0">
                <a:solidFill>
                  <a:srgbClr val="E67E22"/>
                </a:solidFill>
              </a:rPr>
              <a:t>•</a:t>
            </a:r>
            <a:endParaRPr lang="en-US" sz="634" dirty="0"/>
          </a:p>
        </p:txBody>
      </p:sp>
      <p:sp>
        <p:nvSpPr>
          <p:cNvPr id="36" name="Text 30"/>
          <p:cNvSpPr/>
          <p:nvPr/>
        </p:nvSpPr>
        <p:spPr>
          <a:xfrm>
            <a:off x="4014788" y="3144310"/>
            <a:ext cx="1046559" cy="256812"/>
          </a:xfrm>
          <a:prstGeom prst="rect">
            <a:avLst/>
          </a:prstGeom>
          <a:noFill/>
          <a:ln/>
        </p:spPr>
        <p:txBody>
          <a:bodyPr wrap="square" lIns="0" tIns="0" rIns="0" bIns="0" rtlCol="0" anchor="t">
            <a:spAutoFit/>
          </a:bodyPr>
          <a:lstStyle/>
          <a:p>
            <a:pPr marL="0" indent="0" algn="l">
              <a:lnSpc>
                <a:spcPts val="1000"/>
              </a:lnSpc>
              <a:buNone/>
            </a:pPr>
            <a:r>
              <a:rPr lang="en-US" sz="674" dirty="0">
                <a:solidFill>
                  <a:srgbClr val="2C3E50"/>
                </a:solidFill>
              </a:rPr>
              <a:t>Sends reminders before due date</a:t>
            </a:r>
            <a:endParaRPr lang="en-US" sz="674" dirty="0"/>
          </a:p>
        </p:txBody>
      </p:sp>
      <p:sp>
        <p:nvSpPr>
          <p:cNvPr id="37" name="Text 31"/>
          <p:cNvSpPr/>
          <p:nvPr/>
        </p:nvSpPr>
        <p:spPr>
          <a:xfrm>
            <a:off x="3907631" y="3461482"/>
            <a:ext cx="34909" cy="129983"/>
          </a:xfrm>
          <a:prstGeom prst="rect">
            <a:avLst/>
          </a:prstGeom>
          <a:noFill/>
          <a:ln/>
        </p:spPr>
        <p:txBody>
          <a:bodyPr wrap="none" lIns="0" tIns="0" rIns="0" bIns="0" rtlCol="0" anchor="t">
            <a:spAutoFit/>
          </a:bodyPr>
          <a:lstStyle/>
          <a:p>
            <a:pPr marL="0" indent="0" algn="l">
              <a:lnSpc>
                <a:spcPts val="1000"/>
              </a:lnSpc>
              <a:buNone/>
            </a:pPr>
            <a:r>
              <a:rPr lang="en-US" sz="634" b="1" dirty="0">
                <a:solidFill>
                  <a:srgbClr val="E67E22"/>
                </a:solidFill>
              </a:rPr>
              <a:t>•</a:t>
            </a:r>
            <a:endParaRPr lang="en-US" sz="634" dirty="0"/>
          </a:p>
        </p:txBody>
      </p:sp>
      <p:sp>
        <p:nvSpPr>
          <p:cNvPr id="38" name="Text 32"/>
          <p:cNvSpPr/>
          <p:nvPr/>
        </p:nvSpPr>
        <p:spPr>
          <a:xfrm>
            <a:off x="4014788" y="3461482"/>
            <a:ext cx="1210001" cy="256812"/>
          </a:xfrm>
          <a:prstGeom prst="rect">
            <a:avLst/>
          </a:prstGeom>
          <a:noFill/>
          <a:ln/>
        </p:spPr>
        <p:txBody>
          <a:bodyPr wrap="square" lIns="0" tIns="0" rIns="0" bIns="0" rtlCol="0" anchor="t">
            <a:spAutoFit/>
          </a:bodyPr>
          <a:lstStyle/>
          <a:p>
            <a:pPr marL="0" indent="0" algn="l">
              <a:lnSpc>
                <a:spcPts val="1000"/>
              </a:lnSpc>
              <a:buNone/>
            </a:pPr>
            <a:r>
              <a:rPr lang="en-US" sz="674" dirty="0">
                <a:solidFill>
                  <a:srgbClr val="2C3E50"/>
                </a:solidFill>
              </a:rPr>
              <a:t>Automatically flags overdue items</a:t>
            </a:r>
            <a:endParaRPr lang="en-US" sz="674" dirty="0"/>
          </a:p>
        </p:txBody>
      </p:sp>
      <p:sp>
        <p:nvSpPr>
          <p:cNvPr id="39" name="Text 33"/>
          <p:cNvSpPr/>
          <p:nvPr/>
        </p:nvSpPr>
        <p:spPr>
          <a:xfrm>
            <a:off x="3907631" y="3778653"/>
            <a:ext cx="34909" cy="129983"/>
          </a:xfrm>
          <a:prstGeom prst="rect">
            <a:avLst/>
          </a:prstGeom>
          <a:noFill/>
          <a:ln/>
        </p:spPr>
        <p:txBody>
          <a:bodyPr wrap="none" lIns="0" tIns="0" rIns="0" bIns="0" rtlCol="0" anchor="t">
            <a:spAutoFit/>
          </a:bodyPr>
          <a:lstStyle/>
          <a:p>
            <a:pPr marL="0" indent="0" algn="l">
              <a:lnSpc>
                <a:spcPts val="1000"/>
              </a:lnSpc>
              <a:buNone/>
            </a:pPr>
            <a:r>
              <a:rPr lang="en-US" sz="634" b="1" dirty="0">
                <a:solidFill>
                  <a:srgbClr val="E67E22"/>
                </a:solidFill>
              </a:rPr>
              <a:t>•</a:t>
            </a:r>
            <a:endParaRPr lang="en-US" sz="634" dirty="0"/>
          </a:p>
        </p:txBody>
      </p:sp>
      <p:sp>
        <p:nvSpPr>
          <p:cNvPr id="40" name="Text 34"/>
          <p:cNvSpPr/>
          <p:nvPr/>
        </p:nvSpPr>
        <p:spPr>
          <a:xfrm>
            <a:off x="4014788" y="3778653"/>
            <a:ext cx="1211675" cy="256812"/>
          </a:xfrm>
          <a:prstGeom prst="rect">
            <a:avLst/>
          </a:prstGeom>
          <a:noFill/>
          <a:ln/>
        </p:spPr>
        <p:txBody>
          <a:bodyPr wrap="square" lIns="0" tIns="0" rIns="0" bIns="0" rtlCol="0" anchor="t">
            <a:spAutoFit/>
          </a:bodyPr>
          <a:lstStyle/>
          <a:p>
            <a:pPr marL="0" indent="0" algn="l">
              <a:lnSpc>
                <a:spcPts val="1000"/>
              </a:lnSpc>
              <a:buNone/>
            </a:pPr>
            <a:r>
              <a:rPr lang="en-US" sz="674" dirty="0">
                <a:solidFill>
                  <a:srgbClr val="2C3E50"/>
                </a:solidFill>
              </a:rPr>
              <a:t>Supports renewals when no holds exist</a:t>
            </a:r>
            <a:endParaRPr lang="en-US" sz="674" dirty="0"/>
          </a:p>
        </p:txBody>
      </p:sp>
      <p:sp>
        <p:nvSpPr>
          <p:cNvPr id="41" name="Shape 35"/>
          <p:cNvSpPr/>
          <p:nvPr/>
        </p:nvSpPr>
        <p:spPr>
          <a:xfrm>
            <a:off x="5486400" y="1764506"/>
            <a:ext cx="1543050" cy="2538487"/>
          </a:xfrm>
          <a:prstGeom prst="rect">
            <a:avLst/>
          </a:prstGeom>
          <a:solidFill>
            <a:srgbClr val="FFFFFF"/>
          </a:solidFill>
          <a:ln/>
        </p:spPr>
        <p:txBody>
          <a:bodyPr/>
          <a:lstStyle/>
          <a:p>
            <a:endParaRPr lang="en-IN"/>
          </a:p>
        </p:txBody>
      </p:sp>
      <p:sp>
        <p:nvSpPr>
          <p:cNvPr id="42" name="Shape 36"/>
          <p:cNvSpPr/>
          <p:nvPr/>
        </p:nvSpPr>
        <p:spPr>
          <a:xfrm>
            <a:off x="5486400" y="1764506"/>
            <a:ext cx="1543050" cy="28575"/>
          </a:xfrm>
          <a:prstGeom prst="rect">
            <a:avLst/>
          </a:prstGeom>
          <a:solidFill>
            <a:srgbClr val="E67E22"/>
          </a:solidFill>
          <a:ln/>
        </p:spPr>
        <p:txBody>
          <a:bodyPr/>
          <a:lstStyle/>
          <a:p>
            <a:endParaRPr lang="en-IN"/>
          </a:p>
        </p:txBody>
      </p:sp>
      <p:pic>
        <p:nvPicPr>
          <p:cNvPr id="43" name="Image 4" descr="preencoded.png"/>
          <p:cNvPicPr>
            <a:picLocks noChangeAspect="1"/>
          </p:cNvPicPr>
          <p:nvPr/>
        </p:nvPicPr>
        <p:blipFill>
          <a:blip r:embed="rId7"/>
          <a:stretch>
            <a:fillRect/>
          </a:stretch>
        </p:blipFill>
        <p:spPr>
          <a:xfrm>
            <a:off x="6129338" y="1987748"/>
            <a:ext cx="257175" cy="228600"/>
          </a:xfrm>
          <a:prstGeom prst="rect">
            <a:avLst/>
          </a:prstGeom>
        </p:spPr>
      </p:pic>
      <p:sp>
        <p:nvSpPr>
          <p:cNvPr id="44" name="Text 37"/>
          <p:cNvSpPr/>
          <p:nvPr/>
        </p:nvSpPr>
        <p:spPr>
          <a:xfrm>
            <a:off x="5593556" y="2362795"/>
            <a:ext cx="1328738" cy="357188"/>
          </a:xfrm>
          <a:prstGeom prst="rect">
            <a:avLst/>
          </a:prstGeom>
          <a:noFill/>
          <a:ln/>
        </p:spPr>
        <p:txBody>
          <a:bodyPr wrap="square" lIns="0" tIns="0" rIns="0" bIns="0" rtlCol="0" anchor="ctr">
            <a:spAutoFit/>
          </a:bodyPr>
          <a:lstStyle/>
          <a:p>
            <a:pPr marL="0" indent="0" algn="ctr">
              <a:lnSpc>
                <a:spcPts val="1200"/>
              </a:lnSpc>
              <a:buNone/>
            </a:pPr>
            <a:r>
              <a:rPr lang="en-US" sz="885" b="1" dirty="0">
                <a:solidFill>
                  <a:srgbClr val="2C3E50"/>
                </a:solidFill>
              </a:rPr>
              <a:t>Fines</a:t>
            </a:r>
            <a:endParaRPr lang="en-US" sz="885" dirty="0"/>
          </a:p>
        </p:txBody>
      </p:sp>
      <p:sp>
        <p:nvSpPr>
          <p:cNvPr id="45" name="Text 38"/>
          <p:cNvSpPr/>
          <p:nvPr/>
        </p:nvSpPr>
        <p:spPr>
          <a:xfrm>
            <a:off x="5593556" y="2827139"/>
            <a:ext cx="34909" cy="129983"/>
          </a:xfrm>
          <a:prstGeom prst="rect">
            <a:avLst/>
          </a:prstGeom>
          <a:noFill/>
          <a:ln/>
        </p:spPr>
        <p:txBody>
          <a:bodyPr wrap="none" lIns="0" tIns="0" rIns="0" bIns="0" rtlCol="0" anchor="t">
            <a:spAutoFit/>
          </a:bodyPr>
          <a:lstStyle/>
          <a:p>
            <a:pPr marL="0" indent="0" algn="l">
              <a:lnSpc>
                <a:spcPts val="1000"/>
              </a:lnSpc>
              <a:buNone/>
            </a:pPr>
            <a:r>
              <a:rPr lang="en-US" sz="634" b="1" dirty="0">
                <a:solidFill>
                  <a:srgbClr val="E67E22"/>
                </a:solidFill>
              </a:rPr>
              <a:t>•</a:t>
            </a:r>
            <a:endParaRPr lang="en-US" sz="634" dirty="0"/>
          </a:p>
        </p:txBody>
      </p:sp>
      <p:sp>
        <p:nvSpPr>
          <p:cNvPr id="46" name="Text 39"/>
          <p:cNvSpPr/>
          <p:nvPr/>
        </p:nvSpPr>
        <p:spPr>
          <a:xfrm>
            <a:off x="5700713" y="2827139"/>
            <a:ext cx="1014245" cy="256812"/>
          </a:xfrm>
          <a:prstGeom prst="rect">
            <a:avLst/>
          </a:prstGeom>
          <a:noFill/>
          <a:ln/>
        </p:spPr>
        <p:txBody>
          <a:bodyPr wrap="square" lIns="0" tIns="0" rIns="0" bIns="0" rtlCol="0" anchor="t">
            <a:spAutoFit/>
          </a:bodyPr>
          <a:lstStyle/>
          <a:p>
            <a:pPr marL="0" indent="0" algn="l">
              <a:lnSpc>
                <a:spcPts val="1000"/>
              </a:lnSpc>
              <a:buNone/>
            </a:pPr>
            <a:r>
              <a:rPr lang="en-US" sz="674" dirty="0">
                <a:solidFill>
                  <a:srgbClr val="2C3E50"/>
                </a:solidFill>
              </a:rPr>
              <a:t>Calculates fines for late returns</a:t>
            </a:r>
            <a:endParaRPr lang="en-US" sz="674" dirty="0"/>
          </a:p>
        </p:txBody>
      </p:sp>
      <p:sp>
        <p:nvSpPr>
          <p:cNvPr id="47" name="Text 40"/>
          <p:cNvSpPr/>
          <p:nvPr/>
        </p:nvSpPr>
        <p:spPr>
          <a:xfrm>
            <a:off x="5593556" y="3144310"/>
            <a:ext cx="34909" cy="129983"/>
          </a:xfrm>
          <a:prstGeom prst="rect">
            <a:avLst/>
          </a:prstGeom>
          <a:noFill/>
          <a:ln/>
        </p:spPr>
        <p:txBody>
          <a:bodyPr wrap="none" lIns="0" tIns="0" rIns="0" bIns="0" rtlCol="0" anchor="t">
            <a:spAutoFit/>
          </a:bodyPr>
          <a:lstStyle/>
          <a:p>
            <a:pPr marL="0" indent="0" algn="l">
              <a:lnSpc>
                <a:spcPts val="1000"/>
              </a:lnSpc>
              <a:buNone/>
            </a:pPr>
            <a:r>
              <a:rPr lang="en-US" sz="634" b="1" dirty="0">
                <a:solidFill>
                  <a:srgbClr val="E67E22"/>
                </a:solidFill>
              </a:rPr>
              <a:t>•</a:t>
            </a:r>
            <a:endParaRPr lang="en-US" sz="634" dirty="0"/>
          </a:p>
        </p:txBody>
      </p:sp>
      <p:sp>
        <p:nvSpPr>
          <p:cNvPr id="48" name="Text 41"/>
          <p:cNvSpPr/>
          <p:nvPr/>
        </p:nvSpPr>
        <p:spPr>
          <a:xfrm>
            <a:off x="5700713" y="3144310"/>
            <a:ext cx="1154748" cy="256812"/>
          </a:xfrm>
          <a:prstGeom prst="rect">
            <a:avLst/>
          </a:prstGeom>
          <a:noFill/>
          <a:ln/>
        </p:spPr>
        <p:txBody>
          <a:bodyPr wrap="square" lIns="0" tIns="0" rIns="0" bIns="0" rtlCol="0" anchor="t">
            <a:spAutoFit/>
          </a:bodyPr>
          <a:lstStyle/>
          <a:p>
            <a:pPr marL="0" indent="0" algn="l">
              <a:lnSpc>
                <a:spcPts val="1000"/>
              </a:lnSpc>
              <a:buNone/>
            </a:pPr>
            <a:r>
              <a:rPr lang="en-US" sz="674" dirty="0">
                <a:solidFill>
                  <a:srgbClr val="2C3E50"/>
                </a:solidFill>
              </a:rPr>
              <a:t>Maintains fine balance per member</a:t>
            </a:r>
            <a:endParaRPr lang="en-US" sz="674" dirty="0"/>
          </a:p>
        </p:txBody>
      </p:sp>
      <p:sp>
        <p:nvSpPr>
          <p:cNvPr id="49" name="Text 42"/>
          <p:cNvSpPr/>
          <p:nvPr/>
        </p:nvSpPr>
        <p:spPr>
          <a:xfrm>
            <a:off x="5593556" y="3461482"/>
            <a:ext cx="34909" cy="129983"/>
          </a:xfrm>
          <a:prstGeom prst="rect">
            <a:avLst/>
          </a:prstGeom>
          <a:noFill/>
          <a:ln/>
        </p:spPr>
        <p:txBody>
          <a:bodyPr wrap="none" lIns="0" tIns="0" rIns="0" bIns="0" rtlCol="0" anchor="t">
            <a:spAutoFit/>
          </a:bodyPr>
          <a:lstStyle/>
          <a:p>
            <a:pPr marL="0" indent="0" algn="l">
              <a:lnSpc>
                <a:spcPts val="1000"/>
              </a:lnSpc>
              <a:buNone/>
            </a:pPr>
            <a:r>
              <a:rPr lang="en-US" sz="634" b="1" dirty="0">
                <a:solidFill>
                  <a:srgbClr val="E67E22"/>
                </a:solidFill>
              </a:rPr>
              <a:t>•</a:t>
            </a:r>
            <a:endParaRPr lang="en-US" sz="634" dirty="0"/>
          </a:p>
        </p:txBody>
      </p:sp>
      <p:sp>
        <p:nvSpPr>
          <p:cNvPr id="50" name="Text 43"/>
          <p:cNvSpPr/>
          <p:nvPr/>
        </p:nvSpPr>
        <p:spPr>
          <a:xfrm>
            <a:off x="5700713" y="3461482"/>
            <a:ext cx="1110825" cy="256812"/>
          </a:xfrm>
          <a:prstGeom prst="rect">
            <a:avLst/>
          </a:prstGeom>
          <a:noFill/>
          <a:ln/>
        </p:spPr>
        <p:txBody>
          <a:bodyPr wrap="square" lIns="0" tIns="0" rIns="0" bIns="0" rtlCol="0" anchor="t">
            <a:spAutoFit/>
          </a:bodyPr>
          <a:lstStyle/>
          <a:p>
            <a:pPr marL="0" indent="0" algn="l">
              <a:lnSpc>
                <a:spcPts val="1000"/>
              </a:lnSpc>
              <a:buNone/>
            </a:pPr>
            <a:r>
              <a:rPr lang="en-US" sz="674" dirty="0">
                <a:solidFill>
                  <a:srgbClr val="2C3E50"/>
                </a:solidFill>
              </a:rPr>
              <a:t>Staff can review and clear fines</a:t>
            </a:r>
            <a:endParaRPr lang="en-US" sz="674" dirty="0"/>
          </a:p>
        </p:txBody>
      </p:sp>
      <p:sp>
        <p:nvSpPr>
          <p:cNvPr id="51" name="Text 44"/>
          <p:cNvSpPr/>
          <p:nvPr/>
        </p:nvSpPr>
        <p:spPr>
          <a:xfrm>
            <a:off x="5593556" y="3778653"/>
            <a:ext cx="34909" cy="129983"/>
          </a:xfrm>
          <a:prstGeom prst="rect">
            <a:avLst/>
          </a:prstGeom>
          <a:noFill/>
          <a:ln/>
        </p:spPr>
        <p:txBody>
          <a:bodyPr wrap="none" lIns="0" tIns="0" rIns="0" bIns="0" rtlCol="0" anchor="t">
            <a:spAutoFit/>
          </a:bodyPr>
          <a:lstStyle/>
          <a:p>
            <a:pPr marL="0" indent="0" algn="l">
              <a:lnSpc>
                <a:spcPts val="1000"/>
              </a:lnSpc>
              <a:buNone/>
            </a:pPr>
            <a:r>
              <a:rPr lang="en-US" sz="634" b="1" dirty="0">
                <a:solidFill>
                  <a:srgbClr val="E67E22"/>
                </a:solidFill>
              </a:rPr>
              <a:t>•</a:t>
            </a:r>
            <a:endParaRPr lang="en-US" sz="634" dirty="0"/>
          </a:p>
        </p:txBody>
      </p:sp>
      <p:sp>
        <p:nvSpPr>
          <p:cNvPr id="52" name="Text 45"/>
          <p:cNvSpPr/>
          <p:nvPr/>
        </p:nvSpPr>
        <p:spPr>
          <a:xfrm>
            <a:off x="5700713" y="3778653"/>
            <a:ext cx="1146097" cy="256812"/>
          </a:xfrm>
          <a:prstGeom prst="rect">
            <a:avLst/>
          </a:prstGeom>
          <a:noFill/>
          <a:ln/>
        </p:spPr>
        <p:txBody>
          <a:bodyPr wrap="square" lIns="0" tIns="0" rIns="0" bIns="0" rtlCol="0" anchor="t">
            <a:spAutoFit/>
          </a:bodyPr>
          <a:lstStyle/>
          <a:p>
            <a:pPr marL="0" indent="0" algn="l">
              <a:lnSpc>
                <a:spcPts val="1000"/>
              </a:lnSpc>
              <a:buNone/>
            </a:pPr>
            <a:r>
              <a:rPr lang="en-US" sz="674" dirty="0">
                <a:solidFill>
                  <a:srgbClr val="2C3E50"/>
                </a:solidFill>
              </a:rPr>
              <a:t>Encourages timely returns of books</a:t>
            </a:r>
            <a:endParaRPr lang="en-US" sz="674" dirty="0"/>
          </a:p>
        </p:txBody>
      </p:sp>
      <p:sp>
        <p:nvSpPr>
          <p:cNvPr id="53" name="Shape 46"/>
          <p:cNvSpPr/>
          <p:nvPr/>
        </p:nvSpPr>
        <p:spPr>
          <a:xfrm>
            <a:off x="7172325" y="1764506"/>
            <a:ext cx="1543050" cy="2538487"/>
          </a:xfrm>
          <a:prstGeom prst="rect">
            <a:avLst/>
          </a:prstGeom>
          <a:solidFill>
            <a:srgbClr val="FFFFFF"/>
          </a:solidFill>
          <a:ln/>
        </p:spPr>
        <p:txBody>
          <a:bodyPr/>
          <a:lstStyle/>
          <a:p>
            <a:endParaRPr lang="en-IN"/>
          </a:p>
        </p:txBody>
      </p:sp>
      <p:sp>
        <p:nvSpPr>
          <p:cNvPr id="54" name="Shape 47"/>
          <p:cNvSpPr/>
          <p:nvPr/>
        </p:nvSpPr>
        <p:spPr>
          <a:xfrm>
            <a:off x="7172325" y="1764506"/>
            <a:ext cx="1543050" cy="28575"/>
          </a:xfrm>
          <a:prstGeom prst="rect">
            <a:avLst/>
          </a:prstGeom>
          <a:solidFill>
            <a:srgbClr val="5DADE2"/>
          </a:solidFill>
          <a:ln/>
        </p:spPr>
        <p:txBody>
          <a:bodyPr/>
          <a:lstStyle/>
          <a:p>
            <a:endParaRPr lang="en-IN"/>
          </a:p>
        </p:txBody>
      </p:sp>
      <p:pic>
        <p:nvPicPr>
          <p:cNvPr id="55" name="Image 5" descr="preencoded.png"/>
          <p:cNvPicPr>
            <a:picLocks noChangeAspect="1"/>
          </p:cNvPicPr>
          <p:nvPr/>
        </p:nvPicPr>
        <p:blipFill>
          <a:blip r:embed="rId8"/>
          <a:stretch>
            <a:fillRect/>
          </a:stretch>
        </p:blipFill>
        <p:spPr>
          <a:xfrm>
            <a:off x="7829550" y="1987748"/>
            <a:ext cx="228600" cy="228600"/>
          </a:xfrm>
          <a:prstGeom prst="rect">
            <a:avLst/>
          </a:prstGeom>
        </p:spPr>
      </p:pic>
      <p:sp>
        <p:nvSpPr>
          <p:cNvPr id="56" name="Text 48"/>
          <p:cNvSpPr/>
          <p:nvPr/>
        </p:nvSpPr>
        <p:spPr>
          <a:xfrm>
            <a:off x="7279481" y="2362795"/>
            <a:ext cx="1328738" cy="357188"/>
          </a:xfrm>
          <a:prstGeom prst="rect">
            <a:avLst/>
          </a:prstGeom>
          <a:noFill/>
          <a:ln/>
        </p:spPr>
        <p:txBody>
          <a:bodyPr wrap="square" lIns="0" tIns="0" rIns="0" bIns="0" rtlCol="0" anchor="ctr">
            <a:spAutoFit/>
          </a:bodyPr>
          <a:lstStyle/>
          <a:p>
            <a:pPr marL="0" indent="0" algn="ctr">
              <a:lnSpc>
                <a:spcPts val="1200"/>
              </a:lnSpc>
              <a:buNone/>
            </a:pPr>
            <a:r>
              <a:rPr lang="en-US" sz="885" b="1" dirty="0">
                <a:solidFill>
                  <a:srgbClr val="2C3E50"/>
                </a:solidFill>
              </a:rPr>
              <a:t>Reports &amp; Analytics</a:t>
            </a:r>
            <a:endParaRPr lang="en-US" sz="885" dirty="0"/>
          </a:p>
        </p:txBody>
      </p:sp>
      <p:sp>
        <p:nvSpPr>
          <p:cNvPr id="57" name="Text 49"/>
          <p:cNvSpPr/>
          <p:nvPr/>
        </p:nvSpPr>
        <p:spPr>
          <a:xfrm>
            <a:off x="7279481" y="2827139"/>
            <a:ext cx="34909" cy="129983"/>
          </a:xfrm>
          <a:prstGeom prst="rect">
            <a:avLst/>
          </a:prstGeom>
          <a:noFill/>
          <a:ln/>
        </p:spPr>
        <p:txBody>
          <a:bodyPr wrap="none" lIns="0" tIns="0" rIns="0" bIns="0" rtlCol="0" anchor="t">
            <a:spAutoFit/>
          </a:bodyPr>
          <a:lstStyle/>
          <a:p>
            <a:pPr marL="0" indent="0" algn="l">
              <a:lnSpc>
                <a:spcPts val="1000"/>
              </a:lnSpc>
              <a:buNone/>
            </a:pPr>
            <a:r>
              <a:rPr lang="en-US" sz="634" b="1" dirty="0">
                <a:solidFill>
                  <a:srgbClr val="E67E22"/>
                </a:solidFill>
              </a:rPr>
              <a:t>•</a:t>
            </a:r>
            <a:endParaRPr lang="en-US" sz="634" dirty="0"/>
          </a:p>
        </p:txBody>
      </p:sp>
      <p:sp>
        <p:nvSpPr>
          <p:cNvPr id="58" name="Text 50"/>
          <p:cNvSpPr/>
          <p:nvPr/>
        </p:nvSpPr>
        <p:spPr>
          <a:xfrm>
            <a:off x="7386638" y="2827139"/>
            <a:ext cx="995660" cy="256812"/>
          </a:xfrm>
          <a:prstGeom prst="rect">
            <a:avLst/>
          </a:prstGeom>
          <a:noFill/>
          <a:ln/>
        </p:spPr>
        <p:txBody>
          <a:bodyPr wrap="square" lIns="0" tIns="0" rIns="0" bIns="0" rtlCol="0" anchor="t">
            <a:spAutoFit/>
          </a:bodyPr>
          <a:lstStyle/>
          <a:p>
            <a:pPr marL="0" indent="0" algn="l">
              <a:lnSpc>
                <a:spcPts val="1000"/>
              </a:lnSpc>
              <a:buNone/>
            </a:pPr>
            <a:r>
              <a:rPr lang="en-US" sz="674" dirty="0">
                <a:solidFill>
                  <a:srgbClr val="2C3E50"/>
                </a:solidFill>
              </a:rPr>
              <a:t>Most borrowed titles &amp; categories</a:t>
            </a:r>
            <a:endParaRPr lang="en-US" sz="674" dirty="0"/>
          </a:p>
        </p:txBody>
      </p:sp>
      <p:sp>
        <p:nvSpPr>
          <p:cNvPr id="59" name="Text 51"/>
          <p:cNvSpPr/>
          <p:nvPr/>
        </p:nvSpPr>
        <p:spPr>
          <a:xfrm>
            <a:off x="7279481" y="3144310"/>
            <a:ext cx="34909" cy="129983"/>
          </a:xfrm>
          <a:prstGeom prst="rect">
            <a:avLst/>
          </a:prstGeom>
          <a:noFill/>
          <a:ln/>
        </p:spPr>
        <p:txBody>
          <a:bodyPr wrap="none" lIns="0" tIns="0" rIns="0" bIns="0" rtlCol="0" anchor="t">
            <a:spAutoFit/>
          </a:bodyPr>
          <a:lstStyle/>
          <a:p>
            <a:pPr marL="0" indent="0" algn="l">
              <a:lnSpc>
                <a:spcPts val="1000"/>
              </a:lnSpc>
              <a:buNone/>
            </a:pPr>
            <a:r>
              <a:rPr lang="en-US" sz="634" b="1" dirty="0">
                <a:solidFill>
                  <a:srgbClr val="E67E22"/>
                </a:solidFill>
              </a:rPr>
              <a:t>•</a:t>
            </a:r>
            <a:endParaRPr lang="en-US" sz="634" dirty="0"/>
          </a:p>
        </p:txBody>
      </p:sp>
      <p:sp>
        <p:nvSpPr>
          <p:cNvPr id="60" name="Text 52"/>
          <p:cNvSpPr/>
          <p:nvPr/>
        </p:nvSpPr>
        <p:spPr>
          <a:xfrm>
            <a:off x="7386638" y="3144310"/>
            <a:ext cx="946631" cy="256812"/>
          </a:xfrm>
          <a:prstGeom prst="rect">
            <a:avLst/>
          </a:prstGeom>
          <a:noFill/>
          <a:ln/>
        </p:spPr>
        <p:txBody>
          <a:bodyPr wrap="square" lIns="0" tIns="0" rIns="0" bIns="0" rtlCol="0" anchor="t">
            <a:spAutoFit/>
          </a:bodyPr>
          <a:lstStyle/>
          <a:p>
            <a:pPr marL="0" indent="0" algn="l">
              <a:lnSpc>
                <a:spcPts val="1000"/>
              </a:lnSpc>
              <a:buNone/>
            </a:pPr>
            <a:r>
              <a:rPr lang="en-US" sz="674" dirty="0">
                <a:solidFill>
                  <a:srgbClr val="2C3E50"/>
                </a:solidFill>
              </a:rPr>
              <a:t>Active member usage statistics</a:t>
            </a:r>
            <a:endParaRPr lang="en-US" sz="674" dirty="0"/>
          </a:p>
        </p:txBody>
      </p:sp>
      <p:sp>
        <p:nvSpPr>
          <p:cNvPr id="61" name="Text 53"/>
          <p:cNvSpPr/>
          <p:nvPr/>
        </p:nvSpPr>
        <p:spPr>
          <a:xfrm>
            <a:off x="7279481" y="3461482"/>
            <a:ext cx="34909" cy="129983"/>
          </a:xfrm>
          <a:prstGeom prst="rect">
            <a:avLst/>
          </a:prstGeom>
          <a:noFill/>
          <a:ln/>
        </p:spPr>
        <p:txBody>
          <a:bodyPr wrap="none" lIns="0" tIns="0" rIns="0" bIns="0" rtlCol="0" anchor="t">
            <a:spAutoFit/>
          </a:bodyPr>
          <a:lstStyle/>
          <a:p>
            <a:pPr marL="0" indent="0" algn="l">
              <a:lnSpc>
                <a:spcPts val="1000"/>
              </a:lnSpc>
              <a:buNone/>
            </a:pPr>
            <a:r>
              <a:rPr lang="en-US" sz="634" b="1" dirty="0">
                <a:solidFill>
                  <a:srgbClr val="E67E22"/>
                </a:solidFill>
              </a:rPr>
              <a:t>•</a:t>
            </a:r>
            <a:endParaRPr lang="en-US" sz="634" dirty="0"/>
          </a:p>
        </p:txBody>
      </p:sp>
      <p:sp>
        <p:nvSpPr>
          <p:cNvPr id="62" name="Text 54"/>
          <p:cNvSpPr/>
          <p:nvPr/>
        </p:nvSpPr>
        <p:spPr>
          <a:xfrm>
            <a:off x="7386638" y="3461482"/>
            <a:ext cx="1012180" cy="256812"/>
          </a:xfrm>
          <a:prstGeom prst="rect">
            <a:avLst/>
          </a:prstGeom>
          <a:noFill/>
          <a:ln/>
        </p:spPr>
        <p:txBody>
          <a:bodyPr wrap="square" lIns="0" tIns="0" rIns="0" bIns="0" rtlCol="0" anchor="t">
            <a:spAutoFit/>
          </a:bodyPr>
          <a:lstStyle/>
          <a:p>
            <a:pPr marL="0" indent="0" algn="l">
              <a:lnSpc>
                <a:spcPts val="1000"/>
              </a:lnSpc>
              <a:buNone/>
            </a:pPr>
            <a:r>
              <a:rPr lang="en-US" sz="674" dirty="0">
                <a:solidFill>
                  <a:srgbClr val="2C3E50"/>
                </a:solidFill>
              </a:rPr>
              <a:t>Inventory &amp; acquisition reports</a:t>
            </a:r>
            <a:endParaRPr lang="en-US" sz="674" dirty="0"/>
          </a:p>
        </p:txBody>
      </p:sp>
      <p:sp>
        <p:nvSpPr>
          <p:cNvPr id="63" name="Text 55"/>
          <p:cNvSpPr/>
          <p:nvPr/>
        </p:nvSpPr>
        <p:spPr>
          <a:xfrm>
            <a:off x="7279481" y="3778653"/>
            <a:ext cx="34909" cy="129983"/>
          </a:xfrm>
          <a:prstGeom prst="rect">
            <a:avLst/>
          </a:prstGeom>
          <a:noFill/>
          <a:ln/>
        </p:spPr>
        <p:txBody>
          <a:bodyPr wrap="none" lIns="0" tIns="0" rIns="0" bIns="0" rtlCol="0" anchor="t">
            <a:spAutoFit/>
          </a:bodyPr>
          <a:lstStyle/>
          <a:p>
            <a:pPr marL="0" indent="0" algn="l">
              <a:lnSpc>
                <a:spcPts val="1000"/>
              </a:lnSpc>
              <a:buNone/>
            </a:pPr>
            <a:r>
              <a:rPr lang="en-US" sz="634" b="1" dirty="0">
                <a:solidFill>
                  <a:srgbClr val="E67E22"/>
                </a:solidFill>
              </a:rPr>
              <a:t>•</a:t>
            </a:r>
            <a:endParaRPr lang="en-US" sz="634" dirty="0"/>
          </a:p>
        </p:txBody>
      </p:sp>
      <p:sp>
        <p:nvSpPr>
          <p:cNvPr id="64" name="Text 56"/>
          <p:cNvSpPr/>
          <p:nvPr/>
        </p:nvSpPr>
        <p:spPr>
          <a:xfrm>
            <a:off x="7386638" y="3778653"/>
            <a:ext cx="1031044" cy="256812"/>
          </a:xfrm>
          <a:prstGeom prst="rect">
            <a:avLst/>
          </a:prstGeom>
          <a:noFill/>
          <a:ln/>
        </p:spPr>
        <p:txBody>
          <a:bodyPr wrap="square" lIns="0" tIns="0" rIns="0" bIns="0" rtlCol="0" anchor="t">
            <a:spAutoFit/>
          </a:bodyPr>
          <a:lstStyle/>
          <a:p>
            <a:pPr marL="0" indent="0" algn="l">
              <a:lnSpc>
                <a:spcPts val="1000"/>
              </a:lnSpc>
              <a:buNone/>
            </a:pPr>
            <a:r>
              <a:rPr lang="en-US" sz="674" dirty="0">
                <a:solidFill>
                  <a:srgbClr val="2C3E50"/>
                </a:solidFill>
              </a:rPr>
              <a:t>Helps guide purchasing decisions</a:t>
            </a:r>
            <a:endParaRPr lang="en-US" sz="674"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571500" y="357188"/>
            <a:ext cx="2532683" cy="350044"/>
          </a:xfrm>
          <a:prstGeom prst="rect">
            <a:avLst/>
          </a:prstGeom>
          <a:noFill/>
          <a:ln/>
        </p:spPr>
        <p:txBody>
          <a:bodyPr wrap="none" lIns="0" tIns="0" rIns="0" bIns="0" rtlCol="0" anchor="t">
            <a:spAutoFit/>
          </a:bodyPr>
          <a:lstStyle/>
          <a:p>
            <a:pPr marL="0" indent="0" algn="l">
              <a:lnSpc>
                <a:spcPts val="2400"/>
              </a:lnSpc>
              <a:buNone/>
            </a:pPr>
            <a:r>
              <a:rPr lang="en-US" sz="1808" b="1" dirty="0">
                <a:solidFill>
                  <a:srgbClr val="2C3E50"/>
                </a:solidFill>
              </a:rPr>
              <a:t>WHY THIS PROJECT?</a:t>
            </a:r>
            <a:endParaRPr lang="en-US" sz="1808" dirty="0"/>
          </a:p>
        </p:txBody>
      </p:sp>
      <p:sp>
        <p:nvSpPr>
          <p:cNvPr id="4" name="Shape 1"/>
          <p:cNvSpPr/>
          <p:nvPr/>
        </p:nvSpPr>
        <p:spPr>
          <a:xfrm>
            <a:off x="571500" y="1092994"/>
            <a:ext cx="3821906" cy="2643076"/>
          </a:xfrm>
          <a:prstGeom prst="rect">
            <a:avLst/>
          </a:prstGeom>
          <a:solidFill>
            <a:srgbClr val="FFFFFF"/>
          </a:solidFill>
          <a:ln/>
        </p:spPr>
        <p:txBody>
          <a:bodyPr/>
          <a:lstStyle/>
          <a:p>
            <a:endParaRPr lang="en-IN"/>
          </a:p>
        </p:txBody>
      </p:sp>
      <p:sp>
        <p:nvSpPr>
          <p:cNvPr id="5" name="Shape 2"/>
          <p:cNvSpPr/>
          <p:nvPr/>
        </p:nvSpPr>
        <p:spPr>
          <a:xfrm>
            <a:off x="571500" y="1092994"/>
            <a:ext cx="3821906" cy="42863"/>
          </a:xfrm>
          <a:prstGeom prst="rect">
            <a:avLst/>
          </a:prstGeom>
          <a:solidFill>
            <a:srgbClr val="E67E22"/>
          </a:solidFill>
          <a:ln/>
        </p:spPr>
        <p:txBody>
          <a:bodyPr/>
          <a:lstStyle/>
          <a:p>
            <a:endParaRPr lang="en-IN"/>
          </a:p>
        </p:txBody>
      </p:sp>
      <p:pic>
        <p:nvPicPr>
          <p:cNvPr id="6" name="Image 1" descr="preencoded.png"/>
          <p:cNvPicPr>
            <a:picLocks noChangeAspect="1"/>
          </p:cNvPicPr>
          <p:nvPr/>
        </p:nvPicPr>
        <p:blipFill>
          <a:blip r:embed="rId4"/>
          <a:stretch>
            <a:fillRect/>
          </a:stretch>
        </p:blipFill>
        <p:spPr>
          <a:xfrm>
            <a:off x="785813" y="1362670"/>
            <a:ext cx="285750" cy="285750"/>
          </a:xfrm>
          <a:prstGeom prst="rect">
            <a:avLst/>
          </a:prstGeom>
        </p:spPr>
      </p:pic>
      <p:sp>
        <p:nvSpPr>
          <p:cNvPr id="7" name="Text 3"/>
          <p:cNvSpPr/>
          <p:nvPr/>
        </p:nvSpPr>
        <p:spPr>
          <a:xfrm>
            <a:off x="785813" y="1839516"/>
            <a:ext cx="3393281" cy="233958"/>
          </a:xfrm>
          <a:prstGeom prst="rect">
            <a:avLst/>
          </a:prstGeom>
          <a:noFill/>
          <a:ln/>
        </p:spPr>
        <p:txBody>
          <a:bodyPr wrap="none" lIns="0" tIns="0" rIns="0" bIns="0" rtlCol="0" anchor="t">
            <a:spAutoFit/>
          </a:bodyPr>
          <a:lstStyle/>
          <a:p>
            <a:pPr marL="0" indent="0" algn="l">
              <a:lnSpc>
                <a:spcPts val="1600"/>
              </a:lnSpc>
              <a:buNone/>
            </a:pPr>
            <a:r>
              <a:rPr lang="en-US" sz="1193" b="1" dirty="0">
                <a:solidFill>
                  <a:srgbClr val="2C3E50"/>
                </a:solidFill>
              </a:rPr>
              <a:t>Direct Impact on Islanders</a:t>
            </a:r>
            <a:endParaRPr lang="en-US" sz="1193" dirty="0"/>
          </a:p>
        </p:txBody>
      </p:sp>
      <p:sp>
        <p:nvSpPr>
          <p:cNvPr id="8" name="Text 4"/>
          <p:cNvSpPr/>
          <p:nvPr/>
        </p:nvSpPr>
        <p:spPr>
          <a:xfrm>
            <a:off x="785813" y="2216348"/>
            <a:ext cx="3393281" cy="1028588"/>
          </a:xfrm>
          <a:prstGeom prst="rect">
            <a:avLst/>
          </a:prstGeom>
          <a:noFill/>
          <a:ln/>
        </p:spPr>
        <p:txBody>
          <a:bodyPr wrap="square" lIns="0" tIns="0" rIns="0" bIns="0" rtlCol="0" anchor="t">
            <a:spAutoFit/>
          </a:bodyPr>
          <a:lstStyle/>
          <a:p>
            <a:pPr marL="0" indent="0" algn="l">
              <a:lnSpc>
                <a:spcPts val="1600"/>
              </a:lnSpc>
              <a:buNone/>
            </a:pPr>
            <a:r>
              <a:rPr lang="en-US" sz="942" dirty="0">
                <a:solidFill>
                  <a:srgbClr val="2C3E50"/>
                </a:solidFill>
              </a:rPr>
              <a:t>We chose to upgrade </a:t>
            </a:r>
            <a:r>
              <a:rPr lang="en-US" sz="885" b="1" dirty="0">
                <a:solidFill>
                  <a:srgbClr val="2C3E50"/>
                </a:solidFill>
              </a:rPr>
              <a:t>OUR OWN</a:t>
            </a:r>
            <a:r>
              <a:rPr lang="en-US" sz="942" dirty="0">
                <a:solidFill>
                  <a:srgbClr val="2C3E50"/>
                </a:solidFill>
              </a:rPr>
              <a:t> college library portal — a tool every TAMU-CC student relies on. A better portal means less time searching, fewer missed due dates, and stronger research outcomes for thousands of students each semester.</a:t>
            </a:r>
            <a:endParaRPr lang="en-US" sz="942" dirty="0"/>
          </a:p>
        </p:txBody>
      </p:sp>
      <p:sp>
        <p:nvSpPr>
          <p:cNvPr id="9" name="Shape 5"/>
          <p:cNvSpPr/>
          <p:nvPr/>
        </p:nvSpPr>
        <p:spPr>
          <a:xfrm>
            <a:off x="4750594" y="1092994"/>
            <a:ext cx="3821906" cy="2643076"/>
          </a:xfrm>
          <a:prstGeom prst="rect">
            <a:avLst/>
          </a:prstGeom>
          <a:solidFill>
            <a:srgbClr val="FFFFFF"/>
          </a:solidFill>
          <a:ln/>
        </p:spPr>
        <p:txBody>
          <a:bodyPr/>
          <a:lstStyle/>
          <a:p>
            <a:endParaRPr lang="en-IN"/>
          </a:p>
        </p:txBody>
      </p:sp>
      <p:sp>
        <p:nvSpPr>
          <p:cNvPr id="10" name="Shape 6"/>
          <p:cNvSpPr/>
          <p:nvPr/>
        </p:nvSpPr>
        <p:spPr>
          <a:xfrm>
            <a:off x="4750594" y="1092994"/>
            <a:ext cx="3821906" cy="42863"/>
          </a:xfrm>
          <a:prstGeom prst="rect">
            <a:avLst/>
          </a:prstGeom>
          <a:solidFill>
            <a:srgbClr val="5DADE2"/>
          </a:solidFill>
          <a:ln/>
        </p:spPr>
        <p:txBody>
          <a:bodyPr/>
          <a:lstStyle/>
          <a:p>
            <a:endParaRPr lang="en-IN"/>
          </a:p>
        </p:txBody>
      </p:sp>
      <p:pic>
        <p:nvPicPr>
          <p:cNvPr id="11" name="Image 2" descr="preencoded.png"/>
          <p:cNvPicPr>
            <a:picLocks noChangeAspect="1"/>
          </p:cNvPicPr>
          <p:nvPr/>
        </p:nvPicPr>
        <p:blipFill>
          <a:blip r:embed="rId5"/>
          <a:stretch>
            <a:fillRect/>
          </a:stretch>
        </p:blipFill>
        <p:spPr>
          <a:xfrm>
            <a:off x="4964906" y="1362670"/>
            <a:ext cx="357188" cy="285750"/>
          </a:xfrm>
          <a:prstGeom prst="rect">
            <a:avLst/>
          </a:prstGeom>
        </p:spPr>
      </p:pic>
      <p:sp>
        <p:nvSpPr>
          <p:cNvPr id="12" name="Text 7"/>
          <p:cNvSpPr/>
          <p:nvPr/>
        </p:nvSpPr>
        <p:spPr>
          <a:xfrm>
            <a:off x="4964906" y="1839516"/>
            <a:ext cx="3393281" cy="467916"/>
          </a:xfrm>
          <a:prstGeom prst="rect">
            <a:avLst/>
          </a:prstGeom>
          <a:noFill/>
          <a:ln/>
        </p:spPr>
        <p:txBody>
          <a:bodyPr wrap="square" lIns="0" tIns="0" rIns="0" bIns="0" rtlCol="0" anchor="t">
            <a:spAutoFit/>
          </a:bodyPr>
          <a:lstStyle/>
          <a:p>
            <a:pPr marL="0" indent="0" algn="l">
              <a:lnSpc>
                <a:spcPts val="1600"/>
              </a:lnSpc>
              <a:buNone/>
            </a:pPr>
            <a:r>
              <a:rPr lang="en-US" sz="1193" b="1" dirty="0">
                <a:solidFill>
                  <a:srgbClr val="2C3E50"/>
                </a:solidFill>
              </a:rPr>
              <a:t>Real-World Engineering Challenge</a:t>
            </a:r>
            <a:endParaRPr lang="en-US" sz="1193" dirty="0"/>
          </a:p>
        </p:txBody>
      </p:sp>
      <p:sp>
        <p:nvSpPr>
          <p:cNvPr id="13" name="Text 8"/>
          <p:cNvSpPr/>
          <p:nvPr/>
        </p:nvSpPr>
        <p:spPr>
          <a:xfrm>
            <a:off x="4964906" y="2450306"/>
            <a:ext cx="3393281" cy="1028588"/>
          </a:xfrm>
          <a:prstGeom prst="rect">
            <a:avLst/>
          </a:prstGeom>
          <a:noFill/>
          <a:ln/>
        </p:spPr>
        <p:txBody>
          <a:bodyPr wrap="square" lIns="0" tIns="0" rIns="0" bIns="0" rtlCol="0" anchor="t">
            <a:spAutoFit/>
          </a:bodyPr>
          <a:lstStyle/>
          <a:p>
            <a:pPr marL="0" indent="0" algn="l">
              <a:lnSpc>
                <a:spcPts val="1600"/>
              </a:lnSpc>
              <a:buNone/>
            </a:pPr>
            <a:r>
              <a:rPr lang="en-US" sz="942" dirty="0">
                <a:solidFill>
                  <a:srgbClr val="2C3E50"/>
                </a:solidFill>
              </a:rPr>
              <a:t>Building for an existing institution means dealing with real constraints: legacy workflows, multi-role access, compliance, and scalability. It's a richer engineering problem than a greenfield app — and our solution proves it.</a:t>
            </a:r>
            <a:endParaRPr lang="en-US" sz="942" dirty="0"/>
          </a:p>
        </p:txBody>
      </p:sp>
      <p:sp>
        <p:nvSpPr>
          <p:cNvPr id="14" name="Shape 9"/>
          <p:cNvSpPr/>
          <p:nvPr/>
        </p:nvSpPr>
        <p:spPr>
          <a:xfrm>
            <a:off x="571500" y="3978957"/>
            <a:ext cx="8001000" cy="1000125"/>
          </a:xfrm>
          <a:prstGeom prst="rect">
            <a:avLst/>
          </a:prstGeom>
          <a:solidFill>
            <a:srgbClr val="5DADE2"/>
          </a:solidFill>
          <a:ln/>
        </p:spPr>
        <p:txBody>
          <a:bodyPr/>
          <a:lstStyle/>
          <a:p>
            <a:endParaRPr lang="en-IN"/>
          </a:p>
        </p:txBody>
      </p:sp>
      <p:sp>
        <p:nvSpPr>
          <p:cNvPr id="15" name="Text 10"/>
          <p:cNvSpPr/>
          <p:nvPr/>
        </p:nvSpPr>
        <p:spPr>
          <a:xfrm>
            <a:off x="571500" y="3978957"/>
            <a:ext cx="8001000" cy="1000125"/>
          </a:xfrm>
          <a:prstGeom prst="rect">
            <a:avLst/>
          </a:prstGeom>
          <a:noFill/>
          <a:ln/>
        </p:spPr>
        <p:txBody>
          <a:bodyPr wrap="square" lIns="255143" tIns="212598" rIns="255143" bIns="212598" rtlCol="0" anchor="t">
            <a:spAutoFit/>
          </a:bodyPr>
          <a:lstStyle/>
          <a:p>
            <a:pPr marL="0" indent="0" algn="ctr">
              <a:lnSpc>
                <a:spcPts val="1700"/>
              </a:lnSpc>
              <a:buNone/>
            </a:pPr>
            <a:r>
              <a:rPr lang="en-US" sz="987" b="1" dirty="0">
                <a:solidFill>
                  <a:srgbClr val="FFFFFF"/>
                </a:solidFill>
              </a:rPr>
              <a:t>"Instead of investing our time in a random external app, we decided to focus on our own university library system so that every hour we spend directly improves the tools and services we and our classmates actually use on campus."</a:t>
            </a:r>
            <a:endParaRPr lang="en-US" sz="987"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571500" y="428625"/>
            <a:ext cx="2773645" cy="350044"/>
          </a:xfrm>
          <a:prstGeom prst="rect">
            <a:avLst/>
          </a:prstGeom>
          <a:noFill/>
          <a:ln/>
        </p:spPr>
        <p:txBody>
          <a:bodyPr wrap="none" lIns="0" tIns="0" rIns="0" bIns="0" rtlCol="0" anchor="t">
            <a:spAutoFit/>
          </a:bodyPr>
          <a:lstStyle/>
          <a:p>
            <a:pPr marL="0" indent="0" algn="l">
              <a:lnSpc>
                <a:spcPts val="2400"/>
              </a:lnSpc>
              <a:buNone/>
            </a:pPr>
            <a:r>
              <a:rPr lang="en-US" sz="1808" b="1" dirty="0">
                <a:solidFill>
                  <a:srgbClr val="2C3E50"/>
                </a:solidFill>
              </a:rPr>
              <a:t>EXECUTIVE SUMMARY</a:t>
            </a:r>
            <a:endParaRPr lang="en-US" sz="1808" dirty="0"/>
          </a:p>
        </p:txBody>
      </p:sp>
      <p:sp>
        <p:nvSpPr>
          <p:cNvPr id="4" name="Text 1"/>
          <p:cNvSpPr/>
          <p:nvPr/>
        </p:nvSpPr>
        <p:spPr>
          <a:xfrm>
            <a:off x="571500" y="1092994"/>
            <a:ext cx="7858125" cy="685800"/>
          </a:xfrm>
          <a:prstGeom prst="rect">
            <a:avLst/>
          </a:prstGeom>
          <a:noFill/>
          <a:ln/>
        </p:spPr>
        <p:txBody>
          <a:bodyPr wrap="square" lIns="0" tIns="0" rIns="0" bIns="0" rtlCol="0" anchor="t">
            <a:spAutoFit/>
          </a:bodyPr>
          <a:lstStyle/>
          <a:p>
            <a:pPr marL="0" indent="0" algn="l">
              <a:lnSpc>
                <a:spcPts val="1800"/>
              </a:lnSpc>
              <a:buNone/>
            </a:pPr>
            <a:r>
              <a:rPr lang="en-US" sz="1050" dirty="0">
                <a:solidFill>
                  <a:srgbClr val="2C3E50"/>
                </a:solidFill>
              </a:rPr>
              <a:t>LibConnect Pro is a comprehensive, AI-augmented library management platform designed to streamline interactions between university librarians, students, and faculty. It addresses manual tracking, late returns, poor discovery, and lack of research guidance through automation, AI analytics, AR navigation, and semantic search.</a:t>
            </a:r>
            <a:endParaRPr lang="en-US" sz="1050" dirty="0"/>
          </a:p>
        </p:txBody>
      </p:sp>
      <p:sp>
        <p:nvSpPr>
          <p:cNvPr id="5" name="Shape 2"/>
          <p:cNvSpPr/>
          <p:nvPr/>
        </p:nvSpPr>
        <p:spPr>
          <a:xfrm>
            <a:off x="571500" y="2135981"/>
            <a:ext cx="2476509" cy="2300288"/>
          </a:xfrm>
          <a:prstGeom prst="rect">
            <a:avLst/>
          </a:prstGeom>
          <a:solidFill>
            <a:srgbClr val="FFFFFF"/>
          </a:solidFill>
          <a:ln/>
        </p:spPr>
        <p:txBody>
          <a:bodyPr/>
          <a:lstStyle/>
          <a:p>
            <a:endParaRPr lang="en-IN"/>
          </a:p>
        </p:txBody>
      </p:sp>
      <p:sp>
        <p:nvSpPr>
          <p:cNvPr id="6" name="Shape 3"/>
          <p:cNvSpPr/>
          <p:nvPr/>
        </p:nvSpPr>
        <p:spPr>
          <a:xfrm>
            <a:off x="571500" y="2135981"/>
            <a:ext cx="2476509" cy="42863"/>
          </a:xfrm>
          <a:prstGeom prst="rect">
            <a:avLst/>
          </a:prstGeom>
          <a:solidFill>
            <a:srgbClr val="5DADE2"/>
          </a:solidFill>
          <a:ln/>
        </p:spPr>
        <p:txBody>
          <a:bodyPr/>
          <a:lstStyle/>
          <a:p>
            <a:endParaRPr lang="en-IN"/>
          </a:p>
        </p:txBody>
      </p:sp>
      <p:pic>
        <p:nvPicPr>
          <p:cNvPr id="7" name="Image 1" descr="preencoded.png"/>
          <p:cNvPicPr>
            <a:picLocks noChangeAspect="1"/>
          </p:cNvPicPr>
          <p:nvPr/>
        </p:nvPicPr>
        <p:blipFill>
          <a:blip r:embed="rId4"/>
          <a:stretch>
            <a:fillRect/>
          </a:stretch>
        </p:blipFill>
        <p:spPr>
          <a:xfrm>
            <a:off x="1595428" y="2486025"/>
            <a:ext cx="428625" cy="342900"/>
          </a:xfrm>
          <a:prstGeom prst="rect">
            <a:avLst/>
          </a:prstGeom>
        </p:spPr>
      </p:pic>
      <p:sp>
        <p:nvSpPr>
          <p:cNvPr id="8" name="Text 4"/>
          <p:cNvSpPr/>
          <p:nvPr/>
        </p:nvSpPr>
        <p:spPr>
          <a:xfrm>
            <a:off x="785813" y="3066455"/>
            <a:ext cx="2047884" cy="319683"/>
          </a:xfrm>
          <a:prstGeom prst="rect">
            <a:avLst/>
          </a:prstGeom>
          <a:noFill/>
          <a:ln/>
        </p:spPr>
        <p:txBody>
          <a:bodyPr wrap="square" lIns="0" tIns="0" rIns="0" bIns="85090" rtlCol="0" anchor="t">
            <a:spAutoFit/>
          </a:bodyPr>
          <a:lstStyle/>
          <a:p>
            <a:pPr marL="0" indent="0" algn="ctr">
              <a:lnSpc>
                <a:spcPts val="1600"/>
              </a:lnSpc>
              <a:buNone/>
            </a:pPr>
            <a:r>
              <a:rPr lang="en-US" sz="1193" b="1" dirty="0">
                <a:solidFill>
                  <a:srgbClr val="2C3E50"/>
                </a:solidFill>
              </a:rPr>
              <a:t>Admin Dashboard</a:t>
            </a:r>
            <a:endParaRPr lang="en-US" sz="1193" dirty="0"/>
          </a:p>
        </p:txBody>
      </p:sp>
      <p:sp>
        <p:nvSpPr>
          <p:cNvPr id="9" name="Text 5"/>
          <p:cNvSpPr/>
          <p:nvPr/>
        </p:nvSpPr>
        <p:spPr>
          <a:xfrm>
            <a:off x="785813" y="3529013"/>
            <a:ext cx="2047884" cy="578644"/>
          </a:xfrm>
          <a:prstGeom prst="rect">
            <a:avLst/>
          </a:prstGeom>
          <a:noFill/>
          <a:ln/>
        </p:spPr>
        <p:txBody>
          <a:bodyPr wrap="square" lIns="0" tIns="0" rIns="0" bIns="0" rtlCol="0" anchor="t">
            <a:spAutoFit/>
          </a:bodyPr>
          <a:lstStyle/>
          <a:p>
            <a:pPr marL="0" indent="0" algn="ctr">
              <a:lnSpc>
                <a:spcPts val="1500"/>
              </a:lnSpc>
              <a:buNone/>
            </a:pPr>
            <a:r>
              <a:rPr lang="en-US" sz="942" dirty="0">
                <a:solidFill>
                  <a:srgbClr val="2C3E50"/>
                </a:solidFill>
              </a:rPr>
              <a:t>Inventory, analytics, fine management &amp; financial oversight</a:t>
            </a:r>
            <a:endParaRPr lang="en-US" sz="942" dirty="0"/>
          </a:p>
        </p:txBody>
      </p:sp>
      <p:sp>
        <p:nvSpPr>
          <p:cNvPr id="10" name="Shape 6"/>
          <p:cNvSpPr/>
          <p:nvPr/>
        </p:nvSpPr>
        <p:spPr>
          <a:xfrm>
            <a:off x="3333759" y="2135981"/>
            <a:ext cx="2476509" cy="2257425"/>
          </a:xfrm>
          <a:prstGeom prst="rect">
            <a:avLst/>
          </a:prstGeom>
          <a:solidFill>
            <a:srgbClr val="FFFFFF"/>
          </a:solidFill>
          <a:ln/>
        </p:spPr>
        <p:txBody>
          <a:bodyPr/>
          <a:lstStyle/>
          <a:p>
            <a:endParaRPr lang="en-IN"/>
          </a:p>
        </p:txBody>
      </p:sp>
      <p:sp>
        <p:nvSpPr>
          <p:cNvPr id="11" name="Shape 7"/>
          <p:cNvSpPr/>
          <p:nvPr/>
        </p:nvSpPr>
        <p:spPr>
          <a:xfrm>
            <a:off x="3333759" y="2135981"/>
            <a:ext cx="2476509" cy="42863"/>
          </a:xfrm>
          <a:prstGeom prst="rect">
            <a:avLst/>
          </a:prstGeom>
          <a:solidFill>
            <a:srgbClr val="E67E22"/>
          </a:solidFill>
          <a:ln/>
        </p:spPr>
        <p:txBody>
          <a:bodyPr/>
          <a:lstStyle/>
          <a:p>
            <a:endParaRPr lang="en-IN"/>
          </a:p>
        </p:txBody>
      </p:sp>
      <p:pic>
        <p:nvPicPr>
          <p:cNvPr id="12" name="Image 2" descr="preencoded.png"/>
          <p:cNvPicPr>
            <a:picLocks noChangeAspect="1"/>
          </p:cNvPicPr>
          <p:nvPr/>
        </p:nvPicPr>
        <p:blipFill>
          <a:blip r:embed="rId5"/>
          <a:stretch>
            <a:fillRect/>
          </a:stretch>
        </p:blipFill>
        <p:spPr>
          <a:xfrm>
            <a:off x="4400550" y="2486025"/>
            <a:ext cx="342900" cy="342900"/>
          </a:xfrm>
          <a:prstGeom prst="rect">
            <a:avLst/>
          </a:prstGeom>
        </p:spPr>
      </p:pic>
      <p:sp>
        <p:nvSpPr>
          <p:cNvPr id="13" name="Text 8"/>
          <p:cNvSpPr/>
          <p:nvPr/>
        </p:nvSpPr>
        <p:spPr>
          <a:xfrm>
            <a:off x="3548072" y="3066455"/>
            <a:ext cx="2047884" cy="319683"/>
          </a:xfrm>
          <a:prstGeom prst="rect">
            <a:avLst/>
          </a:prstGeom>
          <a:noFill/>
          <a:ln/>
        </p:spPr>
        <p:txBody>
          <a:bodyPr wrap="square" lIns="0" tIns="0" rIns="0" bIns="85090" rtlCol="0" anchor="t">
            <a:spAutoFit/>
          </a:bodyPr>
          <a:lstStyle/>
          <a:p>
            <a:pPr marL="0" indent="0" algn="ctr">
              <a:lnSpc>
                <a:spcPts val="1600"/>
              </a:lnSpc>
              <a:buNone/>
            </a:pPr>
            <a:r>
              <a:rPr lang="en-US" sz="1193" b="1" dirty="0">
                <a:solidFill>
                  <a:srgbClr val="2C3E50"/>
                </a:solidFill>
              </a:rPr>
              <a:t>Student Portal</a:t>
            </a:r>
            <a:endParaRPr lang="en-US" sz="1193" dirty="0"/>
          </a:p>
        </p:txBody>
      </p:sp>
      <p:sp>
        <p:nvSpPr>
          <p:cNvPr id="14" name="Text 9"/>
          <p:cNvSpPr/>
          <p:nvPr/>
        </p:nvSpPr>
        <p:spPr>
          <a:xfrm>
            <a:off x="3548072" y="3529013"/>
            <a:ext cx="2047884" cy="385763"/>
          </a:xfrm>
          <a:prstGeom prst="rect">
            <a:avLst/>
          </a:prstGeom>
          <a:noFill/>
          <a:ln/>
        </p:spPr>
        <p:txBody>
          <a:bodyPr wrap="square" lIns="0" tIns="0" rIns="0" bIns="0" rtlCol="0" anchor="t">
            <a:spAutoFit/>
          </a:bodyPr>
          <a:lstStyle/>
          <a:p>
            <a:pPr marL="0" indent="0" algn="ctr">
              <a:lnSpc>
                <a:spcPts val="1500"/>
              </a:lnSpc>
              <a:buNone/>
            </a:pPr>
            <a:r>
              <a:rPr lang="en-US" sz="942" dirty="0">
                <a:solidFill>
                  <a:srgbClr val="2C3E50"/>
                </a:solidFill>
              </a:rPr>
              <a:t>Advanced search, research tools &amp; account management</a:t>
            </a:r>
            <a:endParaRPr lang="en-US" sz="942" dirty="0"/>
          </a:p>
        </p:txBody>
      </p:sp>
      <p:sp>
        <p:nvSpPr>
          <p:cNvPr id="15" name="Shape 10"/>
          <p:cNvSpPr/>
          <p:nvPr/>
        </p:nvSpPr>
        <p:spPr>
          <a:xfrm>
            <a:off x="6096019" y="2135981"/>
            <a:ext cx="2476509" cy="2257425"/>
          </a:xfrm>
          <a:prstGeom prst="rect">
            <a:avLst/>
          </a:prstGeom>
          <a:solidFill>
            <a:srgbClr val="FFFFFF"/>
          </a:solidFill>
          <a:ln/>
        </p:spPr>
        <p:txBody>
          <a:bodyPr/>
          <a:lstStyle/>
          <a:p>
            <a:endParaRPr lang="en-IN"/>
          </a:p>
        </p:txBody>
      </p:sp>
      <p:sp>
        <p:nvSpPr>
          <p:cNvPr id="16" name="Shape 11"/>
          <p:cNvSpPr/>
          <p:nvPr/>
        </p:nvSpPr>
        <p:spPr>
          <a:xfrm>
            <a:off x="6096019" y="2135981"/>
            <a:ext cx="2476509" cy="42863"/>
          </a:xfrm>
          <a:prstGeom prst="rect">
            <a:avLst/>
          </a:prstGeom>
          <a:solidFill>
            <a:srgbClr val="5DADE2"/>
          </a:solidFill>
          <a:ln/>
        </p:spPr>
        <p:txBody>
          <a:bodyPr/>
          <a:lstStyle/>
          <a:p>
            <a:endParaRPr lang="en-IN"/>
          </a:p>
        </p:txBody>
      </p:sp>
      <p:pic>
        <p:nvPicPr>
          <p:cNvPr id="17" name="Image 3" descr="preencoded.png"/>
          <p:cNvPicPr>
            <a:picLocks noChangeAspect="1"/>
          </p:cNvPicPr>
          <p:nvPr/>
        </p:nvPicPr>
        <p:blipFill>
          <a:blip r:embed="rId6"/>
          <a:stretch>
            <a:fillRect/>
          </a:stretch>
        </p:blipFill>
        <p:spPr>
          <a:xfrm>
            <a:off x="7162809" y="2486025"/>
            <a:ext cx="342900" cy="342900"/>
          </a:xfrm>
          <a:prstGeom prst="rect">
            <a:avLst/>
          </a:prstGeom>
        </p:spPr>
      </p:pic>
      <p:sp>
        <p:nvSpPr>
          <p:cNvPr id="18" name="Text 12"/>
          <p:cNvSpPr/>
          <p:nvPr/>
        </p:nvSpPr>
        <p:spPr>
          <a:xfrm>
            <a:off x="6310331" y="3066455"/>
            <a:ext cx="2047884" cy="319683"/>
          </a:xfrm>
          <a:prstGeom prst="rect">
            <a:avLst/>
          </a:prstGeom>
          <a:noFill/>
          <a:ln/>
        </p:spPr>
        <p:txBody>
          <a:bodyPr wrap="square" lIns="0" tIns="0" rIns="0" bIns="85090" rtlCol="0" anchor="t">
            <a:spAutoFit/>
          </a:bodyPr>
          <a:lstStyle/>
          <a:p>
            <a:pPr marL="0" indent="0" algn="ctr">
              <a:lnSpc>
                <a:spcPts val="1600"/>
              </a:lnSpc>
              <a:buNone/>
            </a:pPr>
            <a:r>
              <a:rPr lang="en-US" sz="1193" b="1" dirty="0">
                <a:solidFill>
                  <a:srgbClr val="2C3E50"/>
                </a:solidFill>
              </a:rPr>
              <a:t>AI &amp; AR Layer</a:t>
            </a:r>
            <a:endParaRPr lang="en-US" sz="1193" dirty="0"/>
          </a:p>
        </p:txBody>
      </p:sp>
      <p:sp>
        <p:nvSpPr>
          <p:cNvPr id="19" name="Text 13"/>
          <p:cNvSpPr/>
          <p:nvPr/>
        </p:nvSpPr>
        <p:spPr>
          <a:xfrm>
            <a:off x="6310331" y="3529013"/>
            <a:ext cx="2047884" cy="385763"/>
          </a:xfrm>
          <a:prstGeom prst="rect">
            <a:avLst/>
          </a:prstGeom>
          <a:noFill/>
          <a:ln/>
        </p:spPr>
        <p:txBody>
          <a:bodyPr wrap="square" lIns="0" tIns="0" rIns="0" bIns="0" rtlCol="0" anchor="t">
            <a:spAutoFit/>
          </a:bodyPr>
          <a:lstStyle/>
          <a:p>
            <a:pPr marL="0" indent="0" algn="ctr">
              <a:lnSpc>
                <a:spcPts val="1500"/>
              </a:lnSpc>
              <a:buNone/>
            </a:pPr>
            <a:r>
              <a:rPr lang="en-US" sz="942" dirty="0">
                <a:solidFill>
                  <a:srgbClr val="2C3E50"/>
                </a:solidFill>
              </a:rPr>
              <a:t>Demand forecasting, semantic search &amp; AR navigation</a:t>
            </a:r>
            <a:endParaRPr lang="en-US" sz="942"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428625" y="285750"/>
            <a:ext cx="3006123" cy="350044"/>
          </a:xfrm>
          <a:prstGeom prst="rect">
            <a:avLst/>
          </a:prstGeom>
          <a:noFill/>
          <a:ln/>
        </p:spPr>
        <p:txBody>
          <a:bodyPr wrap="none" lIns="0" tIns="0" rIns="0" bIns="0" rtlCol="0" anchor="t">
            <a:spAutoFit/>
          </a:bodyPr>
          <a:lstStyle/>
          <a:p>
            <a:pPr marL="0" indent="0" algn="l">
              <a:lnSpc>
                <a:spcPts val="2400"/>
              </a:lnSpc>
              <a:buNone/>
            </a:pPr>
            <a:r>
              <a:rPr lang="en-US" sz="1808" b="1" dirty="0">
                <a:solidFill>
                  <a:srgbClr val="2C3E50"/>
                </a:solidFill>
              </a:rPr>
              <a:t>FEATURE GAP ANALYSIS</a:t>
            </a:r>
            <a:endParaRPr lang="en-US" sz="1808" dirty="0"/>
          </a:p>
        </p:txBody>
      </p:sp>
      <p:pic>
        <p:nvPicPr>
          <p:cNvPr id="4" name="Image 1" descr="preencoded.png"/>
          <p:cNvPicPr>
            <a:picLocks noChangeAspect="1"/>
          </p:cNvPicPr>
          <p:nvPr/>
        </p:nvPicPr>
        <p:blipFill>
          <a:blip r:embed="rId4"/>
          <a:stretch>
            <a:fillRect/>
          </a:stretch>
        </p:blipFill>
        <p:spPr>
          <a:xfrm>
            <a:off x="428625" y="925116"/>
            <a:ext cx="71438" cy="114300"/>
          </a:xfrm>
          <a:prstGeom prst="rect">
            <a:avLst/>
          </a:prstGeom>
        </p:spPr>
      </p:pic>
      <p:sp>
        <p:nvSpPr>
          <p:cNvPr id="5" name="Text 1"/>
          <p:cNvSpPr/>
          <p:nvPr/>
        </p:nvSpPr>
        <p:spPr>
          <a:xfrm>
            <a:off x="557213" y="914400"/>
            <a:ext cx="1262379" cy="135731"/>
          </a:xfrm>
          <a:prstGeom prst="rect">
            <a:avLst/>
          </a:prstGeom>
          <a:noFill/>
          <a:ln/>
        </p:spPr>
        <p:txBody>
          <a:bodyPr wrap="none" lIns="0" tIns="0" rIns="0" bIns="0" rtlCol="0" anchor="t">
            <a:spAutoFit/>
          </a:bodyPr>
          <a:lstStyle/>
          <a:p>
            <a:pPr marL="0" indent="0" algn="l">
              <a:lnSpc>
                <a:spcPts val="900"/>
              </a:lnSpc>
              <a:buNone/>
            </a:pPr>
            <a:r>
              <a:rPr lang="en-US" sz="683" b="1" dirty="0">
                <a:solidFill>
                  <a:srgbClr val="2C3E50"/>
                </a:solidFill>
              </a:rPr>
              <a:t>= Exists in TAMUCC library</a:t>
            </a:r>
            <a:endParaRPr lang="en-US" sz="683" dirty="0"/>
          </a:p>
        </p:txBody>
      </p:sp>
      <p:pic>
        <p:nvPicPr>
          <p:cNvPr id="6" name="Image 2" descr="preencoded.png"/>
          <p:cNvPicPr>
            <a:picLocks noChangeAspect="1"/>
          </p:cNvPicPr>
          <p:nvPr/>
        </p:nvPicPr>
        <p:blipFill>
          <a:blip r:embed="rId5"/>
          <a:stretch>
            <a:fillRect/>
          </a:stretch>
        </p:blipFill>
        <p:spPr>
          <a:xfrm>
            <a:off x="2033904" y="925116"/>
            <a:ext cx="114300" cy="114300"/>
          </a:xfrm>
          <a:prstGeom prst="rect">
            <a:avLst/>
          </a:prstGeom>
        </p:spPr>
      </p:pic>
      <p:sp>
        <p:nvSpPr>
          <p:cNvPr id="7" name="Text 2"/>
          <p:cNvSpPr/>
          <p:nvPr/>
        </p:nvSpPr>
        <p:spPr>
          <a:xfrm>
            <a:off x="2205354" y="914400"/>
            <a:ext cx="989047" cy="135731"/>
          </a:xfrm>
          <a:prstGeom prst="rect">
            <a:avLst/>
          </a:prstGeom>
          <a:noFill/>
          <a:ln/>
        </p:spPr>
        <p:txBody>
          <a:bodyPr wrap="none" lIns="0" tIns="0" rIns="0" bIns="0" rtlCol="0" anchor="t">
            <a:spAutoFit/>
          </a:bodyPr>
          <a:lstStyle/>
          <a:p>
            <a:pPr marL="0" indent="0" algn="l">
              <a:lnSpc>
                <a:spcPts val="900"/>
              </a:lnSpc>
              <a:buNone/>
            </a:pPr>
            <a:r>
              <a:rPr lang="en-US" sz="683" b="1" dirty="0">
                <a:solidFill>
                  <a:srgbClr val="2C3E50"/>
                </a:solidFill>
              </a:rPr>
              <a:t>= Gap / New Feature</a:t>
            </a:r>
            <a:endParaRPr lang="en-US" sz="683" dirty="0"/>
          </a:p>
        </p:txBody>
      </p:sp>
      <p:sp>
        <p:nvSpPr>
          <p:cNvPr id="8" name="Shape 3"/>
          <p:cNvSpPr/>
          <p:nvPr/>
        </p:nvSpPr>
        <p:spPr>
          <a:xfrm>
            <a:off x="428625" y="1157288"/>
            <a:ext cx="8286750" cy="3230203"/>
          </a:xfrm>
          <a:prstGeom prst="rect">
            <a:avLst/>
          </a:prstGeom>
          <a:solidFill>
            <a:srgbClr val="FFFFFF"/>
          </a:solidFill>
          <a:ln/>
        </p:spPr>
        <p:txBody>
          <a:bodyPr/>
          <a:lstStyle/>
          <a:p>
            <a:endParaRPr lang="en-IN"/>
          </a:p>
        </p:txBody>
      </p:sp>
      <p:sp>
        <p:nvSpPr>
          <p:cNvPr id="9" name="Shape 4"/>
          <p:cNvSpPr/>
          <p:nvPr/>
        </p:nvSpPr>
        <p:spPr>
          <a:xfrm>
            <a:off x="428625" y="1157288"/>
            <a:ext cx="1852519" cy="307181"/>
          </a:xfrm>
          <a:prstGeom prst="rect">
            <a:avLst/>
          </a:prstGeom>
          <a:solidFill>
            <a:srgbClr val="2C3E50"/>
          </a:solidFill>
          <a:ln/>
        </p:spPr>
        <p:txBody>
          <a:bodyPr/>
          <a:lstStyle/>
          <a:p>
            <a:endParaRPr lang="en-IN"/>
          </a:p>
        </p:txBody>
      </p:sp>
      <p:sp>
        <p:nvSpPr>
          <p:cNvPr id="10" name="Text 5"/>
          <p:cNvSpPr/>
          <p:nvPr/>
        </p:nvSpPr>
        <p:spPr>
          <a:xfrm>
            <a:off x="428625" y="1157288"/>
            <a:ext cx="1852519" cy="307181"/>
          </a:xfrm>
          <a:prstGeom prst="rect">
            <a:avLst/>
          </a:prstGeom>
          <a:noFill/>
          <a:ln/>
        </p:spPr>
        <p:txBody>
          <a:bodyPr wrap="square" lIns="127508" tIns="102108" rIns="127508" bIns="102108" rtlCol="0" anchor="ctr">
            <a:spAutoFit/>
          </a:bodyPr>
          <a:lstStyle/>
          <a:p>
            <a:pPr marL="0" indent="0" algn="l">
              <a:lnSpc>
                <a:spcPts val="900"/>
              </a:lnSpc>
              <a:buNone/>
            </a:pPr>
            <a:r>
              <a:rPr lang="en-US" sz="683" b="1" dirty="0">
                <a:solidFill>
                  <a:srgbClr val="FFFFFF"/>
                </a:solidFill>
              </a:rPr>
              <a:t>Feature</a:t>
            </a:r>
            <a:endParaRPr lang="en-US" sz="683" dirty="0"/>
          </a:p>
        </p:txBody>
      </p:sp>
      <p:sp>
        <p:nvSpPr>
          <p:cNvPr id="11" name="Shape 6"/>
          <p:cNvSpPr/>
          <p:nvPr/>
        </p:nvSpPr>
        <p:spPr>
          <a:xfrm>
            <a:off x="2281144" y="1157288"/>
            <a:ext cx="2845361" cy="307181"/>
          </a:xfrm>
          <a:prstGeom prst="rect">
            <a:avLst/>
          </a:prstGeom>
          <a:solidFill>
            <a:srgbClr val="2C3E50"/>
          </a:solidFill>
          <a:ln/>
        </p:spPr>
        <p:txBody>
          <a:bodyPr/>
          <a:lstStyle/>
          <a:p>
            <a:endParaRPr lang="en-IN"/>
          </a:p>
        </p:txBody>
      </p:sp>
      <p:sp>
        <p:nvSpPr>
          <p:cNvPr id="12" name="Text 7"/>
          <p:cNvSpPr/>
          <p:nvPr/>
        </p:nvSpPr>
        <p:spPr>
          <a:xfrm>
            <a:off x="2281144" y="1157288"/>
            <a:ext cx="2845361" cy="307181"/>
          </a:xfrm>
          <a:prstGeom prst="rect">
            <a:avLst/>
          </a:prstGeom>
          <a:noFill/>
          <a:ln/>
        </p:spPr>
        <p:txBody>
          <a:bodyPr wrap="square" lIns="127508" tIns="102108" rIns="127508" bIns="102108" rtlCol="0" anchor="ctr">
            <a:spAutoFit/>
          </a:bodyPr>
          <a:lstStyle/>
          <a:p>
            <a:pPr marL="0" indent="0" algn="l">
              <a:lnSpc>
                <a:spcPts val="900"/>
              </a:lnSpc>
              <a:buNone/>
            </a:pPr>
            <a:r>
              <a:rPr lang="en-US" sz="683" b="1" dirty="0">
                <a:solidFill>
                  <a:srgbClr val="FFFFFF"/>
                </a:solidFill>
              </a:rPr>
              <a:t>Description</a:t>
            </a:r>
            <a:endParaRPr lang="en-US" sz="683" dirty="0"/>
          </a:p>
        </p:txBody>
      </p:sp>
      <p:sp>
        <p:nvSpPr>
          <p:cNvPr id="13" name="Shape 8"/>
          <p:cNvSpPr/>
          <p:nvPr/>
        </p:nvSpPr>
        <p:spPr>
          <a:xfrm>
            <a:off x="5126506" y="1157288"/>
            <a:ext cx="1356587" cy="307181"/>
          </a:xfrm>
          <a:prstGeom prst="rect">
            <a:avLst/>
          </a:prstGeom>
          <a:solidFill>
            <a:srgbClr val="2C3E50"/>
          </a:solidFill>
          <a:ln/>
        </p:spPr>
        <p:txBody>
          <a:bodyPr/>
          <a:lstStyle/>
          <a:p>
            <a:endParaRPr lang="en-IN"/>
          </a:p>
        </p:txBody>
      </p:sp>
      <p:sp>
        <p:nvSpPr>
          <p:cNvPr id="14" name="Text 9"/>
          <p:cNvSpPr/>
          <p:nvPr/>
        </p:nvSpPr>
        <p:spPr>
          <a:xfrm>
            <a:off x="5126506" y="1157288"/>
            <a:ext cx="1356587" cy="307181"/>
          </a:xfrm>
          <a:prstGeom prst="rect">
            <a:avLst/>
          </a:prstGeom>
          <a:noFill/>
          <a:ln/>
        </p:spPr>
        <p:txBody>
          <a:bodyPr wrap="square" lIns="127508" tIns="102108" rIns="127508" bIns="102108" rtlCol="0" anchor="ctr">
            <a:spAutoFit/>
          </a:bodyPr>
          <a:lstStyle/>
          <a:p>
            <a:pPr marL="0" indent="0" algn="ctr">
              <a:lnSpc>
                <a:spcPts val="900"/>
              </a:lnSpc>
              <a:buNone/>
            </a:pPr>
            <a:r>
              <a:rPr lang="en-US" sz="683" b="1" dirty="0">
                <a:solidFill>
                  <a:srgbClr val="FFFFFF"/>
                </a:solidFill>
              </a:rPr>
              <a:t>TAMUCC Library</a:t>
            </a:r>
            <a:endParaRPr lang="en-US" sz="683" dirty="0"/>
          </a:p>
        </p:txBody>
      </p:sp>
      <p:sp>
        <p:nvSpPr>
          <p:cNvPr id="15" name="Shape 10"/>
          <p:cNvSpPr/>
          <p:nvPr/>
        </p:nvSpPr>
        <p:spPr>
          <a:xfrm>
            <a:off x="6483093" y="1157288"/>
            <a:ext cx="1370763" cy="307181"/>
          </a:xfrm>
          <a:prstGeom prst="rect">
            <a:avLst/>
          </a:prstGeom>
          <a:solidFill>
            <a:srgbClr val="2C3E50"/>
          </a:solidFill>
          <a:ln/>
        </p:spPr>
        <p:txBody>
          <a:bodyPr/>
          <a:lstStyle/>
          <a:p>
            <a:endParaRPr lang="en-IN"/>
          </a:p>
        </p:txBody>
      </p:sp>
      <p:sp>
        <p:nvSpPr>
          <p:cNvPr id="16" name="Text 11"/>
          <p:cNvSpPr/>
          <p:nvPr/>
        </p:nvSpPr>
        <p:spPr>
          <a:xfrm>
            <a:off x="6483093" y="1157288"/>
            <a:ext cx="1370763" cy="307181"/>
          </a:xfrm>
          <a:prstGeom prst="rect">
            <a:avLst/>
          </a:prstGeom>
          <a:noFill/>
          <a:ln/>
        </p:spPr>
        <p:txBody>
          <a:bodyPr wrap="square" lIns="127508" tIns="102108" rIns="127508" bIns="102108" rtlCol="0" anchor="ctr">
            <a:spAutoFit/>
          </a:bodyPr>
          <a:lstStyle/>
          <a:p>
            <a:pPr marL="0" indent="0" algn="ctr">
              <a:lnSpc>
                <a:spcPts val="900"/>
              </a:lnSpc>
              <a:buNone/>
            </a:pPr>
            <a:r>
              <a:rPr lang="en-US" sz="683" b="1" dirty="0">
                <a:solidFill>
                  <a:srgbClr val="FFFFFF"/>
                </a:solidFill>
              </a:rPr>
              <a:t>LibConnect Pro</a:t>
            </a:r>
            <a:endParaRPr lang="en-US" sz="683" dirty="0"/>
          </a:p>
        </p:txBody>
      </p:sp>
      <p:sp>
        <p:nvSpPr>
          <p:cNvPr id="17" name="Shape 12"/>
          <p:cNvSpPr/>
          <p:nvPr/>
        </p:nvSpPr>
        <p:spPr>
          <a:xfrm>
            <a:off x="7853855" y="1157288"/>
            <a:ext cx="861520" cy="307181"/>
          </a:xfrm>
          <a:prstGeom prst="rect">
            <a:avLst/>
          </a:prstGeom>
          <a:solidFill>
            <a:srgbClr val="2C3E50"/>
          </a:solidFill>
          <a:ln/>
        </p:spPr>
        <p:txBody>
          <a:bodyPr/>
          <a:lstStyle/>
          <a:p>
            <a:endParaRPr lang="en-IN"/>
          </a:p>
        </p:txBody>
      </p:sp>
      <p:sp>
        <p:nvSpPr>
          <p:cNvPr id="18" name="Text 13"/>
          <p:cNvSpPr/>
          <p:nvPr/>
        </p:nvSpPr>
        <p:spPr>
          <a:xfrm>
            <a:off x="7853855" y="1157288"/>
            <a:ext cx="861520" cy="307181"/>
          </a:xfrm>
          <a:prstGeom prst="rect">
            <a:avLst/>
          </a:prstGeom>
          <a:noFill/>
          <a:ln/>
        </p:spPr>
        <p:txBody>
          <a:bodyPr wrap="square" lIns="127508" tIns="102108" rIns="127508" bIns="102108" rtlCol="0" anchor="ctr">
            <a:spAutoFit/>
          </a:bodyPr>
          <a:lstStyle/>
          <a:p>
            <a:pPr marL="0" indent="0" algn="ctr">
              <a:lnSpc>
                <a:spcPts val="900"/>
              </a:lnSpc>
              <a:buNone/>
            </a:pPr>
            <a:r>
              <a:rPr lang="en-US" sz="683" b="1" dirty="0">
                <a:solidFill>
                  <a:srgbClr val="FFFFFF"/>
                </a:solidFill>
              </a:rPr>
              <a:t>Priority</a:t>
            </a:r>
            <a:endParaRPr lang="en-US" sz="683" dirty="0"/>
          </a:p>
        </p:txBody>
      </p:sp>
      <p:sp>
        <p:nvSpPr>
          <p:cNvPr id="19" name="Text 14"/>
          <p:cNvSpPr/>
          <p:nvPr/>
        </p:nvSpPr>
        <p:spPr>
          <a:xfrm>
            <a:off x="428625" y="1464469"/>
            <a:ext cx="1852519" cy="240013"/>
          </a:xfrm>
          <a:prstGeom prst="rect">
            <a:avLst/>
          </a:prstGeom>
          <a:noFill/>
          <a:ln/>
        </p:spPr>
        <p:txBody>
          <a:bodyPr wrap="square" lIns="127508" tIns="68072" rIns="127508" bIns="68072" rtlCol="0" anchor="ctr">
            <a:spAutoFit/>
          </a:bodyPr>
          <a:lstStyle/>
          <a:p>
            <a:pPr marL="0" indent="0" algn="l">
              <a:lnSpc>
                <a:spcPts val="900"/>
              </a:lnSpc>
              <a:buNone/>
            </a:pPr>
            <a:r>
              <a:rPr lang="en-US" sz="634" b="1" dirty="0">
                <a:solidFill>
                  <a:srgbClr val="E67E22"/>
                </a:solidFill>
              </a:rPr>
              <a:t>Real-Time Stock Alerts</a:t>
            </a:r>
            <a:endParaRPr lang="en-US" sz="634" dirty="0"/>
          </a:p>
        </p:txBody>
      </p:sp>
      <p:sp>
        <p:nvSpPr>
          <p:cNvPr id="20" name="Text 15"/>
          <p:cNvSpPr/>
          <p:nvPr/>
        </p:nvSpPr>
        <p:spPr>
          <a:xfrm>
            <a:off x="2281144" y="1464469"/>
            <a:ext cx="2845361" cy="240013"/>
          </a:xfrm>
          <a:prstGeom prst="rect">
            <a:avLst/>
          </a:prstGeom>
          <a:noFill/>
          <a:ln/>
        </p:spPr>
        <p:txBody>
          <a:bodyPr wrap="square" lIns="127508" tIns="68072" rIns="127508" bIns="68072" rtlCol="0" anchor="ctr">
            <a:spAutoFit/>
          </a:bodyPr>
          <a:lstStyle/>
          <a:p>
            <a:pPr marL="0" indent="0" algn="l">
              <a:lnSpc>
                <a:spcPts val="900"/>
              </a:lnSpc>
              <a:buNone/>
            </a:pPr>
            <a:r>
              <a:rPr lang="en-US" sz="674" dirty="0">
                <a:solidFill>
                  <a:srgbClr val="2C3E50"/>
                </a:solidFill>
              </a:rPr>
              <a:t>Notify users when out-of-stock books return</a:t>
            </a:r>
            <a:endParaRPr lang="en-US" sz="674" dirty="0"/>
          </a:p>
        </p:txBody>
      </p:sp>
      <p:pic>
        <p:nvPicPr>
          <p:cNvPr id="21" name="Image 3" descr="preencoded.png"/>
          <p:cNvPicPr>
            <a:picLocks noChangeAspect="1"/>
          </p:cNvPicPr>
          <p:nvPr/>
        </p:nvPicPr>
        <p:blipFill>
          <a:blip r:embed="rId6"/>
          <a:stretch>
            <a:fillRect/>
          </a:stretch>
        </p:blipFill>
        <p:spPr>
          <a:xfrm>
            <a:off x="5769080" y="1521619"/>
            <a:ext cx="71438" cy="114300"/>
          </a:xfrm>
          <a:prstGeom prst="rect">
            <a:avLst/>
          </a:prstGeom>
        </p:spPr>
      </p:pic>
      <p:pic>
        <p:nvPicPr>
          <p:cNvPr id="22" name="Image 4" descr="preencoded.png"/>
          <p:cNvPicPr>
            <a:picLocks noChangeAspect="1"/>
          </p:cNvPicPr>
          <p:nvPr/>
        </p:nvPicPr>
        <p:blipFill>
          <a:blip r:embed="rId7"/>
          <a:stretch>
            <a:fillRect/>
          </a:stretch>
        </p:blipFill>
        <p:spPr>
          <a:xfrm>
            <a:off x="7111324" y="1521619"/>
            <a:ext cx="114300" cy="114300"/>
          </a:xfrm>
          <a:prstGeom prst="rect">
            <a:avLst/>
          </a:prstGeom>
        </p:spPr>
      </p:pic>
      <p:sp>
        <p:nvSpPr>
          <p:cNvPr id="23" name="Text 16"/>
          <p:cNvSpPr/>
          <p:nvPr/>
        </p:nvSpPr>
        <p:spPr>
          <a:xfrm>
            <a:off x="7853855" y="1464469"/>
            <a:ext cx="861520" cy="240013"/>
          </a:xfrm>
          <a:prstGeom prst="rect">
            <a:avLst/>
          </a:prstGeom>
          <a:noFill/>
          <a:ln/>
        </p:spPr>
        <p:txBody>
          <a:bodyPr wrap="square" lIns="127508" tIns="68072" rIns="127508" bIns="68072" rtlCol="0" anchor="ctr">
            <a:spAutoFit/>
          </a:bodyPr>
          <a:lstStyle/>
          <a:p>
            <a:pPr marL="0" indent="0" algn="ctr">
              <a:lnSpc>
                <a:spcPts val="900"/>
              </a:lnSpc>
              <a:buNone/>
            </a:pPr>
            <a:r>
              <a:rPr lang="en-US" sz="674" dirty="0">
                <a:solidFill>
                  <a:srgbClr val="2C3E50"/>
                </a:solidFill>
              </a:rPr>
              <a:t>High</a:t>
            </a:r>
            <a:endParaRPr lang="en-US" sz="674" dirty="0"/>
          </a:p>
        </p:txBody>
      </p:sp>
      <p:sp>
        <p:nvSpPr>
          <p:cNvPr id="24" name="Shape 17"/>
          <p:cNvSpPr/>
          <p:nvPr/>
        </p:nvSpPr>
        <p:spPr>
          <a:xfrm>
            <a:off x="428625" y="1704482"/>
            <a:ext cx="8286750" cy="243585"/>
          </a:xfrm>
          <a:prstGeom prst="rect">
            <a:avLst/>
          </a:prstGeom>
          <a:solidFill>
            <a:srgbClr val="F9F9F9"/>
          </a:solidFill>
          <a:ln/>
        </p:spPr>
        <p:txBody>
          <a:bodyPr/>
          <a:lstStyle/>
          <a:p>
            <a:endParaRPr lang="en-IN"/>
          </a:p>
        </p:txBody>
      </p:sp>
      <p:sp>
        <p:nvSpPr>
          <p:cNvPr id="25" name="Text 18"/>
          <p:cNvSpPr/>
          <p:nvPr/>
        </p:nvSpPr>
        <p:spPr>
          <a:xfrm>
            <a:off x="428625" y="1704482"/>
            <a:ext cx="1852519" cy="243585"/>
          </a:xfrm>
          <a:prstGeom prst="rect">
            <a:avLst/>
          </a:prstGeom>
          <a:noFill/>
          <a:ln/>
        </p:spPr>
        <p:txBody>
          <a:bodyPr wrap="square" lIns="127508" tIns="68072" rIns="127508" bIns="68072" rtlCol="0" anchor="ctr">
            <a:spAutoFit/>
          </a:bodyPr>
          <a:lstStyle/>
          <a:p>
            <a:pPr marL="0" indent="0" algn="l">
              <a:lnSpc>
                <a:spcPts val="900"/>
              </a:lnSpc>
              <a:buNone/>
            </a:pPr>
            <a:r>
              <a:rPr lang="en-US" sz="634" b="1" dirty="0">
                <a:solidFill>
                  <a:srgbClr val="E67E22"/>
                </a:solidFill>
              </a:rPr>
              <a:t>Automated Fine Blocking</a:t>
            </a:r>
            <a:endParaRPr lang="en-US" sz="634" dirty="0"/>
          </a:p>
        </p:txBody>
      </p:sp>
      <p:sp>
        <p:nvSpPr>
          <p:cNvPr id="26" name="Text 19"/>
          <p:cNvSpPr/>
          <p:nvPr/>
        </p:nvSpPr>
        <p:spPr>
          <a:xfrm>
            <a:off x="2281144" y="1704482"/>
            <a:ext cx="2845361" cy="243585"/>
          </a:xfrm>
          <a:prstGeom prst="rect">
            <a:avLst/>
          </a:prstGeom>
          <a:noFill/>
          <a:ln/>
        </p:spPr>
        <p:txBody>
          <a:bodyPr wrap="square" lIns="127508" tIns="68072" rIns="127508" bIns="68072" rtlCol="0" anchor="ctr">
            <a:spAutoFit/>
          </a:bodyPr>
          <a:lstStyle/>
          <a:p>
            <a:pPr marL="0" indent="0" algn="l">
              <a:lnSpc>
                <a:spcPts val="900"/>
              </a:lnSpc>
              <a:buNone/>
            </a:pPr>
            <a:r>
              <a:rPr lang="en-US" sz="674" dirty="0">
                <a:solidFill>
                  <a:srgbClr val="2C3E50"/>
                </a:solidFill>
              </a:rPr>
              <a:t>Hard-block borrowing when fines exceed limit</a:t>
            </a:r>
            <a:endParaRPr lang="en-US" sz="674" dirty="0"/>
          </a:p>
        </p:txBody>
      </p:sp>
      <p:pic>
        <p:nvPicPr>
          <p:cNvPr id="27" name="Image 5" descr="preencoded.png"/>
          <p:cNvPicPr>
            <a:picLocks noChangeAspect="1"/>
          </p:cNvPicPr>
          <p:nvPr/>
        </p:nvPicPr>
        <p:blipFill>
          <a:blip r:embed="rId8"/>
          <a:stretch>
            <a:fillRect/>
          </a:stretch>
        </p:blipFill>
        <p:spPr>
          <a:xfrm>
            <a:off x="5769080" y="1765204"/>
            <a:ext cx="71438" cy="114300"/>
          </a:xfrm>
          <a:prstGeom prst="rect">
            <a:avLst/>
          </a:prstGeom>
        </p:spPr>
      </p:pic>
      <p:pic>
        <p:nvPicPr>
          <p:cNvPr id="28" name="Image 6" descr="preencoded.png"/>
          <p:cNvPicPr>
            <a:picLocks noChangeAspect="1"/>
          </p:cNvPicPr>
          <p:nvPr/>
        </p:nvPicPr>
        <p:blipFill>
          <a:blip r:embed="rId9"/>
          <a:stretch>
            <a:fillRect/>
          </a:stretch>
        </p:blipFill>
        <p:spPr>
          <a:xfrm>
            <a:off x="7111324" y="1765204"/>
            <a:ext cx="114300" cy="114300"/>
          </a:xfrm>
          <a:prstGeom prst="rect">
            <a:avLst/>
          </a:prstGeom>
        </p:spPr>
      </p:pic>
      <p:sp>
        <p:nvSpPr>
          <p:cNvPr id="29" name="Text 20"/>
          <p:cNvSpPr/>
          <p:nvPr/>
        </p:nvSpPr>
        <p:spPr>
          <a:xfrm>
            <a:off x="7853855" y="1704482"/>
            <a:ext cx="861520" cy="243585"/>
          </a:xfrm>
          <a:prstGeom prst="rect">
            <a:avLst/>
          </a:prstGeom>
          <a:noFill/>
          <a:ln/>
        </p:spPr>
        <p:txBody>
          <a:bodyPr wrap="square" lIns="127508" tIns="68072" rIns="127508" bIns="68072" rtlCol="0" anchor="ctr">
            <a:spAutoFit/>
          </a:bodyPr>
          <a:lstStyle/>
          <a:p>
            <a:pPr marL="0" indent="0" algn="ctr">
              <a:lnSpc>
                <a:spcPts val="900"/>
              </a:lnSpc>
              <a:buNone/>
            </a:pPr>
            <a:r>
              <a:rPr lang="en-US" sz="674" dirty="0">
                <a:solidFill>
                  <a:srgbClr val="2C3E50"/>
                </a:solidFill>
              </a:rPr>
              <a:t>High</a:t>
            </a:r>
            <a:endParaRPr lang="en-US" sz="674" dirty="0"/>
          </a:p>
        </p:txBody>
      </p:sp>
      <p:sp>
        <p:nvSpPr>
          <p:cNvPr id="30" name="Text 21"/>
          <p:cNvSpPr/>
          <p:nvPr/>
        </p:nvSpPr>
        <p:spPr>
          <a:xfrm>
            <a:off x="428625" y="1948067"/>
            <a:ext cx="1852519" cy="243585"/>
          </a:xfrm>
          <a:prstGeom prst="rect">
            <a:avLst/>
          </a:prstGeom>
          <a:noFill/>
          <a:ln/>
        </p:spPr>
        <p:txBody>
          <a:bodyPr wrap="square" lIns="127508" tIns="68072" rIns="127508" bIns="68072" rtlCol="0" anchor="ctr">
            <a:spAutoFit/>
          </a:bodyPr>
          <a:lstStyle/>
          <a:p>
            <a:pPr marL="0" indent="0" algn="l">
              <a:lnSpc>
                <a:spcPts val="900"/>
              </a:lnSpc>
              <a:buNone/>
            </a:pPr>
            <a:r>
              <a:rPr lang="en-US" sz="634" b="1" dirty="0">
                <a:solidFill>
                  <a:srgbClr val="E67E22"/>
                </a:solidFill>
              </a:rPr>
              <a:t>Smart Loan Periods</a:t>
            </a:r>
            <a:endParaRPr lang="en-US" sz="634" dirty="0"/>
          </a:p>
        </p:txBody>
      </p:sp>
      <p:sp>
        <p:nvSpPr>
          <p:cNvPr id="31" name="Text 22"/>
          <p:cNvSpPr/>
          <p:nvPr/>
        </p:nvSpPr>
        <p:spPr>
          <a:xfrm>
            <a:off x="2281144" y="1948067"/>
            <a:ext cx="2845361" cy="243585"/>
          </a:xfrm>
          <a:prstGeom prst="rect">
            <a:avLst/>
          </a:prstGeom>
          <a:noFill/>
          <a:ln/>
        </p:spPr>
        <p:txBody>
          <a:bodyPr wrap="square" lIns="127508" tIns="68072" rIns="127508" bIns="68072" rtlCol="0" anchor="ctr">
            <a:spAutoFit/>
          </a:bodyPr>
          <a:lstStyle/>
          <a:p>
            <a:pPr marL="0" indent="0" algn="l">
              <a:lnSpc>
                <a:spcPts val="900"/>
              </a:lnSpc>
              <a:buNone/>
            </a:pPr>
            <a:r>
              <a:rPr lang="en-US" sz="674" dirty="0">
                <a:solidFill>
                  <a:srgbClr val="2C3E50"/>
                </a:solidFill>
              </a:rPr>
              <a:t>Dynamic loan durations based on demand</a:t>
            </a:r>
            <a:endParaRPr lang="en-US" sz="674" dirty="0"/>
          </a:p>
        </p:txBody>
      </p:sp>
      <p:pic>
        <p:nvPicPr>
          <p:cNvPr id="32" name="Image 7" descr="preencoded.png"/>
          <p:cNvPicPr>
            <a:picLocks noChangeAspect="1"/>
          </p:cNvPicPr>
          <p:nvPr/>
        </p:nvPicPr>
        <p:blipFill>
          <a:blip r:embed="rId10"/>
          <a:stretch>
            <a:fillRect/>
          </a:stretch>
        </p:blipFill>
        <p:spPr>
          <a:xfrm>
            <a:off x="5769080" y="2008789"/>
            <a:ext cx="71438" cy="114300"/>
          </a:xfrm>
          <a:prstGeom prst="rect">
            <a:avLst/>
          </a:prstGeom>
        </p:spPr>
      </p:pic>
      <p:pic>
        <p:nvPicPr>
          <p:cNvPr id="33" name="Image 8" descr="preencoded.png"/>
          <p:cNvPicPr>
            <a:picLocks noChangeAspect="1"/>
          </p:cNvPicPr>
          <p:nvPr/>
        </p:nvPicPr>
        <p:blipFill>
          <a:blip r:embed="rId11"/>
          <a:stretch>
            <a:fillRect/>
          </a:stretch>
        </p:blipFill>
        <p:spPr>
          <a:xfrm>
            <a:off x="7111324" y="2008789"/>
            <a:ext cx="114300" cy="114300"/>
          </a:xfrm>
          <a:prstGeom prst="rect">
            <a:avLst/>
          </a:prstGeom>
        </p:spPr>
      </p:pic>
      <p:sp>
        <p:nvSpPr>
          <p:cNvPr id="34" name="Text 23"/>
          <p:cNvSpPr/>
          <p:nvPr/>
        </p:nvSpPr>
        <p:spPr>
          <a:xfrm>
            <a:off x="7853855" y="1948067"/>
            <a:ext cx="861520" cy="243585"/>
          </a:xfrm>
          <a:prstGeom prst="rect">
            <a:avLst/>
          </a:prstGeom>
          <a:noFill/>
          <a:ln/>
        </p:spPr>
        <p:txBody>
          <a:bodyPr wrap="square" lIns="127508" tIns="68072" rIns="127508" bIns="68072" rtlCol="0" anchor="ctr">
            <a:spAutoFit/>
          </a:bodyPr>
          <a:lstStyle/>
          <a:p>
            <a:pPr marL="0" indent="0" algn="ctr">
              <a:lnSpc>
                <a:spcPts val="900"/>
              </a:lnSpc>
              <a:buNone/>
            </a:pPr>
            <a:r>
              <a:rPr lang="en-US" sz="674" dirty="0">
                <a:solidFill>
                  <a:srgbClr val="2C3E50"/>
                </a:solidFill>
              </a:rPr>
              <a:t>High</a:t>
            </a:r>
            <a:endParaRPr lang="en-US" sz="674" dirty="0"/>
          </a:p>
        </p:txBody>
      </p:sp>
      <p:sp>
        <p:nvSpPr>
          <p:cNvPr id="35" name="Shape 24"/>
          <p:cNvSpPr/>
          <p:nvPr/>
        </p:nvSpPr>
        <p:spPr>
          <a:xfrm>
            <a:off x="428625" y="2191652"/>
            <a:ext cx="8286750" cy="243585"/>
          </a:xfrm>
          <a:prstGeom prst="rect">
            <a:avLst/>
          </a:prstGeom>
          <a:solidFill>
            <a:srgbClr val="F9F9F9"/>
          </a:solidFill>
          <a:ln/>
        </p:spPr>
        <p:txBody>
          <a:bodyPr/>
          <a:lstStyle/>
          <a:p>
            <a:endParaRPr lang="en-IN"/>
          </a:p>
        </p:txBody>
      </p:sp>
      <p:sp>
        <p:nvSpPr>
          <p:cNvPr id="36" name="Text 25"/>
          <p:cNvSpPr/>
          <p:nvPr/>
        </p:nvSpPr>
        <p:spPr>
          <a:xfrm>
            <a:off x="428625" y="2191652"/>
            <a:ext cx="1852519" cy="243585"/>
          </a:xfrm>
          <a:prstGeom prst="rect">
            <a:avLst/>
          </a:prstGeom>
          <a:noFill/>
          <a:ln/>
        </p:spPr>
        <p:txBody>
          <a:bodyPr wrap="square" lIns="127508" tIns="68072" rIns="127508" bIns="68072" rtlCol="0" anchor="ctr">
            <a:spAutoFit/>
          </a:bodyPr>
          <a:lstStyle/>
          <a:p>
            <a:pPr marL="0" indent="0" algn="l">
              <a:lnSpc>
                <a:spcPts val="900"/>
              </a:lnSpc>
              <a:buNone/>
            </a:pPr>
            <a:r>
              <a:rPr lang="en-US" sz="634" b="1" dirty="0">
                <a:solidFill>
                  <a:srgbClr val="E67E22"/>
                </a:solidFill>
              </a:rPr>
              <a:t>Due-Date Reminders</a:t>
            </a:r>
            <a:endParaRPr lang="en-US" sz="634" dirty="0"/>
          </a:p>
        </p:txBody>
      </p:sp>
      <p:sp>
        <p:nvSpPr>
          <p:cNvPr id="37" name="Text 26"/>
          <p:cNvSpPr/>
          <p:nvPr/>
        </p:nvSpPr>
        <p:spPr>
          <a:xfrm>
            <a:off x="2281144" y="2191652"/>
            <a:ext cx="2845361" cy="243585"/>
          </a:xfrm>
          <a:prstGeom prst="rect">
            <a:avLst/>
          </a:prstGeom>
          <a:noFill/>
          <a:ln/>
        </p:spPr>
        <p:txBody>
          <a:bodyPr wrap="square" lIns="127508" tIns="68072" rIns="127508" bIns="68072" rtlCol="0" anchor="ctr">
            <a:spAutoFit/>
          </a:bodyPr>
          <a:lstStyle/>
          <a:p>
            <a:pPr marL="0" indent="0" algn="l">
              <a:lnSpc>
                <a:spcPts val="900"/>
              </a:lnSpc>
              <a:buNone/>
            </a:pPr>
            <a:r>
              <a:rPr lang="en-US" sz="674" dirty="0">
                <a:solidFill>
                  <a:srgbClr val="2C3E50"/>
                </a:solidFill>
              </a:rPr>
              <a:t>Auto alerts at 60% &amp; 100% of loan period</a:t>
            </a:r>
            <a:endParaRPr lang="en-US" sz="674" dirty="0"/>
          </a:p>
        </p:txBody>
      </p:sp>
      <p:pic>
        <p:nvPicPr>
          <p:cNvPr id="38" name="Image 9" descr="preencoded.png"/>
          <p:cNvPicPr>
            <a:picLocks noChangeAspect="1"/>
          </p:cNvPicPr>
          <p:nvPr/>
        </p:nvPicPr>
        <p:blipFill>
          <a:blip r:embed="rId10"/>
          <a:stretch>
            <a:fillRect/>
          </a:stretch>
        </p:blipFill>
        <p:spPr>
          <a:xfrm>
            <a:off x="5769080" y="2252374"/>
            <a:ext cx="71438" cy="114300"/>
          </a:xfrm>
          <a:prstGeom prst="rect">
            <a:avLst/>
          </a:prstGeom>
        </p:spPr>
      </p:pic>
      <p:pic>
        <p:nvPicPr>
          <p:cNvPr id="39" name="Image 10" descr="preencoded.png"/>
          <p:cNvPicPr>
            <a:picLocks noChangeAspect="1"/>
          </p:cNvPicPr>
          <p:nvPr/>
        </p:nvPicPr>
        <p:blipFill>
          <a:blip r:embed="rId11"/>
          <a:stretch>
            <a:fillRect/>
          </a:stretch>
        </p:blipFill>
        <p:spPr>
          <a:xfrm>
            <a:off x="7111324" y="2252374"/>
            <a:ext cx="114300" cy="114300"/>
          </a:xfrm>
          <a:prstGeom prst="rect">
            <a:avLst/>
          </a:prstGeom>
        </p:spPr>
      </p:pic>
      <p:sp>
        <p:nvSpPr>
          <p:cNvPr id="40" name="Text 27"/>
          <p:cNvSpPr/>
          <p:nvPr/>
        </p:nvSpPr>
        <p:spPr>
          <a:xfrm>
            <a:off x="7853855" y="2191652"/>
            <a:ext cx="861520" cy="243585"/>
          </a:xfrm>
          <a:prstGeom prst="rect">
            <a:avLst/>
          </a:prstGeom>
          <a:noFill/>
          <a:ln/>
        </p:spPr>
        <p:txBody>
          <a:bodyPr wrap="square" lIns="127508" tIns="68072" rIns="127508" bIns="68072" rtlCol="0" anchor="ctr">
            <a:spAutoFit/>
          </a:bodyPr>
          <a:lstStyle/>
          <a:p>
            <a:pPr marL="0" indent="0" algn="ctr">
              <a:lnSpc>
                <a:spcPts val="900"/>
              </a:lnSpc>
              <a:buNone/>
            </a:pPr>
            <a:r>
              <a:rPr lang="en-US" sz="674" dirty="0">
                <a:solidFill>
                  <a:srgbClr val="2C3E50"/>
                </a:solidFill>
              </a:rPr>
              <a:t>High</a:t>
            </a:r>
            <a:endParaRPr lang="en-US" sz="674" dirty="0"/>
          </a:p>
        </p:txBody>
      </p:sp>
      <p:sp>
        <p:nvSpPr>
          <p:cNvPr id="41" name="Text 28"/>
          <p:cNvSpPr/>
          <p:nvPr/>
        </p:nvSpPr>
        <p:spPr>
          <a:xfrm>
            <a:off x="428625" y="2435237"/>
            <a:ext cx="1852519" cy="243585"/>
          </a:xfrm>
          <a:prstGeom prst="rect">
            <a:avLst/>
          </a:prstGeom>
          <a:noFill/>
          <a:ln/>
        </p:spPr>
        <p:txBody>
          <a:bodyPr wrap="square" lIns="127508" tIns="68072" rIns="127508" bIns="68072" rtlCol="0" anchor="ctr">
            <a:spAutoFit/>
          </a:bodyPr>
          <a:lstStyle/>
          <a:p>
            <a:pPr marL="0" indent="0" algn="l">
              <a:lnSpc>
                <a:spcPts val="900"/>
              </a:lnSpc>
              <a:buNone/>
            </a:pPr>
            <a:r>
              <a:rPr lang="en-US" sz="634" b="1" dirty="0">
                <a:solidFill>
                  <a:srgbClr val="E67E22"/>
                </a:solidFill>
              </a:rPr>
              <a:t>Demand Predictor (AI)</a:t>
            </a:r>
            <a:endParaRPr lang="en-US" sz="634" dirty="0"/>
          </a:p>
        </p:txBody>
      </p:sp>
      <p:sp>
        <p:nvSpPr>
          <p:cNvPr id="42" name="Text 29"/>
          <p:cNvSpPr/>
          <p:nvPr/>
        </p:nvSpPr>
        <p:spPr>
          <a:xfrm>
            <a:off x="2281144" y="2435237"/>
            <a:ext cx="2845361" cy="243585"/>
          </a:xfrm>
          <a:prstGeom prst="rect">
            <a:avLst/>
          </a:prstGeom>
          <a:noFill/>
          <a:ln/>
        </p:spPr>
        <p:txBody>
          <a:bodyPr wrap="square" lIns="127508" tIns="68072" rIns="127508" bIns="68072" rtlCol="0" anchor="ctr">
            <a:spAutoFit/>
          </a:bodyPr>
          <a:lstStyle/>
          <a:p>
            <a:pPr marL="0" indent="0" algn="l">
              <a:lnSpc>
                <a:spcPts val="900"/>
              </a:lnSpc>
              <a:buNone/>
            </a:pPr>
            <a:r>
              <a:rPr lang="en-US" sz="674" dirty="0">
                <a:solidFill>
                  <a:srgbClr val="2C3E50"/>
                </a:solidFill>
              </a:rPr>
              <a:t>Forecast high-demand books by season/course</a:t>
            </a:r>
            <a:endParaRPr lang="en-US" sz="674" dirty="0"/>
          </a:p>
        </p:txBody>
      </p:sp>
      <p:pic>
        <p:nvPicPr>
          <p:cNvPr id="43" name="Image 11" descr="preencoded.png"/>
          <p:cNvPicPr>
            <a:picLocks noChangeAspect="1"/>
          </p:cNvPicPr>
          <p:nvPr/>
        </p:nvPicPr>
        <p:blipFill>
          <a:blip r:embed="rId12"/>
          <a:stretch>
            <a:fillRect/>
          </a:stretch>
        </p:blipFill>
        <p:spPr>
          <a:xfrm>
            <a:off x="5769080" y="2495959"/>
            <a:ext cx="71438" cy="114300"/>
          </a:xfrm>
          <a:prstGeom prst="rect">
            <a:avLst/>
          </a:prstGeom>
        </p:spPr>
      </p:pic>
      <p:pic>
        <p:nvPicPr>
          <p:cNvPr id="44" name="Image 12" descr="preencoded.png"/>
          <p:cNvPicPr>
            <a:picLocks noChangeAspect="1"/>
          </p:cNvPicPr>
          <p:nvPr/>
        </p:nvPicPr>
        <p:blipFill>
          <a:blip r:embed="rId13"/>
          <a:stretch>
            <a:fillRect/>
          </a:stretch>
        </p:blipFill>
        <p:spPr>
          <a:xfrm>
            <a:off x="7111324" y="2495959"/>
            <a:ext cx="114300" cy="114300"/>
          </a:xfrm>
          <a:prstGeom prst="rect">
            <a:avLst/>
          </a:prstGeom>
        </p:spPr>
      </p:pic>
      <p:sp>
        <p:nvSpPr>
          <p:cNvPr id="45" name="Text 30"/>
          <p:cNvSpPr/>
          <p:nvPr/>
        </p:nvSpPr>
        <p:spPr>
          <a:xfrm>
            <a:off x="7853855" y="2435237"/>
            <a:ext cx="861520" cy="243585"/>
          </a:xfrm>
          <a:prstGeom prst="rect">
            <a:avLst/>
          </a:prstGeom>
          <a:noFill/>
          <a:ln/>
        </p:spPr>
        <p:txBody>
          <a:bodyPr wrap="square" lIns="127508" tIns="68072" rIns="127508" bIns="68072" rtlCol="0" anchor="ctr">
            <a:spAutoFit/>
          </a:bodyPr>
          <a:lstStyle/>
          <a:p>
            <a:pPr marL="0" indent="0" algn="ctr">
              <a:lnSpc>
                <a:spcPts val="900"/>
              </a:lnSpc>
              <a:buNone/>
            </a:pPr>
            <a:r>
              <a:rPr lang="en-US" sz="674" dirty="0">
                <a:solidFill>
                  <a:srgbClr val="2C3E50"/>
                </a:solidFill>
              </a:rPr>
              <a:t>High</a:t>
            </a:r>
            <a:endParaRPr lang="en-US" sz="674" dirty="0"/>
          </a:p>
        </p:txBody>
      </p:sp>
      <p:sp>
        <p:nvSpPr>
          <p:cNvPr id="46" name="Shape 31"/>
          <p:cNvSpPr/>
          <p:nvPr/>
        </p:nvSpPr>
        <p:spPr>
          <a:xfrm>
            <a:off x="428625" y="2678823"/>
            <a:ext cx="8286750" cy="243585"/>
          </a:xfrm>
          <a:prstGeom prst="rect">
            <a:avLst/>
          </a:prstGeom>
          <a:solidFill>
            <a:srgbClr val="F9F9F9"/>
          </a:solidFill>
          <a:ln/>
        </p:spPr>
        <p:txBody>
          <a:bodyPr/>
          <a:lstStyle/>
          <a:p>
            <a:endParaRPr lang="en-IN"/>
          </a:p>
        </p:txBody>
      </p:sp>
      <p:sp>
        <p:nvSpPr>
          <p:cNvPr id="47" name="Text 32"/>
          <p:cNvSpPr/>
          <p:nvPr/>
        </p:nvSpPr>
        <p:spPr>
          <a:xfrm>
            <a:off x="428625" y="2678823"/>
            <a:ext cx="1852519" cy="243585"/>
          </a:xfrm>
          <a:prstGeom prst="rect">
            <a:avLst/>
          </a:prstGeom>
          <a:noFill/>
          <a:ln/>
        </p:spPr>
        <p:txBody>
          <a:bodyPr wrap="square" lIns="127508" tIns="68072" rIns="127508" bIns="68072" rtlCol="0" anchor="ctr">
            <a:spAutoFit/>
          </a:bodyPr>
          <a:lstStyle/>
          <a:p>
            <a:pPr marL="0" indent="0" algn="l">
              <a:lnSpc>
                <a:spcPts val="900"/>
              </a:lnSpc>
              <a:buNone/>
            </a:pPr>
            <a:r>
              <a:rPr lang="en-US" sz="634" b="1" dirty="0">
                <a:solidFill>
                  <a:srgbClr val="E67E22"/>
                </a:solidFill>
              </a:rPr>
              <a:t>AR Shelf Navigator</a:t>
            </a:r>
            <a:endParaRPr lang="en-US" sz="634" dirty="0"/>
          </a:p>
        </p:txBody>
      </p:sp>
      <p:sp>
        <p:nvSpPr>
          <p:cNvPr id="48" name="Text 33"/>
          <p:cNvSpPr/>
          <p:nvPr/>
        </p:nvSpPr>
        <p:spPr>
          <a:xfrm>
            <a:off x="2281144" y="2678823"/>
            <a:ext cx="2845361" cy="243585"/>
          </a:xfrm>
          <a:prstGeom prst="rect">
            <a:avLst/>
          </a:prstGeom>
          <a:noFill/>
          <a:ln/>
        </p:spPr>
        <p:txBody>
          <a:bodyPr wrap="square" lIns="127508" tIns="68072" rIns="127508" bIns="68072" rtlCol="0" anchor="ctr">
            <a:spAutoFit/>
          </a:bodyPr>
          <a:lstStyle/>
          <a:p>
            <a:pPr marL="0" indent="0" algn="l">
              <a:lnSpc>
                <a:spcPts val="900"/>
              </a:lnSpc>
              <a:buNone/>
            </a:pPr>
            <a:r>
              <a:rPr lang="en-US" sz="674" dirty="0">
                <a:solidFill>
                  <a:srgbClr val="2C3E50"/>
                </a:solidFill>
              </a:rPr>
              <a:t>Mobile AR to locate books on shelves</a:t>
            </a:r>
            <a:endParaRPr lang="en-US" sz="674" dirty="0"/>
          </a:p>
        </p:txBody>
      </p:sp>
      <p:pic>
        <p:nvPicPr>
          <p:cNvPr id="49" name="Image 13" descr="preencoded.png"/>
          <p:cNvPicPr>
            <a:picLocks noChangeAspect="1"/>
          </p:cNvPicPr>
          <p:nvPr/>
        </p:nvPicPr>
        <p:blipFill>
          <a:blip r:embed="rId12"/>
          <a:stretch>
            <a:fillRect/>
          </a:stretch>
        </p:blipFill>
        <p:spPr>
          <a:xfrm>
            <a:off x="5769080" y="2739544"/>
            <a:ext cx="71438" cy="114300"/>
          </a:xfrm>
          <a:prstGeom prst="rect">
            <a:avLst/>
          </a:prstGeom>
        </p:spPr>
      </p:pic>
      <p:pic>
        <p:nvPicPr>
          <p:cNvPr id="50" name="Image 14" descr="preencoded.png"/>
          <p:cNvPicPr>
            <a:picLocks noChangeAspect="1"/>
          </p:cNvPicPr>
          <p:nvPr/>
        </p:nvPicPr>
        <p:blipFill>
          <a:blip r:embed="rId13"/>
          <a:stretch>
            <a:fillRect/>
          </a:stretch>
        </p:blipFill>
        <p:spPr>
          <a:xfrm>
            <a:off x="7111324" y="2739544"/>
            <a:ext cx="114300" cy="114300"/>
          </a:xfrm>
          <a:prstGeom prst="rect">
            <a:avLst/>
          </a:prstGeom>
        </p:spPr>
      </p:pic>
      <p:sp>
        <p:nvSpPr>
          <p:cNvPr id="51" name="Text 34"/>
          <p:cNvSpPr/>
          <p:nvPr/>
        </p:nvSpPr>
        <p:spPr>
          <a:xfrm>
            <a:off x="7853855" y="2678823"/>
            <a:ext cx="861520" cy="243585"/>
          </a:xfrm>
          <a:prstGeom prst="rect">
            <a:avLst/>
          </a:prstGeom>
          <a:noFill/>
          <a:ln/>
        </p:spPr>
        <p:txBody>
          <a:bodyPr wrap="square" lIns="127508" tIns="68072" rIns="127508" bIns="68072" rtlCol="0" anchor="ctr">
            <a:spAutoFit/>
          </a:bodyPr>
          <a:lstStyle/>
          <a:p>
            <a:pPr marL="0" indent="0" algn="ctr">
              <a:lnSpc>
                <a:spcPts val="900"/>
              </a:lnSpc>
              <a:buNone/>
            </a:pPr>
            <a:r>
              <a:rPr lang="en-US" sz="674" dirty="0">
                <a:solidFill>
                  <a:srgbClr val="2C3E50"/>
                </a:solidFill>
              </a:rPr>
              <a:t>Medium</a:t>
            </a:r>
            <a:endParaRPr lang="en-US" sz="674" dirty="0"/>
          </a:p>
        </p:txBody>
      </p:sp>
      <p:sp>
        <p:nvSpPr>
          <p:cNvPr id="52" name="Text 35"/>
          <p:cNvSpPr/>
          <p:nvPr/>
        </p:nvSpPr>
        <p:spPr>
          <a:xfrm>
            <a:off x="428625" y="2922408"/>
            <a:ext cx="1852519" cy="243585"/>
          </a:xfrm>
          <a:prstGeom prst="rect">
            <a:avLst/>
          </a:prstGeom>
          <a:noFill/>
          <a:ln/>
        </p:spPr>
        <p:txBody>
          <a:bodyPr wrap="square" lIns="127508" tIns="68072" rIns="127508" bIns="68072" rtlCol="0" anchor="ctr">
            <a:spAutoFit/>
          </a:bodyPr>
          <a:lstStyle/>
          <a:p>
            <a:pPr marL="0" indent="0" algn="l">
              <a:lnSpc>
                <a:spcPts val="900"/>
              </a:lnSpc>
              <a:buNone/>
            </a:pPr>
            <a:r>
              <a:rPr lang="en-US" sz="634" b="1" dirty="0">
                <a:solidFill>
                  <a:srgbClr val="E67E22"/>
                </a:solidFill>
              </a:rPr>
              <a:t>Semantic / NLP Search</a:t>
            </a:r>
            <a:endParaRPr lang="en-US" sz="634" dirty="0"/>
          </a:p>
        </p:txBody>
      </p:sp>
      <p:sp>
        <p:nvSpPr>
          <p:cNvPr id="53" name="Text 36"/>
          <p:cNvSpPr/>
          <p:nvPr/>
        </p:nvSpPr>
        <p:spPr>
          <a:xfrm>
            <a:off x="2281144" y="2922408"/>
            <a:ext cx="2845361" cy="243585"/>
          </a:xfrm>
          <a:prstGeom prst="rect">
            <a:avLst/>
          </a:prstGeom>
          <a:noFill/>
          <a:ln/>
        </p:spPr>
        <p:txBody>
          <a:bodyPr wrap="square" lIns="127508" tIns="68072" rIns="127508" bIns="68072" rtlCol="0" anchor="ctr">
            <a:spAutoFit/>
          </a:bodyPr>
          <a:lstStyle/>
          <a:p>
            <a:pPr marL="0" indent="0" algn="l">
              <a:lnSpc>
                <a:spcPts val="900"/>
              </a:lnSpc>
              <a:buNone/>
            </a:pPr>
            <a:r>
              <a:rPr lang="en-US" sz="674" dirty="0">
                <a:solidFill>
                  <a:srgbClr val="2C3E50"/>
                </a:solidFill>
              </a:rPr>
              <a:t>Topic-cluster based book discovery</a:t>
            </a:r>
            <a:endParaRPr lang="en-US" sz="674" dirty="0"/>
          </a:p>
        </p:txBody>
      </p:sp>
      <p:pic>
        <p:nvPicPr>
          <p:cNvPr id="54" name="Image 15" descr="preencoded.png"/>
          <p:cNvPicPr>
            <a:picLocks noChangeAspect="1"/>
          </p:cNvPicPr>
          <p:nvPr/>
        </p:nvPicPr>
        <p:blipFill>
          <a:blip r:embed="rId12"/>
          <a:stretch>
            <a:fillRect/>
          </a:stretch>
        </p:blipFill>
        <p:spPr>
          <a:xfrm>
            <a:off x="5769080" y="2983130"/>
            <a:ext cx="71438" cy="114300"/>
          </a:xfrm>
          <a:prstGeom prst="rect">
            <a:avLst/>
          </a:prstGeom>
        </p:spPr>
      </p:pic>
      <p:pic>
        <p:nvPicPr>
          <p:cNvPr id="55" name="Image 16" descr="preencoded.png"/>
          <p:cNvPicPr>
            <a:picLocks noChangeAspect="1"/>
          </p:cNvPicPr>
          <p:nvPr/>
        </p:nvPicPr>
        <p:blipFill>
          <a:blip r:embed="rId13"/>
          <a:stretch>
            <a:fillRect/>
          </a:stretch>
        </p:blipFill>
        <p:spPr>
          <a:xfrm>
            <a:off x="7111324" y="2983130"/>
            <a:ext cx="114300" cy="114300"/>
          </a:xfrm>
          <a:prstGeom prst="rect">
            <a:avLst/>
          </a:prstGeom>
        </p:spPr>
      </p:pic>
      <p:sp>
        <p:nvSpPr>
          <p:cNvPr id="56" name="Text 37"/>
          <p:cNvSpPr/>
          <p:nvPr/>
        </p:nvSpPr>
        <p:spPr>
          <a:xfrm>
            <a:off x="7853855" y="2922408"/>
            <a:ext cx="861520" cy="243585"/>
          </a:xfrm>
          <a:prstGeom prst="rect">
            <a:avLst/>
          </a:prstGeom>
          <a:noFill/>
          <a:ln/>
        </p:spPr>
        <p:txBody>
          <a:bodyPr wrap="square" lIns="127508" tIns="68072" rIns="127508" bIns="68072" rtlCol="0" anchor="ctr">
            <a:spAutoFit/>
          </a:bodyPr>
          <a:lstStyle/>
          <a:p>
            <a:pPr marL="0" indent="0" algn="ctr">
              <a:lnSpc>
                <a:spcPts val="900"/>
              </a:lnSpc>
              <a:buNone/>
            </a:pPr>
            <a:r>
              <a:rPr lang="en-US" sz="674" dirty="0">
                <a:solidFill>
                  <a:srgbClr val="2C3E50"/>
                </a:solidFill>
              </a:rPr>
              <a:t>High</a:t>
            </a:r>
            <a:endParaRPr lang="en-US" sz="674" dirty="0"/>
          </a:p>
        </p:txBody>
      </p:sp>
      <p:sp>
        <p:nvSpPr>
          <p:cNvPr id="57" name="Shape 38"/>
          <p:cNvSpPr/>
          <p:nvPr/>
        </p:nvSpPr>
        <p:spPr>
          <a:xfrm>
            <a:off x="428625" y="3165993"/>
            <a:ext cx="8286750" cy="243585"/>
          </a:xfrm>
          <a:prstGeom prst="rect">
            <a:avLst/>
          </a:prstGeom>
          <a:solidFill>
            <a:srgbClr val="F9F9F9"/>
          </a:solidFill>
          <a:ln/>
        </p:spPr>
        <p:txBody>
          <a:bodyPr/>
          <a:lstStyle/>
          <a:p>
            <a:endParaRPr lang="en-IN"/>
          </a:p>
        </p:txBody>
      </p:sp>
      <p:sp>
        <p:nvSpPr>
          <p:cNvPr id="58" name="Text 39"/>
          <p:cNvSpPr/>
          <p:nvPr/>
        </p:nvSpPr>
        <p:spPr>
          <a:xfrm>
            <a:off x="428625" y="3165993"/>
            <a:ext cx="1852519" cy="243585"/>
          </a:xfrm>
          <a:prstGeom prst="rect">
            <a:avLst/>
          </a:prstGeom>
          <a:noFill/>
          <a:ln/>
        </p:spPr>
        <p:txBody>
          <a:bodyPr wrap="square" lIns="127508" tIns="68072" rIns="127508" bIns="68072" rtlCol="0" anchor="ctr">
            <a:spAutoFit/>
          </a:bodyPr>
          <a:lstStyle/>
          <a:p>
            <a:pPr marL="0" indent="0" algn="l">
              <a:lnSpc>
                <a:spcPts val="900"/>
              </a:lnSpc>
              <a:buNone/>
            </a:pPr>
            <a:r>
              <a:rPr lang="en-US" sz="634" b="1" dirty="0">
                <a:solidFill>
                  <a:srgbClr val="E67E22"/>
                </a:solidFill>
              </a:rPr>
              <a:t>AI Research Helper</a:t>
            </a:r>
            <a:endParaRPr lang="en-US" sz="634" dirty="0"/>
          </a:p>
        </p:txBody>
      </p:sp>
      <p:sp>
        <p:nvSpPr>
          <p:cNvPr id="59" name="Text 40"/>
          <p:cNvSpPr/>
          <p:nvPr/>
        </p:nvSpPr>
        <p:spPr>
          <a:xfrm>
            <a:off x="2281144" y="3165993"/>
            <a:ext cx="2845361" cy="243585"/>
          </a:xfrm>
          <a:prstGeom prst="rect">
            <a:avLst/>
          </a:prstGeom>
          <a:noFill/>
          <a:ln/>
        </p:spPr>
        <p:txBody>
          <a:bodyPr wrap="square" lIns="127508" tIns="68072" rIns="127508" bIns="68072" rtlCol="0" anchor="ctr">
            <a:spAutoFit/>
          </a:bodyPr>
          <a:lstStyle/>
          <a:p>
            <a:pPr marL="0" indent="0" algn="l">
              <a:lnSpc>
                <a:spcPts val="900"/>
              </a:lnSpc>
              <a:buNone/>
            </a:pPr>
            <a:r>
              <a:rPr lang="en-US" sz="674" dirty="0">
                <a:solidFill>
                  <a:srgbClr val="2C3E50"/>
                </a:solidFill>
              </a:rPr>
              <a:t>AI chatbot for research guidance &amp; strategy</a:t>
            </a:r>
            <a:endParaRPr lang="en-US" sz="674" dirty="0"/>
          </a:p>
        </p:txBody>
      </p:sp>
      <p:pic>
        <p:nvPicPr>
          <p:cNvPr id="60" name="Image 17" descr="preencoded.png"/>
          <p:cNvPicPr>
            <a:picLocks noChangeAspect="1"/>
          </p:cNvPicPr>
          <p:nvPr/>
        </p:nvPicPr>
        <p:blipFill>
          <a:blip r:embed="rId14"/>
          <a:stretch>
            <a:fillRect/>
          </a:stretch>
        </p:blipFill>
        <p:spPr>
          <a:xfrm>
            <a:off x="5769080" y="3226715"/>
            <a:ext cx="71438" cy="114300"/>
          </a:xfrm>
          <a:prstGeom prst="rect">
            <a:avLst/>
          </a:prstGeom>
        </p:spPr>
      </p:pic>
      <p:pic>
        <p:nvPicPr>
          <p:cNvPr id="61" name="Image 18" descr="preencoded.png"/>
          <p:cNvPicPr>
            <a:picLocks noChangeAspect="1"/>
          </p:cNvPicPr>
          <p:nvPr/>
        </p:nvPicPr>
        <p:blipFill>
          <a:blip r:embed="rId15"/>
          <a:stretch>
            <a:fillRect/>
          </a:stretch>
        </p:blipFill>
        <p:spPr>
          <a:xfrm>
            <a:off x="7111324" y="3226715"/>
            <a:ext cx="114300" cy="114300"/>
          </a:xfrm>
          <a:prstGeom prst="rect">
            <a:avLst/>
          </a:prstGeom>
        </p:spPr>
      </p:pic>
      <p:sp>
        <p:nvSpPr>
          <p:cNvPr id="62" name="Text 41"/>
          <p:cNvSpPr/>
          <p:nvPr/>
        </p:nvSpPr>
        <p:spPr>
          <a:xfrm>
            <a:off x="7853855" y="3165993"/>
            <a:ext cx="861520" cy="243585"/>
          </a:xfrm>
          <a:prstGeom prst="rect">
            <a:avLst/>
          </a:prstGeom>
          <a:noFill/>
          <a:ln/>
        </p:spPr>
        <p:txBody>
          <a:bodyPr wrap="square" lIns="127508" tIns="68072" rIns="127508" bIns="68072" rtlCol="0" anchor="ctr">
            <a:spAutoFit/>
          </a:bodyPr>
          <a:lstStyle/>
          <a:p>
            <a:pPr marL="0" indent="0" algn="ctr">
              <a:lnSpc>
                <a:spcPts val="900"/>
              </a:lnSpc>
              <a:buNone/>
            </a:pPr>
            <a:r>
              <a:rPr lang="en-US" sz="674" dirty="0">
                <a:solidFill>
                  <a:srgbClr val="2C3E50"/>
                </a:solidFill>
              </a:rPr>
              <a:t>High</a:t>
            </a:r>
            <a:endParaRPr lang="en-US" sz="674" dirty="0"/>
          </a:p>
        </p:txBody>
      </p:sp>
      <p:sp>
        <p:nvSpPr>
          <p:cNvPr id="63" name="Text 42"/>
          <p:cNvSpPr/>
          <p:nvPr/>
        </p:nvSpPr>
        <p:spPr>
          <a:xfrm>
            <a:off x="428625" y="3409578"/>
            <a:ext cx="1852519" cy="243585"/>
          </a:xfrm>
          <a:prstGeom prst="rect">
            <a:avLst/>
          </a:prstGeom>
          <a:noFill/>
          <a:ln/>
        </p:spPr>
        <p:txBody>
          <a:bodyPr wrap="square" lIns="127508" tIns="68072" rIns="127508" bIns="68072" rtlCol="0" anchor="ctr">
            <a:spAutoFit/>
          </a:bodyPr>
          <a:lstStyle/>
          <a:p>
            <a:pPr marL="0" indent="0" algn="l">
              <a:lnSpc>
                <a:spcPts val="900"/>
              </a:lnSpc>
              <a:buNone/>
            </a:pPr>
            <a:r>
              <a:rPr lang="en-US" sz="634" b="1" dirty="0">
                <a:solidFill>
                  <a:srgbClr val="E67E22"/>
                </a:solidFill>
              </a:rPr>
              <a:t>Research Tracker</a:t>
            </a:r>
            <a:endParaRPr lang="en-US" sz="634" dirty="0"/>
          </a:p>
        </p:txBody>
      </p:sp>
      <p:sp>
        <p:nvSpPr>
          <p:cNvPr id="64" name="Text 43"/>
          <p:cNvSpPr/>
          <p:nvPr/>
        </p:nvSpPr>
        <p:spPr>
          <a:xfrm>
            <a:off x="2281144" y="3409578"/>
            <a:ext cx="2845361" cy="243585"/>
          </a:xfrm>
          <a:prstGeom prst="rect">
            <a:avLst/>
          </a:prstGeom>
          <a:noFill/>
          <a:ln/>
        </p:spPr>
        <p:txBody>
          <a:bodyPr wrap="square" lIns="127508" tIns="68072" rIns="127508" bIns="68072" rtlCol="0" anchor="ctr">
            <a:spAutoFit/>
          </a:bodyPr>
          <a:lstStyle/>
          <a:p>
            <a:pPr marL="0" indent="0" algn="l">
              <a:lnSpc>
                <a:spcPts val="900"/>
              </a:lnSpc>
              <a:buNone/>
            </a:pPr>
            <a:r>
              <a:rPr lang="en-US" sz="674" dirty="0">
                <a:solidFill>
                  <a:srgbClr val="2C3E50"/>
                </a:solidFill>
              </a:rPr>
              <a:t>Milestone-based research progress tracker</a:t>
            </a:r>
            <a:endParaRPr lang="en-US" sz="674" dirty="0"/>
          </a:p>
        </p:txBody>
      </p:sp>
      <p:pic>
        <p:nvPicPr>
          <p:cNvPr id="65" name="Image 19" descr="preencoded.png"/>
          <p:cNvPicPr>
            <a:picLocks noChangeAspect="1"/>
          </p:cNvPicPr>
          <p:nvPr/>
        </p:nvPicPr>
        <p:blipFill>
          <a:blip r:embed="rId14"/>
          <a:stretch>
            <a:fillRect/>
          </a:stretch>
        </p:blipFill>
        <p:spPr>
          <a:xfrm>
            <a:off x="5769080" y="3470300"/>
            <a:ext cx="71438" cy="114300"/>
          </a:xfrm>
          <a:prstGeom prst="rect">
            <a:avLst/>
          </a:prstGeom>
        </p:spPr>
      </p:pic>
      <p:pic>
        <p:nvPicPr>
          <p:cNvPr id="66" name="Image 20" descr="preencoded.png"/>
          <p:cNvPicPr>
            <a:picLocks noChangeAspect="1"/>
          </p:cNvPicPr>
          <p:nvPr/>
        </p:nvPicPr>
        <p:blipFill>
          <a:blip r:embed="rId15"/>
          <a:stretch>
            <a:fillRect/>
          </a:stretch>
        </p:blipFill>
        <p:spPr>
          <a:xfrm>
            <a:off x="7111324" y="3470300"/>
            <a:ext cx="114300" cy="114300"/>
          </a:xfrm>
          <a:prstGeom prst="rect">
            <a:avLst/>
          </a:prstGeom>
        </p:spPr>
      </p:pic>
      <p:sp>
        <p:nvSpPr>
          <p:cNvPr id="67" name="Text 44"/>
          <p:cNvSpPr/>
          <p:nvPr/>
        </p:nvSpPr>
        <p:spPr>
          <a:xfrm>
            <a:off x="7853855" y="3409578"/>
            <a:ext cx="861520" cy="243585"/>
          </a:xfrm>
          <a:prstGeom prst="rect">
            <a:avLst/>
          </a:prstGeom>
          <a:noFill/>
          <a:ln/>
        </p:spPr>
        <p:txBody>
          <a:bodyPr wrap="square" lIns="127508" tIns="68072" rIns="127508" bIns="68072" rtlCol="0" anchor="ctr">
            <a:spAutoFit/>
          </a:bodyPr>
          <a:lstStyle/>
          <a:p>
            <a:pPr marL="0" indent="0" algn="ctr">
              <a:lnSpc>
                <a:spcPts val="900"/>
              </a:lnSpc>
              <a:buNone/>
            </a:pPr>
            <a:r>
              <a:rPr lang="en-US" sz="674" dirty="0">
                <a:solidFill>
                  <a:srgbClr val="2C3E50"/>
                </a:solidFill>
              </a:rPr>
              <a:t>Medium</a:t>
            </a:r>
            <a:endParaRPr lang="en-US" sz="674" dirty="0"/>
          </a:p>
        </p:txBody>
      </p:sp>
      <p:sp>
        <p:nvSpPr>
          <p:cNvPr id="68" name="Shape 45"/>
          <p:cNvSpPr/>
          <p:nvPr/>
        </p:nvSpPr>
        <p:spPr>
          <a:xfrm>
            <a:off x="428625" y="3653163"/>
            <a:ext cx="8286750" cy="243585"/>
          </a:xfrm>
          <a:prstGeom prst="rect">
            <a:avLst/>
          </a:prstGeom>
          <a:solidFill>
            <a:srgbClr val="F9F9F9"/>
          </a:solidFill>
          <a:ln/>
        </p:spPr>
        <p:txBody>
          <a:bodyPr/>
          <a:lstStyle/>
          <a:p>
            <a:endParaRPr lang="en-IN"/>
          </a:p>
        </p:txBody>
      </p:sp>
      <p:sp>
        <p:nvSpPr>
          <p:cNvPr id="69" name="Text 46"/>
          <p:cNvSpPr/>
          <p:nvPr/>
        </p:nvSpPr>
        <p:spPr>
          <a:xfrm>
            <a:off x="428625" y="3653163"/>
            <a:ext cx="1852519" cy="243585"/>
          </a:xfrm>
          <a:prstGeom prst="rect">
            <a:avLst/>
          </a:prstGeom>
          <a:noFill/>
          <a:ln/>
        </p:spPr>
        <p:txBody>
          <a:bodyPr wrap="square" lIns="127508" tIns="68072" rIns="127508" bIns="68072" rtlCol="0" anchor="ctr">
            <a:spAutoFit/>
          </a:bodyPr>
          <a:lstStyle/>
          <a:p>
            <a:pPr marL="0" indent="0" algn="l">
              <a:lnSpc>
                <a:spcPts val="900"/>
              </a:lnSpc>
              <a:buNone/>
            </a:pPr>
            <a:r>
              <a:rPr lang="en-US" sz="634" b="1" dirty="0">
                <a:solidFill>
                  <a:srgbClr val="E67E22"/>
                </a:solidFill>
              </a:rPr>
              <a:t>Usage Analytics Dashboard</a:t>
            </a:r>
            <a:endParaRPr lang="en-US" sz="634" dirty="0"/>
          </a:p>
        </p:txBody>
      </p:sp>
      <p:sp>
        <p:nvSpPr>
          <p:cNvPr id="70" name="Text 47"/>
          <p:cNvSpPr/>
          <p:nvPr/>
        </p:nvSpPr>
        <p:spPr>
          <a:xfrm>
            <a:off x="2281144" y="3653163"/>
            <a:ext cx="2845361" cy="243585"/>
          </a:xfrm>
          <a:prstGeom prst="rect">
            <a:avLst/>
          </a:prstGeom>
          <a:noFill/>
          <a:ln/>
        </p:spPr>
        <p:txBody>
          <a:bodyPr wrap="square" lIns="127508" tIns="68072" rIns="127508" bIns="68072" rtlCol="0" anchor="ctr">
            <a:spAutoFit/>
          </a:bodyPr>
          <a:lstStyle/>
          <a:p>
            <a:pPr marL="0" indent="0" algn="l">
              <a:lnSpc>
                <a:spcPts val="900"/>
              </a:lnSpc>
              <a:buNone/>
            </a:pPr>
            <a:r>
              <a:rPr lang="en-US" sz="674" dirty="0">
                <a:solidFill>
                  <a:srgbClr val="2C3E50"/>
                </a:solidFill>
              </a:rPr>
              <a:t>Visual insights on trends &amp; popular resources</a:t>
            </a:r>
            <a:endParaRPr lang="en-US" sz="674" dirty="0"/>
          </a:p>
        </p:txBody>
      </p:sp>
      <p:pic>
        <p:nvPicPr>
          <p:cNvPr id="71" name="Image 21" descr="preencoded.png"/>
          <p:cNvPicPr>
            <a:picLocks noChangeAspect="1"/>
          </p:cNvPicPr>
          <p:nvPr/>
        </p:nvPicPr>
        <p:blipFill>
          <a:blip r:embed="rId16"/>
          <a:stretch>
            <a:fillRect/>
          </a:stretch>
        </p:blipFill>
        <p:spPr>
          <a:xfrm>
            <a:off x="5769080" y="3713885"/>
            <a:ext cx="71438" cy="114300"/>
          </a:xfrm>
          <a:prstGeom prst="rect">
            <a:avLst/>
          </a:prstGeom>
        </p:spPr>
      </p:pic>
      <p:pic>
        <p:nvPicPr>
          <p:cNvPr id="72" name="Image 22" descr="preencoded.png"/>
          <p:cNvPicPr>
            <a:picLocks noChangeAspect="1"/>
          </p:cNvPicPr>
          <p:nvPr/>
        </p:nvPicPr>
        <p:blipFill>
          <a:blip r:embed="rId17"/>
          <a:stretch>
            <a:fillRect/>
          </a:stretch>
        </p:blipFill>
        <p:spPr>
          <a:xfrm>
            <a:off x="7111324" y="3713885"/>
            <a:ext cx="114300" cy="114300"/>
          </a:xfrm>
          <a:prstGeom prst="rect">
            <a:avLst/>
          </a:prstGeom>
        </p:spPr>
      </p:pic>
      <p:sp>
        <p:nvSpPr>
          <p:cNvPr id="73" name="Text 48"/>
          <p:cNvSpPr/>
          <p:nvPr/>
        </p:nvSpPr>
        <p:spPr>
          <a:xfrm>
            <a:off x="7853855" y="3653163"/>
            <a:ext cx="861520" cy="243585"/>
          </a:xfrm>
          <a:prstGeom prst="rect">
            <a:avLst/>
          </a:prstGeom>
          <a:noFill/>
          <a:ln/>
        </p:spPr>
        <p:txBody>
          <a:bodyPr wrap="square" lIns="127508" tIns="68072" rIns="127508" bIns="68072" rtlCol="0" anchor="ctr">
            <a:spAutoFit/>
          </a:bodyPr>
          <a:lstStyle/>
          <a:p>
            <a:pPr marL="0" indent="0" algn="ctr">
              <a:lnSpc>
                <a:spcPts val="900"/>
              </a:lnSpc>
              <a:buNone/>
            </a:pPr>
            <a:r>
              <a:rPr lang="en-US" sz="674" dirty="0">
                <a:solidFill>
                  <a:srgbClr val="2C3E50"/>
                </a:solidFill>
              </a:rPr>
              <a:t>Medium</a:t>
            </a:r>
            <a:endParaRPr lang="en-US" sz="674" dirty="0"/>
          </a:p>
        </p:txBody>
      </p:sp>
      <p:sp>
        <p:nvSpPr>
          <p:cNvPr id="74" name="Text 49"/>
          <p:cNvSpPr/>
          <p:nvPr/>
        </p:nvSpPr>
        <p:spPr>
          <a:xfrm>
            <a:off x="428625" y="3896748"/>
            <a:ext cx="1852519" cy="243585"/>
          </a:xfrm>
          <a:prstGeom prst="rect">
            <a:avLst/>
          </a:prstGeom>
          <a:noFill/>
          <a:ln/>
        </p:spPr>
        <p:txBody>
          <a:bodyPr wrap="square" lIns="127508" tIns="68072" rIns="127508" bIns="68072" rtlCol="0" anchor="ctr">
            <a:spAutoFit/>
          </a:bodyPr>
          <a:lstStyle/>
          <a:p>
            <a:pPr marL="0" indent="0" algn="l">
              <a:lnSpc>
                <a:spcPts val="900"/>
              </a:lnSpc>
              <a:buNone/>
            </a:pPr>
            <a:r>
              <a:rPr lang="en-US" sz="634" b="1" dirty="0">
                <a:solidFill>
                  <a:srgbClr val="E67E22"/>
                </a:solidFill>
              </a:rPr>
              <a:t>Fine Clearance Module</a:t>
            </a:r>
            <a:endParaRPr lang="en-US" sz="634" dirty="0"/>
          </a:p>
        </p:txBody>
      </p:sp>
      <p:sp>
        <p:nvSpPr>
          <p:cNvPr id="75" name="Text 50"/>
          <p:cNvSpPr/>
          <p:nvPr/>
        </p:nvSpPr>
        <p:spPr>
          <a:xfrm>
            <a:off x="2281144" y="3896748"/>
            <a:ext cx="2845361" cy="243585"/>
          </a:xfrm>
          <a:prstGeom prst="rect">
            <a:avLst/>
          </a:prstGeom>
          <a:noFill/>
          <a:ln/>
        </p:spPr>
        <p:txBody>
          <a:bodyPr wrap="square" lIns="127508" tIns="68072" rIns="127508" bIns="68072" rtlCol="0" anchor="ctr">
            <a:spAutoFit/>
          </a:bodyPr>
          <a:lstStyle/>
          <a:p>
            <a:pPr marL="0" indent="0" algn="l">
              <a:lnSpc>
                <a:spcPts val="900"/>
              </a:lnSpc>
              <a:buNone/>
            </a:pPr>
            <a:r>
              <a:rPr lang="en-US" sz="674" dirty="0">
                <a:solidFill>
                  <a:srgbClr val="2C3E50"/>
                </a:solidFill>
              </a:rPr>
              <a:t>Librarian tool to verify &amp; override fines</a:t>
            </a:r>
            <a:endParaRPr lang="en-US" sz="674" dirty="0"/>
          </a:p>
        </p:txBody>
      </p:sp>
      <p:sp>
        <p:nvSpPr>
          <p:cNvPr id="76" name="Text 51"/>
          <p:cNvSpPr/>
          <p:nvPr/>
        </p:nvSpPr>
        <p:spPr>
          <a:xfrm>
            <a:off x="5126506" y="3896748"/>
            <a:ext cx="1356587" cy="243585"/>
          </a:xfrm>
          <a:prstGeom prst="rect">
            <a:avLst/>
          </a:prstGeom>
          <a:noFill/>
          <a:ln/>
        </p:spPr>
        <p:txBody>
          <a:bodyPr wrap="square" lIns="127508" tIns="68072" rIns="127508" bIns="68072" rtlCol="0" anchor="ctr">
            <a:spAutoFit/>
          </a:bodyPr>
          <a:lstStyle/>
          <a:p>
            <a:pPr marL="0" indent="0" algn="ctr">
              <a:lnSpc>
                <a:spcPts val="900"/>
              </a:lnSpc>
              <a:buNone/>
            </a:pPr>
            <a:r>
              <a:rPr lang="en-US" sz="674" dirty="0">
                <a:solidFill>
                  <a:srgbClr val="2C3E50"/>
                </a:solidFill>
              </a:rPr>
              <a:t>Partial</a:t>
            </a:r>
            <a:endParaRPr lang="en-US" sz="674" dirty="0"/>
          </a:p>
        </p:txBody>
      </p:sp>
      <p:pic>
        <p:nvPicPr>
          <p:cNvPr id="77" name="Image 23" descr="preencoded.png"/>
          <p:cNvPicPr>
            <a:picLocks noChangeAspect="1"/>
          </p:cNvPicPr>
          <p:nvPr/>
        </p:nvPicPr>
        <p:blipFill>
          <a:blip r:embed="rId17"/>
          <a:stretch>
            <a:fillRect/>
          </a:stretch>
        </p:blipFill>
        <p:spPr>
          <a:xfrm>
            <a:off x="7111324" y="3957470"/>
            <a:ext cx="114300" cy="114300"/>
          </a:xfrm>
          <a:prstGeom prst="rect">
            <a:avLst/>
          </a:prstGeom>
        </p:spPr>
      </p:pic>
      <p:sp>
        <p:nvSpPr>
          <p:cNvPr id="78" name="Text 52"/>
          <p:cNvSpPr/>
          <p:nvPr/>
        </p:nvSpPr>
        <p:spPr>
          <a:xfrm>
            <a:off x="7853855" y="3896748"/>
            <a:ext cx="861520" cy="243585"/>
          </a:xfrm>
          <a:prstGeom prst="rect">
            <a:avLst/>
          </a:prstGeom>
          <a:noFill/>
          <a:ln/>
        </p:spPr>
        <p:txBody>
          <a:bodyPr wrap="square" lIns="127508" tIns="68072" rIns="127508" bIns="68072" rtlCol="0" anchor="ctr">
            <a:spAutoFit/>
          </a:bodyPr>
          <a:lstStyle/>
          <a:p>
            <a:pPr marL="0" indent="0" algn="ctr">
              <a:lnSpc>
                <a:spcPts val="900"/>
              </a:lnSpc>
              <a:buNone/>
            </a:pPr>
            <a:r>
              <a:rPr lang="en-US" sz="674" dirty="0">
                <a:solidFill>
                  <a:srgbClr val="2C3E50"/>
                </a:solidFill>
              </a:rPr>
              <a:t>Medium</a:t>
            </a:r>
            <a:endParaRPr lang="en-US" sz="674" dirty="0"/>
          </a:p>
        </p:txBody>
      </p:sp>
      <p:sp>
        <p:nvSpPr>
          <p:cNvPr id="79" name="Shape 53"/>
          <p:cNvSpPr/>
          <p:nvPr/>
        </p:nvSpPr>
        <p:spPr>
          <a:xfrm>
            <a:off x="428625" y="4140333"/>
            <a:ext cx="8286750" cy="243585"/>
          </a:xfrm>
          <a:prstGeom prst="rect">
            <a:avLst/>
          </a:prstGeom>
          <a:solidFill>
            <a:srgbClr val="F9F9F9"/>
          </a:solidFill>
          <a:ln/>
        </p:spPr>
        <p:txBody>
          <a:bodyPr/>
          <a:lstStyle/>
          <a:p>
            <a:endParaRPr lang="en-IN"/>
          </a:p>
        </p:txBody>
      </p:sp>
      <p:sp>
        <p:nvSpPr>
          <p:cNvPr id="80" name="Text 54"/>
          <p:cNvSpPr/>
          <p:nvPr/>
        </p:nvSpPr>
        <p:spPr>
          <a:xfrm>
            <a:off x="428625" y="4140333"/>
            <a:ext cx="1852519" cy="243585"/>
          </a:xfrm>
          <a:prstGeom prst="rect">
            <a:avLst/>
          </a:prstGeom>
          <a:noFill/>
          <a:ln/>
        </p:spPr>
        <p:txBody>
          <a:bodyPr wrap="square" lIns="127508" tIns="68072" rIns="127508" bIns="68072" rtlCol="0" anchor="ctr">
            <a:spAutoFit/>
          </a:bodyPr>
          <a:lstStyle/>
          <a:p>
            <a:pPr marL="0" indent="0" algn="l">
              <a:lnSpc>
                <a:spcPts val="900"/>
              </a:lnSpc>
              <a:buNone/>
            </a:pPr>
            <a:r>
              <a:rPr lang="en-US" sz="634" b="1" dirty="0">
                <a:solidFill>
                  <a:srgbClr val="E67E22"/>
                </a:solidFill>
              </a:rPr>
              <a:t>Basic Book Catalog Search</a:t>
            </a:r>
            <a:endParaRPr lang="en-US" sz="634" dirty="0"/>
          </a:p>
        </p:txBody>
      </p:sp>
      <p:sp>
        <p:nvSpPr>
          <p:cNvPr id="81" name="Text 55"/>
          <p:cNvSpPr/>
          <p:nvPr/>
        </p:nvSpPr>
        <p:spPr>
          <a:xfrm>
            <a:off x="2281144" y="4140333"/>
            <a:ext cx="2845361" cy="243585"/>
          </a:xfrm>
          <a:prstGeom prst="rect">
            <a:avLst/>
          </a:prstGeom>
          <a:noFill/>
          <a:ln/>
        </p:spPr>
        <p:txBody>
          <a:bodyPr wrap="square" lIns="127508" tIns="68072" rIns="127508" bIns="68072" rtlCol="0" anchor="ctr">
            <a:spAutoFit/>
          </a:bodyPr>
          <a:lstStyle/>
          <a:p>
            <a:pPr marL="0" indent="0" algn="l">
              <a:lnSpc>
                <a:spcPts val="900"/>
              </a:lnSpc>
              <a:buNone/>
            </a:pPr>
            <a:r>
              <a:rPr lang="en-US" sz="674" dirty="0">
                <a:solidFill>
                  <a:srgbClr val="2C3E50"/>
                </a:solidFill>
              </a:rPr>
              <a:t>Search books by title/author/keyword</a:t>
            </a:r>
            <a:endParaRPr lang="en-US" sz="674" dirty="0"/>
          </a:p>
        </p:txBody>
      </p:sp>
      <p:pic>
        <p:nvPicPr>
          <p:cNvPr id="82" name="Image 24" descr="preencoded.png"/>
          <p:cNvPicPr>
            <a:picLocks noChangeAspect="1"/>
          </p:cNvPicPr>
          <p:nvPr/>
        </p:nvPicPr>
        <p:blipFill>
          <a:blip r:embed="rId9"/>
          <a:stretch>
            <a:fillRect/>
          </a:stretch>
        </p:blipFill>
        <p:spPr>
          <a:xfrm>
            <a:off x="5747649" y="4201055"/>
            <a:ext cx="114300" cy="114300"/>
          </a:xfrm>
          <a:prstGeom prst="rect">
            <a:avLst/>
          </a:prstGeom>
        </p:spPr>
      </p:pic>
      <p:pic>
        <p:nvPicPr>
          <p:cNvPr id="83" name="Image 25" descr="preencoded.png"/>
          <p:cNvPicPr>
            <a:picLocks noChangeAspect="1"/>
          </p:cNvPicPr>
          <p:nvPr/>
        </p:nvPicPr>
        <p:blipFill>
          <a:blip r:embed="rId9"/>
          <a:stretch>
            <a:fillRect/>
          </a:stretch>
        </p:blipFill>
        <p:spPr>
          <a:xfrm>
            <a:off x="7111324" y="4201055"/>
            <a:ext cx="114300" cy="114300"/>
          </a:xfrm>
          <a:prstGeom prst="rect">
            <a:avLst/>
          </a:prstGeom>
        </p:spPr>
      </p:pic>
      <p:sp>
        <p:nvSpPr>
          <p:cNvPr id="84" name="Text 56"/>
          <p:cNvSpPr/>
          <p:nvPr/>
        </p:nvSpPr>
        <p:spPr>
          <a:xfrm>
            <a:off x="7853855" y="4140333"/>
            <a:ext cx="861520" cy="243585"/>
          </a:xfrm>
          <a:prstGeom prst="rect">
            <a:avLst/>
          </a:prstGeom>
          <a:noFill/>
          <a:ln/>
        </p:spPr>
        <p:txBody>
          <a:bodyPr wrap="square" lIns="127508" tIns="68072" rIns="127508" bIns="68072" rtlCol="0" anchor="ctr">
            <a:spAutoFit/>
          </a:bodyPr>
          <a:lstStyle/>
          <a:p>
            <a:pPr marL="0" indent="0" algn="ctr">
              <a:lnSpc>
                <a:spcPts val="900"/>
              </a:lnSpc>
              <a:buNone/>
            </a:pPr>
            <a:r>
              <a:rPr lang="en-US" sz="674" dirty="0">
                <a:solidFill>
                  <a:srgbClr val="2C3E50"/>
                </a:solidFill>
              </a:rPr>
              <a:t>—</a:t>
            </a:r>
            <a:endParaRPr lang="en-US" sz="674" dirty="0"/>
          </a:p>
        </p:txBody>
      </p:sp>
      <p:sp>
        <p:nvSpPr>
          <p:cNvPr id="85" name="Shape 57"/>
          <p:cNvSpPr/>
          <p:nvPr/>
        </p:nvSpPr>
        <p:spPr>
          <a:xfrm>
            <a:off x="428625" y="4530365"/>
            <a:ext cx="8286750" cy="389334"/>
          </a:xfrm>
          <a:prstGeom prst="rect">
            <a:avLst/>
          </a:prstGeom>
          <a:solidFill>
            <a:srgbClr val="5DADE2"/>
          </a:solidFill>
          <a:ln/>
        </p:spPr>
        <p:txBody>
          <a:bodyPr/>
          <a:lstStyle/>
          <a:p>
            <a:endParaRPr lang="en-IN"/>
          </a:p>
        </p:txBody>
      </p:sp>
      <p:sp>
        <p:nvSpPr>
          <p:cNvPr id="86" name="Text 58"/>
          <p:cNvSpPr/>
          <p:nvPr/>
        </p:nvSpPr>
        <p:spPr>
          <a:xfrm>
            <a:off x="428625" y="4530365"/>
            <a:ext cx="8286750" cy="389334"/>
          </a:xfrm>
          <a:prstGeom prst="rect">
            <a:avLst/>
          </a:prstGeom>
          <a:noFill/>
          <a:ln/>
        </p:spPr>
        <p:txBody>
          <a:bodyPr wrap="square" lIns="170053" tIns="127508" rIns="170053" bIns="127508" rtlCol="0" anchor="t">
            <a:spAutoFit/>
          </a:bodyPr>
          <a:lstStyle/>
          <a:p>
            <a:pPr marL="0" indent="0" algn="ctr">
              <a:lnSpc>
                <a:spcPts val="1200"/>
              </a:lnSpc>
              <a:buNone/>
            </a:pPr>
            <a:r>
              <a:rPr lang="en-US" sz="885" b="1" dirty="0">
                <a:solidFill>
                  <a:srgbClr val="FFFFFF"/>
                </a:solidFill>
              </a:rPr>
              <a:t>LibConnect Pro introduces 10 new features + enhances 1 existing feature compared to the current Bell Library portal.</a:t>
            </a:r>
            <a:endParaRPr lang="en-US" sz="885"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428625" y="357188"/>
            <a:ext cx="2648908" cy="350044"/>
          </a:xfrm>
          <a:prstGeom prst="rect">
            <a:avLst/>
          </a:prstGeom>
          <a:noFill/>
          <a:ln/>
        </p:spPr>
        <p:txBody>
          <a:bodyPr wrap="none" lIns="0" tIns="0" rIns="0" bIns="0" rtlCol="0" anchor="t">
            <a:spAutoFit/>
          </a:bodyPr>
          <a:lstStyle/>
          <a:p>
            <a:pPr marL="0" indent="0" algn="l">
              <a:lnSpc>
                <a:spcPts val="2400"/>
              </a:lnSpc>
              <a:buNone/>
            </a:pPr>
            <a:r>
              <a:rPr lang="en-US" sz="1808" b="1" dirty="0">
                <a:solidFill>
                  <a:srgbClr val="2C3E50"/>
                </a:solidFill>
              </a:rPr>
              <a:t>APPLICATION GOALS</a:t>
            </a:r>
            <a:endParaRPr lang="en-US" sz="1808" dirty="0"/>
          </a:p>
        </p:txBody>
      </p:sp>
      <p:sp>
        <p:nvSpPr>
          <p:cNvPr id="4" name="Shape 1"/>
          <p:cNvSpPr/>
          <p:nvPr/>
        </p:nvSpPr>
        <p:spPr>
          <a:xfrm>
            <a:off x="428625" y="1021556"/>
            <a:ext cx="1964531" cy="1539785"/>
          </a:xfrm>
          <a:prstGeom prst="rect">
            <a:avLst/>
          </a:prstGeom>
          <a:solidFill>
            <a:srgbClr val="FFFFFF"/>
          </a:solidFill>
          <a:ln/>
        </p:spPr>
        <p:txBody>
          <a:bodyPr/>
          <a:lstStyle/>
          <a:p>
            <a:endParaRPr lang="en-IN"/>
          </a:p>
        </p:txBody>
      </p:sp>
      <p:sp>
        <p:nvSpPr>
          <p:cNvPr id="5" name="Shape 2"/>
          <p:cNvSpPr/>
          <p:nvPr/>
        </p:nvSpPr>
        <p:spPr>
          <a:xfrm>
            <a:off x="428625" y="1021556"/>
            <a:ext cx="1964531" cy="28575"/>
          </a:xfrm>
          <a:prstGeom prst="rect">
            <a:avLst/>
          </a:prstGeom>
          <a:solidFill>
            <a:srgbClr val="5DADE2"/>
          </a:solidFill>
          <a:ln/>
        </p:spPr>
        <p:txBody>
          <a:bodyPr/>
          <a:lstStyle/>
          <a:p>
            <a:endParaRPr lang="en-IN"/>
          </a:p>
        </p:txBody>
      </p:sp>
      <p:sp>
        <p:nvSpPr>
          <p:cNvPr id="6" name="Text 3"/>
          <p:cNvSpPr/>
          <p:nvPr/>
        </p:nvSpPr>
        <p:spPr>
          <a:xfrm>
            <a:off x="571500" y="1164431"/>
            <a:ext cx="1678781" cy="312539"/>
          </a:xfrm>
          <a:prstGeom prst="rect">
            <a:avLst/>
          </a:prstGeom>
          <a:noFill/>
          <a:ln/>
        </p:spPr>
        <p:txBody>
          <a:bodyPr wrap="none" lIns="0" tIns="0" rIns="0" bIns="0" rtlCol="0" anchor="t">
            <a:spAutoFit/>
          </a:bodyPr>
          <a:lstStyle/>
          <a:p>
            <a:pPr marL="0" indent="0" algn="l">
              <a:lnSpc>
                <a:spcPts val="2200"/>
              </a:lnSpc>
              <a:buNone/>
            </a:pPr>
            <a:r>
              <a:rPr lang="en-US" sz="1602" b="1" dirty="0">
                <a:solidFill>
                  <a:srgbClr val="E67E22">
                    <a:alpha val="80000"/>
                  </a:srgbClr>
                </a:solidFill>
              </a:rPr>
              <a:t>01</a:t>
            </a:r>
            <a:endParaRPr lang="en-US" sz="1602" dirty="0"/>
          </a:p>
        </p:txBody>
      </p:sp>
      <p:sp>
        <p:nvSpPr>
          <p:cNvPr id="7" name="Text 4"/>
          <p:cNvSpPr/>
          <p:nvPr/>
        </p:nvSpPr>
        <p:spPr>
          <a:xfrm>
            <a:off x="571500" y="1548408"/>
            <a:ext cx="1678781" cy="350044"/>
          </a:xfrm>
          <a:prstGeom prst="rect">
            <a:avLst/>
          </a:prstGeom>
          <a:noFill/>
          <a:ln/>
        </p:spPr>
        <p:txBody>
          <a:bodyPr wrap="square" lIns="0" tIns="0" rIns="0" bIns="0" rtlCol="0" anchor="t">
            <a:spAutoFit/>
          </a:bodyPr>
          <a:lstStyle/>
          <a:p>
            <a:pPr marL="0" indent="0" algn="l">
              <a:lnSpc>
                <a:spcPts val="1200"/>
              </a:lnSpc>
              <a:buNone/>
            </a:pPr>
            <a:r>
              <a:rPr lang="en-US" sz="885" b="1" dirty="0">
                <a:solidFill>
                  <a:srgbClr val="2C3E50"/>
                </a:solidFill>
              </a:rPr>
              <a:t>Automate Inventory Control</a:t>
            </a:r>
            <a:endParaRPr lang="en-US" sz="885" dirty="0"/>
          </a:p>
        </p:txBody>
      </p:sp>
      <p:sp>
        <p:nvSpPr>
          <p:cNvPr id="8" name="Text 5"/>
          <p:cNvSpPr/>
          <p:nvPr/>
        </p:nvSpPr>
        <p:spPr>
          <a:xfrm>
            <a:off x="571500" y="1969889"/>
            <a:ext cx="1678781" cy="420002"/>
          </a:xfrm>
          <a:prstGeom prst="rect">
            <a:avLst/>
          </a:prstGeom>
          <a:noFill/>
          <a:ln/>
        </p:spPr>
        <p:txBody>
          <a:bodyPr wrap="square" lIns="0" tIns="0" rIns="0" bIns="0" rtlCol="0" anchor="t">
            <a:spAutoFit/>
          </a:bodyPr>
          <a:lstStyle/>
          <a:p>
            <a:pPr marL="0" indent="0" algn="l">
              <a:lnSpc>
                <a:spcPts val="1100"/>
              </a:lnSpc>
              <a:buNone/>
            </a:pPr>
            <a:r>
              <a:rPr lang="en-US" sz="727" dirty="0">
                <a:solidFill>
                  <a:srgbClr val="2C3E50"/>
                </a:solidFill>
              </a:rPr>
              <a:t>Real-time tools for librarians to manage stock, updates, and removals efficiently.</a:t>
            </a:r>
            <a:endParaRPr lang="en-US" sz="727" dirty="0"/>
          </a:p>
        </p:txBody>
      </p:sp>
      <p:sp>
        <p:nvSpPr>
          <p:cNvPr id="9" name="Shape 6"/>
          <p:cNvSpPr/>
          <p:nvPr/>
        </p:nvSpPr>
        <p:spPr>
          <a:xfrm>
            <a:off x="2536031" y="1021556"/>
            <a:ext cx="1964531" cy="1539785"/>
          </a:xfrm>
          <a:prstGeom prst="rect">
            <a:avLst/>
          </a:prstGeom>
          <a:solidFill>
            <a:srgbClr val="FFFFFF"/>
          </a:solidFill>
          <a:ln/>
        </p:spPr>
        <p:txBody>
          <a:bodyPr/>
          <a:lstStyle/>
          <a:p>
            <a:endParaRPr lang="en-IN"/>
          </a:p>
        </p:txBody>
      </p:sp>
      <p:sp>
        <p:nvSpPr>
          <p:cNvPr id="10" name="Shape 7"/>
          <p:cNvSpPr/>
          <p:nvPr/>
        </p:nvSpPr>
        <p:spPr>
          <a:xfrm>
            <a:off x="2536031" y="1021556"/>
            <a:ext cx="1964531" cy="28575"/>
          </a:xfrm>
          <a:prstGeom prst="rect">
            <a:avLst/>
          </a:prstGeom>
          <a:solidFill>
            <a:srgbClr val="E67E22"/>
          </a:solidFill>
          <a:ln/>
        </p:spPr>
        <p:txBody>
          <a:bodyPr/>
          <a:lstStyle/>
          <a:p>
            <a:endParaRPr lang="en-IN"/>
          </a:p>
        </p:txBody>
      </p:sp>
      <p:sp>
        <p:nvSpPr>
          <p:cNvPr id="11" name="Text 8"/>
          <p:cNvSpPr/>
          <p:nvPr/>
        </p:nvSpPr>
        <p:spPr>
          <a:xfrm>
            <a:off x="2678906" y="1164431"/>
            <a:ext cx="1678781" cy="312539"/>
          </a:xfrm>
          <a:prstGeom prst="rect">
            <a:avLst/>
          </a:prstGeom>
          <a:noFill/>
          <a:ln/>
        </p:spPr>
        <p:txBody>
          <a:bodyPr wrap="none" lIns="0" tIns="0" rIns="0" bIns="0" rtlCol="0" anchor="t">
            <a:spAutoFit/>
          </a:bodyPr>
          <a:lstStyle/>
          <a:p>
            <a:pPr marL="0" indent="0" algn="l">
              <a:lnSpc>
                <a:spcPts val="2200"/>
              </a:lnSpc>
              <a:buNone/>
            </a:pPr>
            <a:r>
              <a:rPr lang="en-US" sz="1602" b="1" dirty="0">
                <a:solidFill>
                  <a:srgbClr val="E67E22">
                    <a:alpha val="80000"/>
                  </a:srgbClr>
                </a:solidFill>
              </a:rPr>
              <a:t>02</a:t>
            </a:r>
            <a:endParaRPr lang="en-US" sz="1602" dirty="0"/>
          </a:p>
        </p:txBody>
      </p:sp>
      <p:sp>
        <p:nvSpPr>
          <p:cNvPr id="12" name="Text 9"/>
          <p:cNvSpPr/>
          <p:nvPr/>
        </p:nvSpPr>
        <p:spPr>
          <a:xfrm>
            <a:off x="2678906" y="1548408"/>
            <a:ext cx="1678781" cy="350044"/>
          </a:xfrm>
          <a:prstGeom prst="rect">
            <a:avLst/>
          </a:prstGeom>
          <a:noFill/>
          <a:ln/>
        </p:spPr>
        <p:txBody>
          <a:bodyPr wrap="square" lIns="0" tIns="0" rIns="0" bIns="0" rtlCol="0" anchor="t">
            <a:spAutoFit/>
          </a:bodyPr>
          <a:lstStyle/>
          <a:p>
            <a:pPr marL="0" indent="0" algn="l">
              <a:lnSpc>
                <a:spcPts val="1200"/>
              </a:lnSpc>
              <a:buNone/>
            </a:pPr>
            <a:r>
              <a:rPr lang="en-US" sz="885" b="1" dirty="0">
                <a:solidFill>
                  <a:srgbClr val="2C3E50"/>
                </a:solidFill>
              </a:rPr>
              <a:t>Enforce Academic Accountability</a:t>
            </a:r>
            <a:endParaRPr lang="en-US" sz="885" dirty="0"/>
          </a:p>
        </p:txBody>
      </p:sp>
      <p:sp>
        <p:nvSpPr>
          <p:cNvPr id="13" name="Text 10"/>
          <p:cNvSpPr/>
          <p:nvPr/>
        </p:nvSpPr>
        <p:spPr>
          <a:xfrm>
            <a:off x="2678906" y="1969889"/>
            <a:ext cx="1678781" cy="420002"/>
          </a:xfrm>
          <a:prstGeom prst="rect">
            <a:avLst/>
          </a:prstGeom>
          <a:noFill/>
          <a:ln/>
        </p:spPr>
        <p:txBody>
          <a:bodyPr wrap="square" lIns="0" tIns="0" rIns="0" bIns="0" rtlCol="0" anchor="t">
            <a:spAutoFit/>
          </a:bodyPr>
          <a:lstStyle/>
          <a:p>
            <a:pPr marL="0" indent="0" algn="l">
              <a:lnSpc>
                <a:spcPts val="1100"/>
              </a:lnSpc>
              <a:buNone/>
            </a:pPr>
            <a:r>
              <a:rPr lang="en-US" sz="727" dirty="0">
                <a:solidFill>
                  <a:srgbClr val="2C3E50"/>
                </a:solidFill>
              </a:rPr>
              <a:t>Automated fine system ensuring on-time returns and maintaining resource availability.</a:t>
            </a:r>
            <a:endParaRPr lang="en-US" sz="727" dirty="0"/>
          </a:p>
        </p:txBody>
      </p:sp>
      <p:sp>
        <p:nvSpPr>
          <p:cNvPr id="14" name="Shape 11"/>
          <p:cNvSpPr/>
          <p:nvPr/>
        </p:nvSpPr>
        <p:spPr>
          <a:xfrm>
            <a:off x="4643438" y="1021556"/>
            <a:ext cx="1964531" cy="1539785"/>
          </a:xfrm>
          <a:prstGeom prst="rect">
            <a:avLst/>
          </a:prstGeom>
          <a:solidFill>
            <a:srgbClr val="FFFFFF"/>
          </a:solidFill>
          <a:ln/>
        </p:spPr>
        <p:txBody>
          <a:bodyPr/>
          <a:lstStyle/>
          <a:p>
            <a:endParaRPr lang="en-IN"/>
          </a:p>
        </p:txBody>
      </p:sp>
      <p:sp>
        <p:nvSpPr>
          <p:cNvPr id="15" name="Shape 12"/>
          <p:cNvSpPr/>
          <p:nvPr/>
        </p:nvSpPr>
        <p:spPr>
          <a:xfrm>
            <a:off x="4643438" y="1021556"/>
            <a:ext cx="1964531" cy="28575"/>
          </a:xfrm>
          <a:prstGeom prst="rect">
            <a:avLst/>
          </a:prstGeom>
          <a:solidFill>
            <a:srgbClr val="5DADE2"/>
          </a:solidFill>
          <a:ln/>
        </p:spPr>
        <p:txBody>
          <a:bodyPr/>
          <a:lstStyle/>
          <a:p>
            <a:endParaRPr lang="en-IN"/>
          </a:p>
        </p:txBody>
      </p:sp>
      <p:sp>
        <p:nvSpPr>
          <p:cNvPr id="16" name="Text 13"/>
          <p:cNvSpPr/>
          <p:nvPr/>
        </p:nvSpPr>
        <p:spPr>
          <a:xfrm>
            <a:off x="4786313" y="1164431"/>
            <a:ext cx="1678781" cy="312539"/>
          </a:xfrm>
          <a:prstGeom prst="rect">
            <a:avLst/>
          </a:prstGeom>
          <a:noFill/>
          <a:ln/>
        </p:spPr>
        <p:txBody>
          <a:bodyPr wrap="none" lIns="0" tIns="0" rIns="0" bIns="0" rtlCol="0" anchor="t">
            <a:spAutoFit/>
          </a:bodyPr>
          <a:lstStyle/>
          <a:p>
            <a:pPr marL="0" indent="0" algn="l">
              <a:lnSpc>
                <a:spcPts val="2200"/>
              </a:lnSpc>
              <a:buNone/>
            </a:pPr>
            <a:r>
              <a:rPr lang="en-US" sz="1602" b="1" dirty="0">
                <a:solidFill>
                  <a:srgbClr val="E67E22">
                    <a:alpha val="80000"/>
                  </a:srgbClr>
                </a:solidFill>
              </a:rPr>
              <a:t>03</a:t>
            </a:r>
            <a:endParaRPr lang="en-US" sz="1602" dirty="0"/>
          </a:p>
        </p:txBody>
      </p:sp>
      <p:sp>
        <p:nvSpPr>
          <p:cNvPr id="17" name="Text 14"/>
          <p:cNvSpPr/>
          <p:nvPr/>
        </p:nvSpPr>
        <p:spPr>
          <a:xfrm>
            <a:off x="4786313" y="1548408"/>
            <a:ext cx="1678781" cy="314325"/>
          </a:xfrm>
          <a:prstGeom prst="rect">
            <a:avLst/>
          </a:prstGeom>
          <a:noFill/>
          <a:ln/>
        </p:spPr>
        <p:txBody>
          <a:bodyPr wrap="square" lIns="0" tIns="0" rIns="0" bIns="0" rtlCol="0" anchor="t">
            <a:spAutoFit/>
          </a:bodyPr>
          <a:lstStyle/>
          <a:p>
            <a:pPr marL="0" indent="0" algn="l">
              <a:lnSpc>
                <a:spcPts val="1200"/>
              </a:lnSpc>
              <a:buNone/>
            </a:pPr>
            <a:r>
              <a:rPr lang="en-US" sz="885" b="1" dirty="0">
                <a:solidFill>
                  <a:srgbClr val="2C3E50"/>
                </a:solidFill>
              </a:rPr>
              <a:t>Enhance User Experience</a:t>
            </a:r>
            <a:endParaRPr lang="en-US" sz="885" dirty="0"/>
          </a:p>
        </p:txBody>
      </p:sp>
      <p:sp>
        <p:nvSpPr>
          <p:cNvPr id="18" name="Text 15"/>
          <p:cNvSpPr/>
          <p:nvPr/>
        </p:nvSpPr>
        <p:spPr>
          <a:xfrm>
            <a:off x="4786313" y="1934170"/>
            <a:ext cx="1678781" cy="420002"/>
          </a:xfrm>
          <a:prstGeom prst="rect">
            <a:avLst/>
          </a:prstGeom>
          <a:noFill/>
          <a:ln/>
        </p:spPr>
        <p:txBody>
          <a:bodyPr wrap="square" lIns="0" tIns="0" rIns="0" bIns="0" rtlCol="0" anchor="t">
            <a:spAutoFit/>
          </a:bodyPr>
          <a:lstStyle/>
          <a:p>
            <a:pPr marL="0" indent="0" algn="l">
              <a:lnSpc>
                <a:spcPts val="1100"/>
              </a:lnSpc>
              <a:buNone/>
            </a:pPr>
            <a:r>
              <a:rPr lang="en-US" sz="727" dirty="0">
                <a:solidFill>
                  <a:srgbClr val="2C3E50"/>
                </a:solidFill>
              </a:rPr>
              <a:t>Reduce out-of-stock frustration via automated notifications and proactive alerts.</a:t>
            </a:r>
            <a:endParaRPr lang="en-US" sz="727" dirty="0"/>
          </a:p>
        </p:txBody>
      </p:sp>
      <p:sp>
        <p:nvSpPr>
          <p:cNvPr id="19" name="Shape 16"/>
          <p:cNvSpPr/>
          <p:nvPr/>
        </p:nvSpPr>
        <p:spPr>
          <a:xfrm>
            <a:off x="6750844" y="1021556"/>
            <a:ext cx="1964531" cy="1539785"/>
          </a:xfrm>
          <a:prstGeom prst="rect">
            <a:avLst/>
          </a:prstGeom>
          <a:solidFill>
            <a:srgbClr val="FFFFFF"/>
          </a:solidFill>
          <a:ln/>
        </p:spPr>
        <p:txBody>
          <a:bodyPr/>
          <a:lstStyle/>
          <a:p>
            <a:endParaRPr lang="en-IN"/>
          </a:p>
        </p:txBody>
      </p:sp>
      <p:sp>
        <p:nvSpPr>
          <p:cNvPr id="20" name="Shape 17"/>
          <p:cNvSpPr/>
          <p:nvPr/>
        </p:nvSpPr>
        <p:spPr>
          <a:xfrm>
            <a:off x="6750844" y="1021556"/>
            <a:ext cx="1964531" cy="28575"/>
          </a:xfrm>
          <a:prstGeom prst="rect">
            <a:avLst/>
          </a:prstGeom>
          <a:solidFill>
            <a:srgbClr val="E67E22"/>
          </a:solidFill>
          <a:ln/>
        </p:spPr>
        <p:txBody>
          <a:bodyPr/>
          <a:lstStyle/>
          <a:p>
            <a:endParaRPr lang="en-IN"/>
          </a:p>
        </p:txBody>
      </p:sp>
      <p:sp>
        <p:nvSpPr>
          <p:cNvPr id="21" name="Text 18"/>
          <p:cNvSpPr/>
          <p:nvPr/>
        </p:nvSpPr>
        <p:spPr>
          <a:xfrm>
            <a:off x="6893719" y="1164431"/>
            <a:ext cx="1678781" cy="312539"/>
          </a:xfrm>
          <a:prstGeom prst="rect">
            <a:avLst/>
          </a:prstGeom>
          <a:noFill/>
          <a:ln/>
        </p:spPr>
        <p:txBody>
          <a:bodyPr wrap="none" lIns="0" tIns="0" rIns="0" bIns="0" rtlCol="0" anchor="t">
            <a:spAutoFit/>
          </a:bodyPr>
          <a:lstStyle/>
          <a:p>
            <a:pPr marL="0" indent="0" algn="l">
              <a:lnSpc>
                <a:spcPts val="2200"/>
              </a:lnSpc>
              <a:buNone/>
            </a:pPr>
            <a:r>
              <a:rPr lang="en-US" sz="1602" b="1" dirty="0">
                <a:solidFill>
                  <a:srgbClr val="E67E22">
                    <a:alpha val="80000"/>
                  </a:srgbClr>
                </a:solidFill>
              </a:rPr>
              <a:t>04</a:t>
            </a:r>
            <a:endParaRPr lang="en-US" sz="1602" dirty="0"/>
          </a:p>
        </p:txBody>
      </p:sp>
      <p:sp>
        <p:nvSpPr>
          <p:cNvPr id="22" name="Text 19"/>
          <p:cNvSpPr/>
          <p:nvPr/>
        </p:nvSpPr>
        <p:spPr>
          <a:xfrm>
            <a:off x="6893719" y="1548408"/>
            <a:ext cx="1678781" cy="350044"/>
          </a:xfrm>
          <a:prstGeom prst="rect">
            <a:avLst/>
          </a:prstGeom>
          <a:noFill/>
          <a:ln/>
        </p:spPr>
        <p:txBody>
          <a:bodyPr wrap="square" lIns="0" tIns="0" rIns="0" bIns="0" rtlCol="0" anchor="t">
            <a:spAutoFit/>
          </a:bodyPr>
          <a:lstStyle/>
          <a:p>
            <a:pPr marL="0" indent="0" algn="l">
              <a:lnSpc>
                <a:spcPts val="1200"/>
              </a:lnSpc>
              <a:buNone/>
            </a:pPr>
            <a:r>
              <a:rPr lang="en-US" sz="885" b="1" dirty="0">
                <a:solidFill>
                  <a:srgbClr val="2C3E50"/>
                </a:solidFill>
              </a:rPr>
              <a:t>Intelligent Demand Forecasting</a:t>
            </a:r>
            <a:endParaRPr lang="en-US" sz="885" dirty="0"/>
          </a:p>
        </p:txBody>
      </p:sp>
      <p:sp>
        <p:nvSpPr>
          <p:cNvPr id="23" name="Text 20"/>
          <p:cNvSpPr/>
          <p:nvPr/>
        </p:nvSpPr>
        <p:spPr>
          <a:xfrm>
            <a:off x="6893719" y="1969889"/>
            <a:ext cx="1678781" cy="420002"/>
          </a:xfrm>
          <a:prstGeom prst="rect">
            <a:avLst/>
          </a:prstGeom>
          <a:noFill/>
          <a:ln/>
        </p:spPr>
        <p:txBody>
          <a:bodyPr wrap="square" lIns="0" tIns="0" rIns="0" bIns="0" rtlCol="0" anchor="t">
            <a:spAutoFit/>
          </a:bodyPr>
          <a:lstStyle/>
          <a:p>
            <a:pPr marL="0" indent="0" algn="l">
              <a:lnSpc>
                <a:spcPts val="1100"/>
              </a:lnSpc>
              <a:buNone/>
            </a:pPr>
            <a:r>
              <a:rPr lang="en-US" sz="727" dirty="0">
                <a:solidFill>
                  <a:srgbClr val="2C3E50"/>
                </a:solidFill>
              </a:rPr>
              <a:t>Predict high-demand books for exam seasons to optimize acquisition decisions.</a:t>
            </a:r>
            <a:endParaRPr lang="en-US" sz="727" dirty="0"/>
          </a:p>
        </p:txBody>
      </p:sp>
      <p:sp>
        <p:nvSpPr>
          <p:cNvPr id="24" name="Shape 21"/>
          <p:cNvSpPr/>
          <p:nvPr/>
        </p:nvSpPr>
        <p:spPr>
          <a:xfrm>
            <a:off x="428625" y="2704216"/>
            <a:ext cx="1964531" cy="1539785"/>
          </a:xfrm>
          <a:prstGeom prst="rect">
            <a:avLst/>
          </a:prstGeom>
          <a:solidFill>
            <a:srgbClr val="FFFFFF"/>
          </a:solidFill>
          <a:ln/>
        </p:spPr>
        <p:txBody>
          <a:bodyPr/>
          <a:lstStyle/>
          <a:p>
            <a:endParaRPr lang="en-IN"/>
          </a:p>
        </p:txBody>
      </p:sp>
      <p:sp>
        <p:nvSpPr>
          <p:cNvPr id="25" name="Shape 22"/>
          <p:cNvSpPr/>
          <p:nvPr/>
        </p:nvSpPr>
        <p:spPr>
          <a:xfrm>
            <a:off x="428625" y="2704216"/>
            <a:ext cx="1964531" cy="28575"/>
          </a:xfrm>
          <a:prstGeom prst="rect">
            <a:avLst/>
          </a:prstGeom>
          <a:solidFill>
            <a:srgbClr val="E67E22"/>
          </a:solidFill>
          <a:ln/>
        </p:spPr>
        <p:txBody>
          <a:bodyPr/>
          <a:lstStyle/>
          <a:p>
            <a:endParaRPr lang="en-IN"/>
          </a:p>
        </p:txBody>
      </p:sp>
      <p:sp>
        <p:nvSpPr>
          <p:cNvPr id="26" name="Text 23"/>
          <p:cNvSpPr/>
          <p:nvPr/>
        </p:nvSpPr>
        <p:spPr>
          <a:xfrm>
            <a:off x="571500" y="2847091"/>
            <a:ext cx="1678781" cy="312539"/>
          </a:xfrm>
          <a:prstGeom prst="rect">
            <a:avLst/>
          </a:prstGeom>
          <a:noFill/>
          <a:ln/>
        </p:spPr>
        <p:txBody>
          <a:bodyPr wrap="none" lIns="0" tIns="0" rIns="0" bIns="0" rtlCol="0" anchor="t">
            <a:spAutoFit/>
          </a:bodyPr>
          <a:lstStyle/>
          <a:p>
            <a:pPr marL="0" indent="0" algn="l">
              <a:lnSpc>
                <a:spcPts val="2200"/>
              </a:lnSpc>
              <a:buNone/>
            </a:pPr>
            <a:r>
              <a:rPr lang="en-US" sz="1602" b="1" dirty="0">
                <a:solidFill>
                  <a:srgbClr val="E67E22">
                    <a:alpha val="80000"/>
                  </a:srgbClr>
                </a:solidFill>
              </a:rPr>
              <a:t>05</a:t>
            </a:r>
            <a:endParaRPr lang="en-US" sz="1602" dirty="0"/>
          </a:p>
        </p:txBody>
      </p:sp>
      <p:sp>
        <p:nvSpPr>
          <p:cNvPr id="27" name="Text 24"/>
          <p:cNvSpPr/>
          <p:nvPr/>
        </p:nvSpPr>
        <p:spPr>
          <a:xfrm>
            <a:off x="571500" y="3231068"/>
            <a:ext cx="1678781" cy="350044"/>
          </a:xfrm>
          <a:prstGeom prst="rect">
            <a:avLst/>
          </a:prstGeom>
          <a:noFill/>
          <a:ln/>
        </p:spPr>
        <p:txBody>
          <a:bodyPr wrap="square" lIns="0" tIns="0" rIns="0" bIns="0" rtlCol="0" anchor="t">
            <a:spAutoFit/>
          </a:bodyPr>
          <a:lstStyle/>
          <a:p>
            <a:pPr marL="0" indent="0" algn="l">
              <a:lnSpc>
                <a:spcPts val="1200"/>
              </a:lnSpc>
              <a:buNone/>
            </a:pPr>
            <a:r>
              <a:rPr lang="en-US" sz="885" b="1" dirty="0">
                <a:solidFill>
                  <a:srgbClr val="2C3E50"/>
                </a:solidFill>
              </a:rPr>
              <a:t>Improve In-Library Navigation</a:t>
            </a:r>
            <a:endParaRPr lang="en-US" sz="885" dirty="0"/>
          </a:p>
        </p:txBody>
      </p:sp>
      <p:sp>
        <p:nvSpPr>
          <p:cNvPr id="28" name="Text 25"/>
          <p:cNvSpPr/>
          <p:nvPr/>
        </p:nvSpPr>
        <p:spPr>
          <a:xfrm>
            <a:off x="571500" y="3652549"/>
            <a:ext cx="1678781" cy="280002"/>
          </a:xfrm>
          <a:prstGeom prst="rect">
            <a:avLst/>
          </a:prstGeom>
          <a:noFill/>
          <a:ln/>
        </p:spPr>
        <p:txBody>
          <a:bodyPr wrap="square" lIns="0" tIns="0" rIns="0" bIns="0" rtlCol="0" anchor="t">
            <a:spAutoFit/>
          </a:bodyPr>
          <a:lstStyle/>
          <a:p>
            <a:pPr marL="0" indent="0" algn="l">
              <a:lnSpc>
                <a:spcPts val="1100"/>
              </a:lnSpc>
              <a:buNone/>
            </a:pPr>
            <a:r>
              <a:rPr lang="en-US" sz="727" dirty="0">
                <a:solidFill>
                  <a:srgbClr val="2C3E50"/>
                </a:solidFill>
              </a:rPr>
              <a:t>AR-guided shelf navigation to help students locate books faster.</a:t>
            </a:r>
            <a:endParaRPr lang="en-US" sz="727" dirty="0"/>
          </a:p>
        </p:txBody>
      </p:sp>
      <p:sp>
        <p:nvSpPr>
          <p:cNvPr id="29" name="Shape 26"/>
          <p:cNvSpPr/>
          <p:nvPr/>
        </p:nvSpPr>
        <p:spPr>
          <a:xfrm>
            <a:off x="2536031" y="2704216"/>
            <a:ext cx="1964531" cy="1539785"/>
          </a:xfrm>
          <a:prstGeom prst="rect">
            <a:avLst/>
          </a:prstGeom>
          <a:solidFill>
            <a:srgbClr val="FFFFFF"/>
          </a:solidFill>
          <a:ln/>
        </p:spPr>
        <p:txBody>
          <a:bodyPr/>
          <a:lstStyle/>
          <a:p>
            <a:endParaRPr lang="en-IN"/>
          </a:p>
        </p:txBody>
      </p:sp>
      <p:sp>
        <p:nvSpPr>
          <p:cNvPr id="30" name="Shape 27"/>
          <p:cNvSpPr/>
          <p:nvPr/>
        </p:nvSpPr>
        <p:spPr>
          <a:xfrm>
            <a:off x="2536031" y="2704216"/>
            <a:ext cx="1964531" cy="28575"/>
          </a:xfrm>
          <a:prstGeom prst="rect">
            <a:avLst/>
          </a:prstGeom>
          <a:solidFill>
            <a:srgbClr val="5DADE2"/>
          </a:solidFill>
          <a:ln/>
        </p:spPr>
        <p:txBody>
          <a:bodyPr/>
          <a:lstStyle/>
          <a:p>
            <a:endParaRPr lang="en-IN"/>
          </a:p>
        </p:txBody>
      </p:sp>
      <p:sp>
        <p:nvSpPr>
          <p:cNvPr id="31" name="Text 28"/>
          <p:cNvSpPr/>
          <p:nvPr/>
        </p:nvSpPr>
        <p:spPr>
          <a:xfrm>
            <a:off x="2678906" y="2847091"/>
            <a:ext cx="1678781" cy="312539"/>
          </a:xfrm>
          <a:prstGeom prst="rect">
            <a:avLst/>
          </a:prstGeom>
          <a:noFill/>
          <a:ln/>
        </p:spPr>
        <p:txBody>
          <a:bodyPr wrap="none" lIns="0" tIns="0" rIns="0" bIns="0" rtlCol="0" anchor="t">
            <a:spAutoFit/>
          </a:bodyPr>
          <a:lstStyle/>
          <a:p>
            <a:pPr marL="0" indent="0" algn="l">
              <a:lnSpc>
                <a:spcPts val="2200"/>
              </a:lnSpc>
              <a:buNone/>
            </a:pPr>
            <a:r>
              <a:rPr lang="en-US" sz="1602" b="1" dirty="0">
                <a:solidFill>
                  <a:srgbClr val="E67E22">
                    <a:alpha val="80000"/>
                  </a:srgbClr>
                </a:solidFill>
              </a:rPr>
              <a:t>06</a:t>
            </a:r>
            <a:endParaRPr lang="en-US" sz="1602" dirty="0"/>
          </a:p>
        </p:txBody>
      </p:sp>
      <p:sp>
        <p:nvSpPr>
          <p:cNvPr id="32" name="Text 29"/>
          <p:cNvSpPr/>
          <p:nvPr/>
        </p:nvSpPr>
        <p:spPr>
          <a:xfrm>
            <a:off x="2678906" y="3231068"/>
            <a:ext cx="1678781" cy="350044"/>
          </a:xfrm>
          <a:prstGeom prst="rect">
            <a:avLst/>
          </a:prstGeom>
          <a:noFill/>
          <a:ln/>
        </p:spPr>
        <p:txBody>
          <a:bodyPr wrap="square" lIns="0" tIns="0" rIns="0" bIns="0" rtlCol="0" anchor="t">
            <a:spAutoFit/>
          </a:bodyPr>
          <a:lstStyle/>
          <a:p>
            <a:pPr marL="0" indent="0" algn="l">
              <a:lnSpc>
                <a:spcPts val="1200"/>
              </a:lnSpc>
              <a:buNone/>
            </a:pPr>
            <a:r>
              <a:rPr lang="en-US" sz="885" b="1" dirty="0">
                <a:solidFill>
                  <a:srgbClr val="2C3E50"/>
                </a:solidFill>
              </a:rPr>
              <a:t>Enable Advanced Discovery</a:t>
            </a:r>
            <a:endParaRPr lang="en-US" sz="885" dirty="0"/>
          </a:p>
        </p:txBody>
      </p:sp>
      <p:sp>
        <p:nvSpPr>
          <p:cNvPr id="33" name="Text 30"/>
          <p:cNvSpPr/>
          <p:nvPr/>
        </p:nvSpPr>
        <p:spPr>
          <a:xfrm>
            <a:off x="2678906" y="3652549"/>
            <a:ext cx="1678781" cy="420002"/>
          </a:xfrm>
          <a:prstGeom prst="rect">
            <a:avLst/>
          </a:prstGeom>
          <a:noFill/>
          <a:ln/>
        </p:spPr>
        <p:txBody>
          <a:bodyPr wrap="square" lIns="0" tIns="0" rIns="0" bIns="0" rtlCol="0" anchor="t">
            <a:spAutoFit/>
          </a:bodyPr>
          <a:lstStyle/>
          <a:p>
            <a:pPr marL="0" indent="0" algn="l">
              <a:lnSpc>
                <a:spcPts val="1100"/>
              </a:lnSpc>
              <a:buNone/>
            </a:pPr>
            <a:r>
              <a:rPr lang="en-US" sz="727" dirty="0">
                <a:solidFill>
                  <a:srgbClr val="2C3E50"/>
                </a:solidFill>
              </a:rPr>
              <a:t>Semantic topic-cluster search for related materials and refined research queries.</a:t>
            </a:r>
            <a:endParaRPr lang="en-US" sz="727" dirty="0"/>
          </a:p>
        </p:txBody>
      </p:sp>
      <p:sp>
        <p:nvSpPr>
          <p:cNvPr id="34" name="Shape 31"/>
          <p:cNvSpPr/>
          <p:nvPr/>
        </p:nvSpPr>
        <p:spPr>
          <a:xfrm>
            <a:off x="4643438" y="2704216"/>
            <a:ext cx="1964531" cy="1539785"/>
          </a:xfrm>
          <a:prstGeom prst="rect">
            <a:avLst/>
          </a:prstGeom>
          <a:solidFill>
            <a:srgbClr val="FFFFFF"/>
          </a:solidFill>
          <a:ln/>
        </p:spPr>
        <p:txBody>
          <a:bodyPr/>
          <a:lstStyle/>
          <a:p>
            <a:endParaRPr lang="en-IN"/>
          </a:p>
        </p:txBody>
      </p:sp>
      <p:sp>
        <p:nvSpPr>
          <p:cNvPr id="35" name="Shape 32"/>
          <p:cNvSpPr/>
          <p:nvPr/>
        </p:nvSpPr>
        <p:spPr>
          <a:xfrm>
            <a:off x="4643438" y="2704216"/>
            <a:ext cx="1964531" cy="28575"/>
          </a:xfrm>
          <a:prstGeom prst="rect">
            <a:avLst/>
          </a:prstGeom>
          <a:solidFill>
            <a:srgbClr val="E67E22"/>
          </a:solidFill>
          <a:ln/>
        </p:spPr>
        <p:txBody>
          <a:bodyPr/>
          <a:lstStyle/>
          <a:p>
            <a:endParaRPr lang="en-IN"/>
          </a:p>
        </p:txBody>
      </p:sp>
      <p:sp>
        <p:nvSpPr>
          <p:cNvPr id="36" name="Text 33"/>
          <p:cNvSpPr/>
          <p:nvPr/>
        </p:nvSpPr>
        <p:spPr>
          <a:xfrm>
            <a:off x="4786313" y="2818516"/>
            <a:ext cx="1678781" cy="312539"/>
          </a:xfrm>
          <a:prstGeom prst="rect">
            <a:avLst/>
          </a:prstGeom>
          <a:noFill/>
          <a:ln/>
        </p:spPr>
        <p:txBody>
          <a:bodyPr wrap="none" lIns="0" tIns="0" rIns="0" bIns="0" rtlCol="0" anchor="t">
            <a:spAutoFit/>
          </a:bodyPr>
          <a:lstStyle/>
          <a:p>
            <a:pPr marL="0" indent="0" algn="l">
              <a:lnSpc>
                <a:spcPts val="2200"/>
              </a:lnSpc>
              <a:buNone/>
            </a:pPr>
            <a:r>
              <a:rPr lang="en-US" sz="1602" b="1" dirty="0">
                <a:solidFill>
                  <a:srgbClr val="E67E22">
                    <a:alpha val="80000"/>
                  </a:srgbClr>
                </a:solidFill>
              </a:rPr>
              <a:t>07</a:t>
            </a:r>
            <a:endParaRPr lang="en-US" sz="1602" dirty="0"/>
          </a:p>
        </p:txBody>
      </p:sp>
      <p:sp>
        <p:nvSpPr>
          <p:cNvPr id="37" name="Text 34"/>
          <p:cNvSpPr/>
          <p:nvPr/>
        </p:nvSpPr>
        <p:spPr>
          <a:xfrm>
            <a:off x="4786313" y="3202493"/>
            <a:ext cx="1678781" cy="350044"/>
          </a:xfrm>
          <a:prstGeom prst="rect">
            <a:avLst/>
          </a:prstGeom>
          <a:noFill/>
          <a:ln/>
        </p:spPr>
        <p:txBody>
          <a:bodyPr wrap="square" lIns="0" tIns="0" rIns="0" bIns="0" rtlCol="0" anchor="t">
            <a:spAutoFit/>
          </a:bodyPr>
          <a:lstStyle/>
          <a:p>
            <a:pPr marL="0" indent="0" algn="l">
              <a:lnSpc>
                <a:spcPts val="1200"/>
              </a:lnSpc>
              <a:buNone/>
            </a:pPr>
            <a:r>
              <a:rPr lang="en-US" sz="885" b="1" dirty="0">
                <a:solidFill>
                  <a:srgbClr val="2C3E50"/>
                </a:solidFill>
              </a:rPr>
              <a:t>Expose Actionable Analytics</a:t>
            </a:r>
            <a:endParaRPr lang="en-US" sz="885" dirty="0"/>
          </a:p>
        </p:txBody>
      </p:sp>
      <p:sp>
        <p:nvSpPr>
          <p:cNvPr id="38" name="Text 35"/>
          <p:cNvSpPr/>
          <p:nvPr/>
        </p:nvSpPr>
        <p:spPr>
          <a:xfrm>
            <a:off x="4786313" y="3623974"/>
            <a:ext cx="1678781" cy="420002"/>
          </a:xfrm>
          <a:prstGeom prst="rect">
            <a:avLst/>
          </a:prstGeom>
          <a:noFill/>
          <a:ln/>
        </p:spPr>
        <p:txBody>
          <a:bodyPr wrap="square" lIns="0" tIns="0" rIns="0" bIns="0" rtlCol="0" anchor="t">
            <a:spAutoFit/>
          </a:bodyPr>
          <a:lstStyle/>
          <a:p>
            <a:pPr marL="0" indent="0" algn="l">
              <a:lnSpc>
                <a:spcPts val="1100"/>
              </a:lnSpc>
              <a:buNone/>
            </a:pPr>
            <a:r>
              <a:rPr lang="en-US" sz="727" dirty="0">
                <a:solidFill>
                  <a:srgbClr val="2C3E50"/>
                </a:solidFill>
              </a:rPr>
              <a:t>Usage and trending topic dashboards for strategic decisions by librarians and faculty.</a:t>
            </a:r>
            <a:endParaRPr lang="en-US" sz="727" dirty="0"/>
          </a:p>
        </p:txBody>
      </p:sp>
      <p:sp>
        <p:nvSpPr>
          <p:cNvPr id="39" name="Shape 36"/>
          <p:cNvSpPr/>
          <p:nvPr/>
        </p:nvSpPr>
        <p:spPr>
          <a:xfrm>
            <a:off x="6750844" y="2675641"/>
            <a:ext cx="1964531" cy="1511210"/>
          </a:xfrm>
          <a:prstGeom prst="rect">
            <a:avLst/>
          </a:prstGeom>
          <a:solidFill>
            <a:srgbClr val="FFFFFF"/>
          </a:solidFill>
          <a:ln/>
        </p:spPr>
        <p:txBody>
          <a:bodyPr/>
          <a:lstStyle/>
          <a:p>
            <a:endParaRPr lang="en-IN"/>
          </a:p>
        </p:txBody>
      </p:sp>
      <p:sp>
        <p:nvSpPr>
          <p:cNvPr id="40" name="Shape 37"/>
          <p:cNvSpPr/>
          <p:nvPr/>
        </p:nvSpPr>
        <p:spPr>
          <a:xfrm>
            <a:off x="6750844" y="2675641"/>
            <a:ext cx="1964531" cy="28575"/>
          </a:xfrm>
          <a:prstGeom prst="rect">
            <a:avLst/>
          </a:prstGeom>
          <a:solidFill>
            <a:srgbClr val="5DADE2"/>
          </a:solidFill>
          <a:ln/>
        </p:spPr>
        <p:txBody>
          <a:bodyPr/>
          <a:lstStyle/>
          <a:p>
            <a:endParaRPr lang="en-IN"/>
          </a:p>
        </p:txBody>
      </p:sp>
      <p:sp>
        <p:nvSpPr>
          <p:cNvPr id="41" name="Text 38"/>
          <p:cNvSpPr/>
          <p:nvPr/>
        </p:nvSpPr>
        <p:spPr>
          <a:xfrm>
            <a:off x="6893719" y="2818516"/>
            <a:ext cx="1678781" cy="312539"/>
          </a:xfrm>
          <a:prstGeom prst="rect">
            <a:avLst/>
          </a:prstGeom>
          <a:noFill/>
          <a:ln/>
        </p:spPr>
        <p:txBody>
          <a:bodyPr wrap="none" lIns="0" tIns="0" rIns="0" bIns="0" rtlCol="0" anchor="t">
            <a:spAutoFit/>
          </a:bodyPr>
          <a:lstStyle/>
          <a:p>
            <a:pPr marL="0" indent="0" algn="l">
              <a:lnSpc>
                <a:spcPts val="2200"/>
              </a:lnSpc>
              <a:buNone/>
            </a:pPr>
            <a:r>
              <a:rPr lang="en-US" sz="1602" b="1" dirty="0">
                <a:solidFill>
                  <a:srgbClr val="E67E22">
                    <a:alpha val="80000"/>
                  </a:srgbClr>
                </a:solidFill>
              </a:rPr>
              <a:t>08</a:t>
            </a:r>
            <a:endParaRPr lang="en-US" sz="1602" dirty="0"/>
          </a:p>
        </p:txBody>
      </p:sp>
      <p:sp>
        <p:nvSpPr>
          <p:cNvPr id="42" name="Text 39"/>
          <p:cNvSpPr/>
          <p:nvPr/>
        </p:nvSpPr>
        <p:spPr>
          <a:xfrm>
            <a:off x="6893719" y="3202493"/>
            <a:ext cx="1678781" cy="350044"/>
          </a:xfrm>
          <a:prstGeom prst="rect">
            <a:avLst/>
          </a:prstGeom>
          <a:noFill/>
          <a:ln/>
        </p:spPr>
        <p:txBody>
          <a:bodyPr wrap="square" lIns="0" tIns="0" rIns="0" bIns="0" rtlCol="0" anchor="t">
            <a:spAutoFit/>
          </a:bodyPr>
          <a:lstStyle/>
          <a:p>
            <a:pPr marL="0" indent="0" algn="l">
              <a:lnSpc>
                <a:spcPts val="1200"/>
              </a:lnSpc>
              <a:buNone/>
            </a:pPr>
            <a:r>
              <a:rPr lang="en-US" sz="885" b="1" dirty="0">
                <a:solidFill>
                  <a:srgbClr val="2C3E50"/>
                </a:solidFill>
              </a:rPr>
              <a:t>Scaffold Research Activities</a:t>
            </a:r>
            <a:endParaRPr lang="en-US" sz="885" dirty="0"/>
          </a:p>
        </p:txBody>
      </p:sp>
      <p:sp>
        <p:nvSpPr>
          <p:cNvPr id="43" name="Text 40"/>
          <p:cNvSpPr/>
          <p:nvPr/>
        </p:nvSpPr>
        <p:spPr>
          <a:xfrm>
            <a:off x="6893719" y="3623974"/>
            <a:ext cx="1678781" cy="280002"/>
          </a:xfrm>
          <a:prstGeom prst="rect">
            <a:avLst/>
          </a:prstGeom>
          <a:noFill/>
          <a:ln/>
        </p:spPr>
        <p:txBody>
          <a:bodyPr wrap="square" lIns="0" tIns="0" rIns="0" bIns="0" rtlCol="0" anchor="t">
            <a:spAutoFit/>
          </a:bodyPr>
          <a:lstStyle/>
          <a:p>
            <a:pPr marL="0" indent="0" algn="l">
              <a:lnSpc>
                <a:spcPts val="1100"/>
              </a:lnSpc>
              <a:buNone/>
            </a:pPr>
            <a:r>
              <a:rPr lang="en-US" sz="727" dirty="0">
                <a:solidFill>
                  <a:srgbClr val="2C3E50"/>
                </a:solidFill>
              </a:rPr>
              <a:t>Progress tracking, milestones, and AI-powered research assistance.</a:t>
            </a:r>
            <a:endParaRPr lang="en-US" sz="727"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428625" y="357188"/>
            <a:ext cx="5649897" cy="350044"/>
          </a:xfrm>
          <a:prstGeom prst="rect">
            <a:avLst/>
          </a:prstGeom>
          <a:noFill/>
          <a:ln/>
        </p:spPr>
        <p:txBody>
          <a:bodyPr wrap="none" lIns="0" tIns="0" rIns="0" bIns="0" rtlCol="0" anchor="t">
            <a:spAutoFit/>
          </a:bodyPr>
          <a:lstStyle/>
          <a:p>
            <a:pPr marL="0" indent="0" algn="l">
              <a:lnSpc>
                <a:spcPts val="2400"/>
              </a:lnSpc>
              <a:buNone/>
            </a:pPr>
            <a:r>
              <a:rPr lang="en-US" sz="1808" b="1" dirty="0">
                <a:solidFill>
                  <a:srgbClr val="2C3E50"/>
                </a:solidFill>
              </a:rPr>
              <a:t>CORE FEATURES — AI &amp; SMART CAPABILITIES</a:t>
            </a:r>
            <a:endParaRPr lang="en-US" sz="1808" dirty="0"/>
          </a:p>
        </p:txBody>
      </p:sp>
      <p:sp>
        <p:nvSpPr>
          <p:cNvPr id="4" name="Shape 1"/>
          <p:cNvSpPr/>
          <p:nvPr/>
        </p:nvSpPr>
        <p:spPr>
          <a:xfrm>
            <a:off x="428625" y="1092994"/>
            <a:ext cx="2643188" cy="1435894"/>
          </a:xfrm>
          <a:prstGeom prst="rect">
            <a:avLst/>
          </a:prstGeom>
          <a:solidFill>
            <a:srgbClr val="FFFFFF"/>
          </a:solidFill>
          <a:ln/>
        </p:spPr>
        <p:txBody>
          <a:bodyPr/>
          <a:lstStyle/>
          <a:p>
            <a:endParaRPr lang="en-IN"/>
          </a:p>
        </p:txBody>
      </p:sp>
      <p:sp>
        <p:nvSpPr>
          <p:cNvPr id="5" name="Shape 2"/>
          <p:cNvSpPr/>
          <p:nvPr/>
        </p:nvSpPr>
        <p:spPr>
          <a:xfrm>
            <a:off x="428625" y="1092994"/>
            <a:ext cx="2643188" cy="35719"/>
          </a:xfrm>
          <a:prstGeom prst="rect">
            <a:avLst/>
          </a:prstGeom>
          <a:solidFill>
            <a:srgbClr val="5DADE2"/>
          </a:solidFill>
          <a:ln/>
        </p:spPr>
        <p:txBody>
          <a:bodyPr/>
          <a:lstStyle/>
          <a:p>
            <a:endParaRPr lang="en-IN"/>
          </a:p>
        </p:txBody>
      </p:sp>
      <p:sp>
        <p:nvSpPr>
          <p:cNvPr id="6" name="Shape 3"/>
          <p:cNvSpPr/>
          <p:nvPr/>
        </p:nvSpPr>
        <p:spPr>
          <a:xfrm>
            <a:off x="571500" y="1271588"/>
            <a:ext cx="235381" cy="173236"/>
          </a:xfrm>
          <a:prstGeom prst="rect">
            <a:avLst/>
          </a:prstGeom>
          <a:solidFill>
            <a:srgbClr val="E67E22"/>
          </a:solidFill>
          <a:ln/>
        </p:spPr>
        <p:txBody>
          <a:bodyPr/>
          <a:lstStyle/>
          <a:p>
            <a:endParaRPr lang="en-IN"/>
          </a:p>
        </p:txBody>
      </p:sp>
      <p:sp>
        <p:nvSpPr>
          <p:cNvPr id="7" name="Text 4"/>
          <p:cNvSpPr/>
          <p:nvPr/>
        </p:nvSpPr>
        <p:spPr>
          <a:xfrm>
            <a:off x="571500" y="1271588"/>
            <a:ext cx="235381" cy="173236"/>
          </a:xfrm>
          <a:prstGeom prst="rect">
            <a:avLst/>
          </a:prstGeom>
          <a:noFill/>
          <a:ln/>
        </p:spPr>
        <p:txBody>
          <a:bodyPr wrap="square" lIns="85090" tIns="34036" rIns="85090" bIns="34036" rtlCol="0" anchor="t">
            <a:spAutoFit/>
          </a:bodyPr>
          <a:lstStyle/>
          <a:p>
            <a:pPr marL="0" indent="0" algn="l">
              <a:lnSpc>
                <a:spcPts val="800"/>
              </a:lnSpc>
              <a:buNone/>
            </a:pPr>
            <a:r>
              <a:rPr lang="en-US" sz="584" b="1" dirty="0">
                <a:solidFill>
                  <a:srgbClr val="FFFFFF"/>
                </a:solidFill>
              </a:rPr>
              <a:t>AI</a:t>
            </a:r>
            <a:endParaRPr lang="en-US" sz="584" dirty="0"/>
          </a:p>
        </p:txBody>
      </p:sp>
      <p:pic>
        <p:nvPicPr>
          <p:cNvPr id="8" name="Image 1" descr="preencoded.png"/>
          <p:cNvPicPr>
            <a:picLocks noChangeAspect="1"/>
          </p:cNvPicPr>
          <p:nvPr/>
        </p:nvPicPr>
        <p:blipFill>
          <a:blip r:embed="rId4"/>
          <a:stretch>
            <a:fillRect/>
          </a:stretch>
        </p:blipFill>
        <p:spPr>
          <a:xfrm>
            <a:off x="571500" y="1585020"/>
            <a:ext cx="128588" cy="128588"/>
          </a:xfrm>
          <a:prstGeom prst="rect">
            <a:avLst/>
          </a:prstGeom>
        </p:spPr>
      </p:pic>
      <p:sp>
        <p:nvSpPr>
          <p:cNvPr id="9" name="Text 5"/>
          <p:cNvSpPr/>
          <p:nvPr/>
        </p:nvSpPr>
        <p:spPr>
          <a:xfrm>
            <a:off x="771525" y="1551980"/>
            <a:ext cx="1297177" cy="194667"/>
          </a:xfrm>
          <a:prstGeom prst="rect">
            <a:avLst/>
          </a:prstGeom>
          <a:noFill/>
          <a:ln/>
        </p:spPr>
        <p:txBody>
          <a:bodyPr wrap="none" lIns="0" tIns="0" rIns="0" bIns="0" rtlCol="0" anchor="t">
            <a:spAutoFit/>
          </a:bodyPr>
          <a:lstStyle/>
          <a:p>
            <a:pPr marL="0" indent="0" algn="l">
              <a:lnSpc>
                <a:spcPts val="1400"/>
              </a:lnSpc>
              <a:buNone/>
            </a:pPr>
            <a:r>
              <a:rPr lang="en-US" sz="987" b="1" dirty="0">
                <a:solidFill>
                  <a:srgbClr val="2C3E50"/>
                </a:solidFill>
              </a:rPr>
              <a:t>Demand Predictor</a:t>
            </a:r>
            <a:endParaRPr lang="en-US" sz="987" dirty="0"/>
          </a:p>
        </p:txBody>
      </p:sp>
      <p:sp>
        <p:nvSpPr>
          <p:cNvPr id="10" name="Text 6"/>
          <p:cNvSpPr/>
          <p:nvPr/>
        </p:nvSpPr>
        <p:spPr>
          <a:xfrm>
            <a:off x="571500" y="1832372"/>
            <a:ext cx="2357438" cy="482203"/>
          </a:xfrm>
          <a:prstGeom prst="rect">
            <a:avLst/>
          </a:prstGeom>
          <a:noFill/>
          <a:ln/>
        </p:spPr>
        <p:txBody>
          <a:bodyPr wrap="square" lIns="0" tIns="0" rIns="0" bIns="0" rtlCol="0" anchor="t">
            <a:spAutoFit/>
          </a:bodyPr>
          <a:lstStyle/>
          <a:p>
            <a:pPr marL="0" indent="0" algn="l">
              <a:lnSpc>
                <a:spcPts val="1300"/>
              </a:lnSpc>
              <a:buNone/>
            </a:pPr>
            <a:r>
              <a:rPr lang="en-US" sz="780" dirty="0">
                <a:solidFill>
                  <a:srgbClr val="2C3E50"/>
                </a:solidFill>
              </a:rPr>
              <a:t>Analyzes historical borrowing and course data to forecast high-demand books for acquisition planning.</a:t>
            </a:r>
            <a:endParaRPr lang="en-US" sz="780" dirty="0"/>
          </a:p>
        </p:txBody>
      </p:sp>
      <p:sp>
        <p:nvSpPr>
          <p:cNvPr id="11" name="Shape 7"/>
          <p:cNvSpPr/>
          <p:nvPr/>
        </p:nvSpPr>
        <p:spPr>
          <a:xfrm>
            <a:off x="3250406" y="1092994"/>
            <a:ext cx="2643188" cy="1435894"/>
          </a:xfrm>
          <a:prstGeom prst="rect">
            <a:avLst/>
          </a:prstGeom>
          <a:solidFill>
            <a:srgbClr val="FFFFFF"/>
          </a:solidFill>
          <a:ln/>
        </p:spPr>
        <p:txBody>
          <a:bodyPr/>
          <a:lstStyle/>
          <a:p>
            <a:endParaRPr lang="en-IN"/>
          </a:p>
        </p:txBody>
      </p:sp>
      <p:sp>
        <p:nvSpPr>
          <p:cNvPr id="12" name="Shape 8"/>
          <p:cNvSpPr/>
          <p:nvPr/>
        </p:nvSpPr>
        <p:spPr>
          <a:xfrm>
            <a:off x="3250406" y="1092994"/>
            <a:ext cx="2643188" cy="35719"/>
          </a:xfrm>
          <a:prstGeom prst="rect">
            <a:avLst/>
          </a:prstGeom>
          <a:solidFill>
            <a:srgbClr val="E67E22"/>
          </a:solidFill>
          <a:ln/>
        </p:spPr>
        <p:txBody>
          <a:bodyPr/>
          <a:lstStyle/>
          <a:p>
            <a:endParaRPr lang="en-IN"/>
          </a:p>
        </p:txBody>
      </p:sp>
      <p:sp>
        <p:nvSpPr>
          <p:cNvPr id="13" name="Shape 9"/>
          <p:cNvSpPr/>
          <p:nvPr/>
        </p:nvSpPr>
        <p:spPr>
          <a:xfrm>
            <a:off x="3393281" y="1271588"/>
            <a:ext cx="615060" cy="173236"/>
          </a:xfrm>
          <a:prstGeom prst="rect">
            <a:avLst/>
          </a:prstGeom>
          <a:solidFill>
            <a:srgbClr val="5DADE2"/>
          </a:solidFill>
          <a:ln/>
        </p:spPr>
        <p:txBody>
          <a:bodyPr/>
          <a:lstStyle/>
          <a:p>
            <a:endParaRPr lang="en-IN"/>
          </a:p>
        </p:txBody>
      </p:sp>
      <p:sp>
        <p:nvSpPr>
          <p:cNvPr id="14" name="Text 10"/>
          <p:cNvSpPr/>
          <p:nvPr/>
        </p:nvSpPr>
        <p:spPr>
          <a:xfrm>
            <a:off x="3393281" y="1271588"/>
            <a:ext cx="615060" cy="173236"/>
          </a:xfrm>
          <a:prstGeom prst="rect">
            <a:avLst/>
          </a:prstGeom>
          <a:noFill/>
          <a:ln/>
        </p:spPr>
        <p:txBody>
          <a:bodyPr wrap="square" lIns="85090" tIns="34036" rIns="85090" bIns="34036" rtlCol="0" anchor="t">
            <a:spAutoFit/>
          </a:bodyPr>
          <a:lstStyle/>
          <a:p>
            <a:pPr marL="0" indent="0" algn="l">
              <a:lnSpc>
                <a:spcPts val="800"/>
              </a:lnSpc>
              <a:buNone/>
            </a:pPr>
            <a:r>
              <a:rPr lang="en-US" sz="584" b="1" dirty="0">
                <a:solidFill>
                  <a:srgbClr val="FFFFFF"/>
                </a:solidFill>
              </a:rPr>
              <a:t>Analytics</a:t>
            </a:r>
            <a:endParaRPr lang="en-US" sz="584" dirty="0"/>
          </a:p>
        </p:txBody>
      </p:sp>
      <p:pic>
        <p:nvPicPr>
          <p:cNvPr id="15" name="Image 2" descr="preencoded.png"/>
          <p:cNvPicPr>
            <a:picLocks noChangeAspect="1"/>
          </p:cNvPicPr>
          <p:nvPr/>
        </p:nvPicPr>
        <p:blipFill>
          <a:blip r:embed="rId5"/>
          <a:stretch>
            <a:fillRect/>
          </a:stretch>
        </p:blipFill>
        <p:spPr>
          <a:xfrm>
            <a:off x="3393281" y="1585020"/>
            <a:ext cx="144661" cy="128588"/>
          </a:xfrm>
          <a:prstGeom prst="rect">
            <a:avLst/>
          </a:prstGeom>
        </p:spPr>
      </p:pic>
      <p:sp>
        <p:nvSpPr>
          <p:cNvPr id="16" name="Text 11"/>
          <p:cNvSpPr/>
          <p:nvPr/>
        </p:nvSpPr>
        <p:spPr>
          <a:xfrm>
            <a:off x="3609380" y="1551980"/>
            <a:ext cx="1131001" cy="194667"/>
          </a:xfrm>
          <a:prstGeom prst="rect">
            <a:avLst/>
          </a:prstGeom>
          <a:noFill/>
          <a:ln/>
        </p:spPr>
        <p:txBody>
          <a:bodyPr wrap="none" lIns="0" tIns="0" rIns="0" bIns="0" rtlCol="0" anchor="t">
            <a:spAutoFit/>
          </a:bodyPr>
          <a:lstStyle/>
          <a:p>
            <a:pPr marL="0" indent="0" algn="l">
              <a:lnSpc>
                <a:spcPts val="1400"/>
              </a:lnSpc>
              <a:buNone/>
            </a:pPr>
            <a:r>
              <a:rPr lang="en-US" sz="987" b="1" dirty="0">
                <a:solidFill>
                  <a:srgbClr val="2C3E50"/>
                </a:solidFill>
              </a:rPr>
              <a:t>Usage Analytics</a:t>
            </a:r>
            <a:endParaRPr lang="en-US" sz="987" dirty="0"/>
          </a:p>
        </p:txBody>
      </p:sp>
      <p:sp>
        <p:nvSpPr>
          <p:cNvPr id="17" name="Text 12"/>
          <p:cNvSpPr/>
          <p:nvPr/>
        </p:nvSpPr>
        <p:spPr>
          <a:xfrm>
            <a:off x="3393281" y="1832372"/>
            <a:ext cx="2357438" cy="482203"/>
          </a:xfrm>
          <a:prstGeom prst="rect">
            <a:avLst/>
          </a:prstGeom>
          <a:noFill/>
          <a:ln/>
        </p:spPr>
        <p:txBody>
          <a:bodyPr wrap="square" lIns="0" tIns="0" rIns="0" bIns="0" rtlCol="0" anchor="t">
            <a:spAutoFit/>
          </a:bodyPr>
          <a:lstStyle/>
          <a:p>
            <a:pPr marL="0" indent="0" algn="l">
              <a:lnSpc>
                <a:spcPts val="1300"/>
              </a:lnSpc>
              <a:buNone/>
            </a:pPr>
            <a:r>
              <a:rPr lang="en-US" sz="780" dirty="0">
                <a:solidFill>
                  <a:srgbClr val="2C3E50"/>
                </a:solidFill>
              </a:rPr>
              <a:t>Visual dashboard showing most viewed resources, active user segments, and hot research topics.</a:t>
            </a:r>
            <a:endParaRPr lang="en-US" sz="780" dirty="0"/>
          </a:p>
        </p:txBody>
      </p:sp>
      <p:sp>
        <p:nvSpPr>
          <p:cNvPr id="18" name="Shape 13"/>
          <p:cNvSpPr/>
          <p:nvPr/>
        </p:nvSpPr>
        <p:spPr>
          <a:xfrm>
            <a:off x="6072188" y="1092994"/>
            <a:ext cx="2643188" cy="1435894"/>
          </a:xfrm>
          <a:prstGeom prst="rect">
            <a:avLst/>
          </a:prstGeom>
          <a:solidFill>
            <a:srgbClr val="FFFFFF"/>
          </a:solidFill>
          <a:ln/>
        </p:spPr>
        <p:txBody>
          <a:bodyPr/>
          <a:lstStyle/>
          <a:p>
            <a:endParaRPr lang="en-IN"/>
          </a:p>
        </p:txBody>
      </p:sp>
      <p:sp>
        <p:nvSpPr>
          <p:cNvPr id="19" name="Shape 14"/>
          <p:cNvSpPr/>
          <p:nvPr/>
        </p:nvSpPr>
        <p:spPr>
          <a:xfrm>
            <a:off x="6072188" y="1092994"/>
            <a:ext cx="2643188" cy="35719"/>
          </a:xfrm>
          <a:prstGeom prst="rect">
            <a:avLst/>
          </a:prstGeom>
          <a:solidFill>
            <a:srgbClr val="5DADE2"/>
          </a:solidFill>
          <a:ln/>
        </p:spPr>
        <p:txBody>
          <a:bodyPr/>
          <a:lstStyle/>
          <a:p>
            <a:endParaRPr lang="en-IN"/>
          </a:p>
        </p:txBody>
      </p:sp>
      <p:sp>
        <p:nvSpPr>
          <p:cNvPr id="20" name="Shape 15"/>
          <p:cNvSpPr/>
          <p:nvPr/>
        </p:nvSpPr>
        <p:spPr>
          <a:xfrm>
            <a:off x="6215063" y="1271588"/>
            <a:ext cx="258626" cy="173236"/>
          </a:xfrm>
          <a:prstGeom prst="rect">
            <a:avLst/>
          </a:prstGeom>
          <a:solidFill>
            <a:srgbClr val="E67E22"/>
          </a:solidFill>
          <a:ln/>
        </p:spPr>
        <p:txBody>
          <a:bodyPr/>
          <a:lstStyle/>
          <a:p>
            <a:endParaRPr lang="en-IN"/>
          </a:p>
        </p:txBody>
      </p:sp>
      <p:sp>
        <p:nvSpPr>
          <p:cNvPr id="21" name="Text 16"/>
          <p:cNvSpPr/>
          <p:nvPr/>
        </p:nvSpPr>
        <p:spPr>
          <a:xfrm>
            <a:off x="6215063" y="1271588"/>
            <a:ext cx="258626" cy="173236"/>
          </a:xfrm>
          <a:prstGeom prst="rect">
            <a:avLst/>
          </a:prstGeom>
          <a:noFill/>
          <a:ln/>
        </p:spPr>
        <p:txBody>
          <a:bodyPr wrap="square" lIns="85090" tIns="34036" rIns="85090" bIns="34036" rtlCol="0" anchor="t">
            <a:spAutoFit/>
          </a:bodyPr>
          <a:lstStyle/>
          <a:p>
            <a:pPr marL="0" indent="0" algn="l">
              <a:lnSpc>
                <a:spcPts val="800"/>
              </a:lnSpc>
              <a:buNone/>
            </a:pPr>
            <a:r>
              <a:rPr lang="en-US" sz="584" b="1" dirty="0">
                <a:solidFill>
                  <a:srgbClr val="FFFFFF"/>
                </a:solidFill>
              </a:rPr>
              <a:t>AR</a:t>
            </a:r>
            <a:endParaRPr lang="en-US" sz="584" dirty="0"/>
          </a:p>
        </p:txBody>
      </p:sp>
      <p:pic>
        <p:nvPicPr>
          <p:cNvPr id="22" name="Image 3" descr="preencoded.png"/>
          <p:cNvPicPr>
            <a:picLocks noChangeAspect="1"/>
          </p:cNvPicPr>
          <p:nvPr/>
        </p:nvPicPr>
        <p:blipFill>
          <a:blip r:embed="rId6"/>
          <a:stretch>
            <a:fillRect/>
          </a:stretch>
        </p:blipFill>
        <p:spPr>
          <a:xfrm>
            <a:off x="6215063" y="1585020"/>
            <a:ext cx="160734" cy="128588"/>
          </a:xfrm>
          <a:prstGeom prst="rect">
            <a:avLst/>
          </a:prstGeom>
        </p:spPr>
      </p:pic>
      <p:sp>
        <p:nvSpPr>
          <p:cNvPr id="23" name="Text 17"/>
          <p:cNvSpPr/>
          <p:nvPr/>
        </p:nvSpPr>
        <p:spPr>
          <a:xfrm>
            <a:off x="6447234" y="1551980"/>
            <a:ext cx="949421" cy="194667"/>
          </a:xfrm>
          <a:prstGeom prst="rect">
            <a:avLst/>
          </a:prstGeom>
          <a:noFill/>
          <a:ln/>
        </p:spPr>
        <p:txBody>
          <a:bodyPr wrap="none" lIns="0" tIns="0" rIns="0" bIns="0" rtlCol="0" anchor="t">
            <a:spAutoFit/>
          </a:bodyPr>
          <a:lstStyle/>
          <a:p>
            <a:pPr marL="0" indent="0" algn="l">
              <a:lnSpc>
                <a:spcPts val="1400"/>
              </a:lnSpc>
              <a:buNone/>
            </a:pPr>
            <a:r>
              <a:rPr lang="en-US" sz="987" b="1" dirty="0">
                <a:solidFill>
                  <a:srgbClr val="2C3E50"/>
                </a:solidFill>
              </a:rPr>
              <a:t>AR Navigator</a:t>
            </a:r>
            <a:endParaRPr lang="en-US" sz="987" dirty="0"/>
          </a:p>
        </p:txBody>
      </p:sp>
      <p:sp>
        <p:nvSpPr>
          <p:cNvPr id="24" name="Text 18"/>
          <p:cNvSpPr/>
          <p:nvPr/>
        </p:nvSpPr>
        <p:spPr>
          <a:xfrm>
            <a:off x="6215063" y="1832372"/>
            <a:ext cx="2357438" cy="482203"/>
          </a:xfrm>
          <a:prstGeom prst="rect">
            <a:avLst/>
          </a:prstGeom>
          <a:noFill/>
          <a:ln/>
        </p:spPr>
        <p:txBody>
          <a:bodyPr wrap="square" lIns="0" tIns="0" rIns="0" bIns="0" rtlCol="0" anchor="t">
            <a:spAutoFit/>
          </a:bodyPr>
          <a:lstStyle/>
          <a:p>
            <a:pPr marL="0" indent="0" algn="l">
              <a:lnSpc>
                <a:spcPts val="1300"/>
              </a:lnSpc>
              <a:buNone/>
            </a:pPr>
            <a:r>
              <a:rPr lang="en-US" sz="780" dirty="0">
                <a:solidFill>
                  <a:srgbClr val="2C3E50"/>
                </a:solidFill>
              </a:rPr>
              <a:t>Mobile AR guidance helping students locate books on shelves, reducing physical search time.</a:t>
            </a:r>
            <a:endParaRPr lang="en-US" sz="780" dirty="0"/>
          </a:p>
        </p:txBody>
      </p:sp>
      <p:sp>
        <p:nvSpPr>
          <p:cNvPr id="25" name="Shape 19"/>
          <p:cNvSpPr/>
          <p:nvPr/>
        </p:nvSpPr>
        <p:spPr>
          <a:xfrm>
            <a:off x="428625" y="2707481"/>
            <a:ext cx="2643188" cy="1435894"/>
          </a:xfrm>
          <a:prstGeom prst="rect">
            <a:avLst/>
          </a:prstGeom>
          <a:solidFill>
            <a:srgbClr val="FFFFFF"/>
          </a:solidFill>
          <a:ln/>
        </p:spPr>
        <p:txBody>
          <a:bodyPr/>
          <a:lstStyle/>
          <a:p>
            <a:endParaRPr lang="en-IN"/>
          </a:p>
        </p:txBody>
      </p:sp>
      <p:sp>
        <p:nvSpPr>
          <p:cNvPr id="26" name="Shape 20"/>
          <p:cNvSpPr/>
          <p:nvPr/>
        </p:nvSpPr>
        <p:spPr>
          <a:xfrm>
            <a:off x="428625" y="2707481"/>
            <a:ext cx="2643188" cy="35719"/>
          </a:xfrm>
          <a:prstGeom prst="rect">
            <a:avLst/>
          </a:prstGeom>
          <a:solidFill>
            <a:srgbClr val="E67E22"/>
          </a:solidFill>
          <a:ln/>
        </p:spPr>
        <p:txBody>
          <a:bodyPr/>
          <a:lstStyle/>
          <a:p>
            <a:endParaRPr lang="en-IN"/>
          </a:p>
        </p:txBody>
      </p:sp>
      <p:sp>
        <p:nvSpPr>
          <p:cNvPr id="27" name="Shape 21"/>
          <p:cNvSpPr/>
          <p:nvPr/>
        </p:nvSpPr>
        <p:spPr>
          <a:xfrm>
            <a:off x="571500" y="2886075"/>
            <a:ext cx="314855" cy="173236"/>
          </a:xfrm>
          <a:prstGeom prst="rect">
            <a:avLst/>
          </a:prstGeom>
          <a:solidFill>
            <a:srgbClr val="5DADE2"/>
          </a:solidFill>
          <a:ln/>
        </p:spPr>
        <p:txBody>
          <a:bodyPr/>
          <a:lstStyle/>
          <a:p>
            <a:endParaRPr lang="en-IN"/>
          </a:p>
        </p:txBody>
      </p:sp>
      <p:sp>
        <p:nvSpPr>
          <p:cNvPr id="28" name="Text 22"/>
          <p:cNvSpPr/>
          <p:nvPr/>
        </p:nvSpPr>
        <p:spPr>
          <a:xfrm>
            <a:off x="571500" y="2886075"/>
            <a:ext cx="314855" cy="173236"/>
          </a:xfrm>
          <a:prstGeom prst="rect">
            <a:avLst/>
          </a:prstGeom>
          <a:noFill/>
          <a:ln/>
        </p:spPr>
        <p:txBody>
          <a:bodyPr wrap="square" lIns="85090" tIns="34036" rIns="85090" bIns="34036" rtlCol="0" anchor="t">
            <a:spAutoFit/>
          </a:bodyPr>
          <a:lstStyle/>
          <a:p>
            <a:pPr marL="0" indent="0" algn="l">
              <a:lnSpc>
                <a:spcPts val="800"/>
              </a:lnSpc>
              <a:buNone/>
            </a:pPr>
            <a:r>
              <a:rPr lang="en-US" sz="584" b="1" dirty="0">
                <a:solidFill>
                  <a:srgbClr val="FFFFFF"/>
                </a:solidFill>
              </a:rPr>
              <a:t>NLP</a:t>
            </a:r>
            <a:endParaRPr lang="en-US" sz="584" dirty="0"/>
          </a:p>
        </p:txBody>
      </p:sp>
      <p:pic>
        <p:nvPicPr>
          <p:cNvPr id="29" name="Image 4" descr="preencoded.png"/>
          <p:cNvPicPr>
            <a:picLocks noChangeAspect="1"/>
          </p:cNvPicPr>
          <p:nvPr/>
        </p:nvPicPr>
        <p:blipFill>
          <a:blip r:embed="rId7"/>
          <a:stretch>
            <a:fillRect/>
          </a:stretch>
        </p:blipFill>
        <p:spPr>
          <a:xfrm>
            <a:off x="571500" y="3199507"/>
            <a:ext cx="128588" cy="128588"/>
          </a:xfrm>
          <a:prstGeom prst="rect">
            <a:avLst/>
          </a:prstGeom>
        </p:spPr>
      </p:pic>
      <p:sp>
        <p:nvSpPr>
          <p:cNvPr id="30" name="Text 23"/>
          <p:cNvSpPr/>
          <p:nvPr/>
        </p:nvSpPr>
        <p:spPr>
          <a:xfrm>
            <a:off x="771525" y="3166467"/>
            <a:ext cx="1178579" cy="194667"/>
          </a:xfrm>
          <a:prstGeom prst="rect">
            <a:avLst/>
          </a:prstGeom>
          <a:noFill/>
          <a:ln/>
        </p:spPr>
        <p:txBody>
          <a:bodyPr wrap="none" lIns="0" tIns="0" rIns="0" bIns="0" rtlCol="0" anchor="t">
            <a:spAutoFit/>
          </a:bodyPr>
          <a:lstStyle/>
          <a:p>
            <a:pPr marL="0" indent="0" algn="l">
              <a:lnSpc>
                <a:spcPts val="1400"/>
              </a:lnSpc>
              <a:buNone/>
            </a:pPr>
            <a:r>
              <a:rPr lang="en-US" sz="987" b="1" dirty="0">
                <a:solidFill>
                  <a:srgbClr val="2C3E50"/>
                </a:solidFill>
              </a:rPr>
              <a:t>Semantic Search</a:t>
            </a:r>
            <a:endParaRPr lang="en-US" sz="987" dirty="0"/>
          </a:p>
        </p:txBody>
      </p:sp>
      <p:sp>
        <p:nvSpPr>
          <p:cNvPr id="31" name="Text 24"/>
          <p:cNvSpPr/>
          <p:nvPr/>
        </p:nvSpPr>
        <p:spPr>
          <a:xfrm>
            <a:off x="571500" y="3446859"/>
            <a:ext cx="2357438" cy="321469"/>
          </a:xfrm>
          <a:prstGeom prst="rect">
            <a:avLst/>
          </a:prstGeom>
          <a:noFill/>
          <a:ln/>
        </p:spPr>
        <p:txBody>
          <a:bodyPr wrap="square" lIns="0" tIns="0" rIns="0" bIns="0" rtlCol="0" anchor="t">
            <a:spAutoFit/>
          </a:bodyPr>
          <a:lstStyle/>
          <a:p>
            <a:pPr marL="0" indent="0" algn="l">
              <a:lnSpc>
                <a:spcPts val="1300"/>
              </a:lnSpc>
              <a:buNone/>
            </a:pPr>
            <a:r>
              <a:rPr lang="en-US" sz="780" dirty="0">
                <a:solidFill>
                  <a:srgbClr val="2C3E50"/>
                </a:solidFill>
              </a:rPr>
              <a:t>NLP-based search grouping results by topics and related themes for effective discovery.</a:t>
            </a:r>
            <a:endParaRPr lang="en-US" sz="780" dirty="0"/>
          </a:p>
        </p:txBody>
      </p:sp>
      <p:sp>
        <p:nvSpPr>
          <p:cNvPr id="32" name="Shape 25"/>
          <p:cNvSpPr/>
          <p:nvPr/>
        </p:nvSpPr>
        <p:spPr>
          <a:xfrm>
            <a:off x="3250406" y="2707481"/>
            <a:ext cx="2643188" cy="1435894"/>
          </a:xfrm>
          <a:prstGeom prst="rect">
            <a:avLst/>
          </a:prstGeom>
          <a:solidFill>
            <a:srgbClr val="FFFFFF"/>
          </a:solidFill>
          <a:ln/>
        </p:spPr>
        <p:txBody>
          <a:bodyPr/>
          <a:lstStyle/>
          <a:p>
            <a:endParaRPr lang="en-IN"/>
          </a:p>
        </p:txBody>
      </p:sp>
      <p:sp>
        <p:nvSpPr>
          <p:cNvPr id="33" name="Shape 26"/>
          <p:cNvSpPr/>
          <p:nvPr/>
        </p:nvSpPr>
        <p:spPr>
          <a:xfrm>
            <a:off x="3250406" y="2707481"/>
            <a:ext cx="2643188" cy="35719"/>
          </a:xfrm>
          <a:prstGeom prst="rect">
            <a:avLst/>
          </a:prstGeom>
          <a:solidFill>
            <a:srgbClr val="5DADE2"/>
          </a:solidFill>
          <a:ln/>
        </p:spPr>
        <p:txBody>
          <a:bodyPr/>
          <a:lstStyle/>
          <a:p>
            <a:endParaRPr lang="en-IN"/>
          </a:p>
        </p:txBody>
      </p:sp>
      <p:sp>
        <p:nvSpPr>
          <p:cNvPr id="34" name="Shape 27"/>
          <p:cNvSpPr/>
          <p:nvPr/>
        </p:nvSpPr>
        <p:spPr>
          <a:xfrm>
            <a:off x="3393281" y="2886075"/>
            <a:ext cx="779562" cy="173236"/>
          </a:xfrm>
          <a:prstGeom prst="rect">
            <a:avLst/>
          </a:prstGeom>
          <a:solidFill>
            <a:srgbClr val="E67E22"/>
          </a:solidFill>
          <a:ln/>
        </p:spPr>
        <p:txBody>
          <a:bodyPr/>
          <a:lstStyle/>
          <a:p>
            <a:endParaRPr lang="en-IN"/>
          </a:p>
        </p:txBody>
      </p:sp>
      <p:sp>
        <p:nvSpPr>
          <p:cNvPr id="35" name="Text 28"/>
          <p:cNvSpPr/>
          <p:nvPr/>
        </p:nvSpPr>
        <p:spPr>
          <a:xfrm>
            <a:off x="3393281" y="2886075"/>
            <a:ext cx="779562" cy="173236"/>
          </a:xfrm>
          <a:prstGeom prst="rect">
            <a:avLst/>
          </a:prstGeom>
          <a:noFill/>
          <a:ln/>
        </p:spPr>
        <p:txBody>
          <a:bodyPr wrap="square" lIns="85090" tIns="34036" rIns="85090" bIns="34036" rtlCol="0" anchor="t">
            <a:spAutoFit/>
          </a:bodyPr>
          <a:lstStyle/>
          <a:p>
            <a:pPr marL="0" indent="0" algn="l">
              <a:lnSpc>
                <a:spcPts val="800"/>
              </a:lnSpc>
              <a:buNone/>
            </a:pPr>
            <a:r>
              <a:rPr lang="en-US" sz="584" b="1" dirty="0">
                <a:solidFill>
                  <a:srgbClr val="FFFFFF"/>
                </a:solidFill>
              </a:rPr>
              <a:t>Productivity</a:t>
            </a:r>
            <a:endParaRPr lang="en-US" sz="584" dirty="0"/>
          </a:p>
        </p:txBody>
      </p:sp>
      <p:pic>
        <p:nvPicPr>
          <p:cNvPr id="36" name="Image 5" descr="preencoded.png"/>
          <p:cNvPicPr>
            <a:picLocks noChangeAspect="1"/>
          </p:cNvPicPr>
          <p:nvPr/>
        </p:nvPicPr>
        <p:blipFill>
          <a:blip r:embed="rId8"/>
          <a:stretch>
            <a:fillRect/>
          </a:stretch>
        </p:blipFill>
        <p:spPr>
          <a:xfrm>
            <a:off x="3393281" y="3199507"/>
            <a:ext cx="128588" cy="128588"/>
          </a:xfrm>
          <a:prstGeom prst="rect">
            <a:avLst/>
          </a:prstGeom>
        </p:spPr>
      </p:pic>
      <p:sp>
        <p:nvSpPr>
          <p:cNvPr id="37" name="Text 29"/>
          <p:cNvSpPr/>
          <p:nvPr/>
        </p:nvSpPr>
        <p:spPr>
          <a:xfrm>
            <a:off x="3593306" y="3166467"/>
            <a:ext cx="1222167" cy="194667"/>
          </a:xfrm>
          <a:prstGeom prst="rect">
            <a:avLst/>
          </a:prstGeom>
          <a:noFill/>
          <a:ln/>
        </p:spPr>
        <p:txBody>
          <a:bodyPr wrap="none" lIns="0" tIns="0" rIns="0" bIns="0" rtlCol="0" anchor="t">
            <a:spAutoFit/>
          </a:bodyPr>
          <a:lstStyle/>
          <a:p>
            <a:pPr marL="0" indent="0" algn="l">
              <a:lnSpc>
                <a:spcPts val="1400"/>
              </a:lnSpc>
              <a:buNone/>
            </a:pPr>
            <a:r>
              <a:rPr lang="en-US" sz="987" b="1" dirty="0">
                <a:solidFill>
                  <a:srgbClr val="2C3E50"/>
                </a:solidFill>
              </a:rPr>
              <a:t>Research Tracker</a:t>
            </a:r>
            <a:endParaRPr lang="en-US" sz="987" dirty="0"/>
          </a:p>
        </p:txBody>
      </p:sp>
      <p:sp>
        <p:nvSpPr>
          <p:cNvPr id="38" name="Text 30"/>
          <p:cNvSpPr/>
          <p:nvPr/>
        </p:nvSpPr>
        <p:spPr>
          <a:xfrm>
            <a:off x="3393281" y="3446859"/>
            <a:ext cx="2357438" cy="482203"/>
          </a:xfrm>
          <a:prstGeom prst="rect">
            <a:avLst/>
          </a:prstGeom>
          <a:noFill/>
          <a:ln/>
        </p:spPr>
        <p:txBody>
          <a:bodyPr wrap="square" lIns="0" tIns="0" rIns="0" bIns="0" rtlCol="0" anchor="t">
            <a:spAutoFit/>
          </a:bodyPr>
          <a:lstStyle/>
          <a:p>
            <a:pPr marL="0" indent="0" algn="l">
              <a:lnSpc>
                <a:spcPts val="1300"/>
              </a:lnSpc>
              <a:buNone/>
            </a:pPr>
            <a:r>
              <a:rPr lang="en-US" sz="780" dirty="0">
                <a:solidFill>
                  <a:srgbClr val="2C3E50"/>
                </a:solidFill>
              </a:rPr>
              <a:t>Organizes research into phases, sets milestones, and tracks progress with suggested next steps.</a:t>
            </a:r>
            <a:endParaRPr lang="en-US" sz="780" dirty="0"/>
          </a:p>
        </p:txBody>
      </p:sp>
      <p:sp>
        <p:nvSpPr>
          <p:cNvPr id="39" name="Shape 31"/>
          <p:cNvSpPr/>
          <p:nvPr/>
        </p:nvSpPr>
        <p:spPr>
          <a:xfrm>
            <a:off x="6072188" y="2707481"/>
            <a:ext cx="2643188" cy="1435894"/>
          </a:xfrm>
          <a:prstGeom prst="rect">
            <a:avLst/>
          </a:prstGeom>
          <a:solidFill>
            <a:srgbClr val="FFFFFF"/>
          </a:solidFill>
          <a:ln/>
        </p:spPr>
        <p:txBody>
          <a:bodyPr/>
          <a:lstStyle/>
          <a:p>
            <a:endParaRPr lang="en-IN"/>
          </a:p>
        </p:txBody>
      </p:sp>
      <p:sp>
        <p:nvSpPr>
          <p:cNvPr id="40" name="Shape 32"/>
          <p:cNvSpPr/>
          <p:nvPr/>
        </p:nvSpPr>
        <p:spPr>
          <a:xfrm>
            <a:off x="6072188" y="2707481"/>
            <a:ext cx="2643188" cy="35719"/>
          </a:xfrm>
          <a:prstGeom prst="rect">
            <a:avLst/>
          </a:prstGeom>
          <a:solidFill>
            <a:srgbClr val="E67E22"/>
          </a:solidFill>
          <a:ln/>
        </p:spPr>
        <p:txBody>
          <a:bodyPr/>
          <a:lstStyle/>
          <a:p>
            <a:endParaRPr lang="en-IN"/>
          </a:p>
        </p:txBody>
      </p:sp>
      <p:sp>
        <p:nvSpPr>
          <p:cNvPr id="41" name="Shape 33"/>
          <p:cNvSpPr/>
          <p:nvPr/>
        </p:nvSpPr>
        <p:spPr>
          <a:xfrm>
            <a:off x="6215063" y="2850356"/>
            <a:ext cx="235381" cy="173236"/>
          </a:xfrm>
          <a:prstGeom prst="rect">
            <a:avLst/>
          </a:prstGeom>
          <a:solidFill>
            <a:srgbClr val="E67E22"/>
          </a:solidFill>
          <a:ln/>
        </p:spPr>
        <p:txBody>
          <a:bodyPr/>
          <a:lstStyle/>
          <a:p>
            <a:endParaRPr lang="en-IN"/>
          </a:p>
        </p:txBody>
      </p:sp>
      <p:sp>
        <p:nvSpPr>
          <p:cNvPr id="42" name="Text 34"/>
          <p:cNvSpPr/>
          <p:nvPr/>
        </p:nvSpPr>
        <p:spPr>
          <a:xfrm>
            <a:off x="6215063" y="2850356"/>
            <a:ext cx="235381" cy="173236"/>
          </a:xfrm>
          <a:prstGeom prst="rect">
            <a:avLst/>
          </a:prstGeom>
          <a:noFill/>
          <a:ln/>
        </p:spPr>
        <p:txBody>
          <a:bodyPr wrap="square" lIns="85090" tIns="34036" rIns="85090" bIns="34036" rtlCol="0" anchor="t">
            <a:spAutoFit/>
          </a:bodyPr>
          <a:lstStyle/>
          <a:p>
            <a:pPr marL="0" indent="0" algn="l">
              <a:lnSpc>
                <a:spcPts val="800"/>
              </a:lnSpc>
              <a:buNone/>
            </a:pPr>
            <a:r>
              <a:rPr lang="en-US" sz="584" b="1" dirty="0">
                <a:solidFill>
                  <a:srgbClr val="FFFFFF"/>
                </a:solidFill>
              </a:rPr>
              <a:t>AI</a:t>
            </a:r>
            <a:endParaRPr lang="en-US" sz="584" dirty="0"/>
          </a:p>
        </p:txBody>
      </p:sp>
      <p:pic>
        <p:nvPicPr>
          <p:cNvPr id="43" name="Image 6" descr="preencoded.png"/>
          <p:cNvPicPr>
            <a:picLocks noChangeAspect="1"/>
          </p:cNvPicPr>
          <p:nvPr/>
        </p:nvPicPr>
        <p:blipFill>
          <a:blip r:embed="rId9"/>
          <a:stretch>
            <a:fillRect/>
          </a:stretch>
        </p:blipFill>
        <p:spPr>
          <a:xfrm>
            <a:off x="6215063" y="3163788"/>
            <a:ext cx="160734" cy="128588"/>
          </a:xfrm>
          <a:prstGeom prst="rect">
            <a:avLst/>
          </a:prstGeom>
        </p:spPr>
      </p:pic>
      <p:sp>
        <p:nvSpPr>
          <p:cNvPr id="44" name="Text 35"/>
          <p:cNvSpPr/>
          <p:nvPr/>
        </p:nvSpPr>
        <p:spPr>
          <a:xfrm>
            <a:off x="6447234" y="3130748"/>
            <a:ext cx="1355331" cy="194667"/>
          </a:xfrm>
          <a:prstGeom prst="rect">
            <a:avLst/>
          </a:prstGeom>
          <a:noFill/>
          <a:ln/>
        </p:spPr>
        <p:txBody>
          <a:bodyPr wrap="none" lIns="0" tIns="0" rIns="0" bIns="0" rtlCol="0" anchor="t">
            <a:spAutoFit/>
          </a:bodyPr>
          <a:lstStyle/>
          <a:p>
            <a:pPr marL="0" indent="0" algn="l">
              <a:lnSpc>
                <a:spcPts val="1400"/>
              </a:lnSpc>
              <a:buNone/>
            </a:pPr>
            <a:r>
              <a:rPr lang="en-US" sz="987" b="1" dirty="0">
                <a:solidFill>
                  <a:srgbClr val="2C3E50"/>
                </a:solidFill>
              </a:rPr>
              <a:t>AI Research Helper</a:t>
            </a:r>
            <a:endParaRPr lang="en-US" sz="987" dirty="0"/>
          </a:p>
        </p:txBody>
      </p:sp>
      <p:sp>
        <p:nvSpPr>
          <p:cNvPr id="45" name="Text 36"/>
          <p:cNvSpPr/>
          <p:nvPr/>
        </p:nvSpPr>
        <p:spPr>
          <a:xfrm>
            <a:off x="6215063" y="3411141"/>
            <a:ext cx="2357438" cy="482203"/>
          </a:xfrm>
          <a:prstGeom prst="rect">
            <a:avLst/>
          </a:prstGeom>
          <a:noFill/>
          <a:ln/>
        </p:spPr>
        <p:txBody>
          <a:bodyPr wrap="square" lIns="0" tIns="0" rIns="0" bIns="0" rtlCol="0" anchor="t">
            <a:spAutoFit/>
          </a:bodyPr>
          <a:lstStyle/>
          <a:p>
            <a:pPr marL="0" indent="0" algn="l">
              <a:lnSpc>
                <a:spcPts val="1300"/>
              </a:lnSpc>
              <a:buNone/>
            </a:pPr>
            <a:r>
              <a:rPr lang="en-US" sz="780" dirty="0">
                <a:solidFill>
                  <a:srgbClr val="2C3E50"/>
                </a:solidFill>
              </a:rPr>
              <a:t>AI-powered chatbot assisting with research formulation, source discovery, and strategy refinement.</a:t>
            </a:r>
            <a:endParaRPr lang="en-US" sz="78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571500" y="428625"/>
            <a:ext cx="5271976" cy="408980"/>
          </a:xfrm>
          <a:prstGeom prst="rect">
            <a:avLst/>
          </a:prstGeom>
          <a:noFill/>
          <a:ln/>
        </p:spPr>
        <p:txBody>
          <a:bodyPr wrap="none" lIns="0" tIns="0" rIns="0" bIns="0" rtlCol="0" anchor="t">
            <a:spAutoFit/>
          </a:bodyPr>
          <a:lstStyle/>
          <a:p>
            <a:pPr marL="0" indent="0" algn="l">
              <a:lnSpc>
                <a:spcPts val="2800"/>
              </a:lnSpc>
              <a:buNone/>
            </a:pPr>
            <a:r>
              <a:rPr lang="en-US" sz="2121" b="1" dirty="0">
                <a:solidFill>
                  <a:srgbClr val="2C3E50"/>
                </a:solidFill>
              </a:rPr>
              <a:t>Project Progress &amp; Implementation</a:t>
            </a:r>
            <a:endParaRPr lang="en-US" sz="2121" dirty="0"/>
          </a:p>
        </p:txBody>
      </p:sp>
      <p:sp>
        <p:nvSpPr>
          <p:cNvPr id="4" name="Shape 1"/>
          <p:cNvSpPr/>
          <p:nvPr/>
        </p:nvSpPr>
        <p:spPr>
          <a:xfrm>
            <a:off x="1143000" y="1616273"/>
            <a:ext cx="571500" cy="571500"/>
          </a:xfrm>
          <a:prstGeom prst="ellipse">
            <a:avLst/>
          </a:prstGeom>
          <a:solidFill>
            <a:srgbClr val="E67E22"/>
          </a:solidFill>
          <a:ln w="27432">
            <a:solidFill>
              <a:srgbClr val="E67E22"/>
            </a:solidFill>
            <a:prstDash val="solid"/>
          </a:ln>
        </p:spPr>
        <p:txBody>
          <a:bodyPr/>
          <a:lstStyle/>
          <a:p>
            <a:endParaRPr lang="en-IN"/>
          </a:p>
        </p:txBody>
      </p:sp>
      <p:pic>
        <p:nvPicPr>
          <p:cNvPr id="5" name="Image 1" descr="preencoded.png"/>
          <p:cNvPicPr>
            <a:picLocks noChangeAspect="1"/>
          </p:cNvPicPr>
          <p:nvPr/>
        </p:nvPicPr>
        <p:blipFill>
          <a:blip r:embed="rId4"/>
          <a:stretch>
            <a:fillRect/>
          </a:stretch>
        </p:blipFill>
        <p:spPr>
          <a:xfrm>
            <a:off x="1321594" y="1794867"/>
            <a:ext cx="214313" cy="214313"/>
          </a:xfrm>
          <a:prstGeom prst="rect">
            <a:avLst/>
          </a:prstGeom>
        </p:spPr>
      </p:pic>
      <p:sp>
        <p:nvSpPr>
          <p:cNvPr id="6" name="Text 2"/>
          <p:cNvSpPr/>
          <p:nvPr/>
        </p:nvSpPr>
        <p:spPr>
          <a:xfrm>
            <a:off x="1071339" y="2366367"/>
            <a:ext cx="714794" cy="214313"/>
          </a:xfrm>
          <a:prstGeom prst="rect">
            <a:avLst/>
          </a:prstGeom>
          <a:noFill/>
          <a:ln/>
        </p:spPr>
        <p:txBody>
          <a:bodyPr wrap="none" lIns="0" tIns="0" rIns="0" bIns="0" rtlCol="0" anchor="t">
            <a:spAutoFit/>
          </a:bodyPr>
          <a:lstStyle/>
          <a:p>
            <a:pPr marL="0" indent="0" algn="ctr">
              <a:lnSpc>
                <a:spcPts val="1500"/>
              </a:lnSpc>
              <a:buNone/>
            </a:pPr>
            <a:r>
              <a:rPr lang="en-US" sz="1090" b="1" dirty="0">
                <a:solidFill>
                  <a:srgbClr val="2C3E50"/>
                </a:solidFill>
              </a:rPr>
              <a:t>Research</a:t>
            </a:r>
            <a:endParaRPr lang="en-US" sz="1090" dirty="0"/>
          </a:p>
        </p:txBody>
      </p:sp>
      <p:sp>
        <p:nvSpPr>
          <p:cNvPr id="7" name="Text 3"/>
          <p:cNvSpPr/>
          <p:nvPr/>
        </p:nvSpPr>
        <p:spPr>
          <a:xfrm>
            <a:off x="571500" y="2687836"/>
            <a:ext cx="1714500" cy="450056"/>
          </a:xfrm>
          <a:prstGeom prst="rect">
            <a:avLst/>
          </a:prstGeom>
          <a:noFill/>
          <a:ln/>
        </p:spPr>
        <p:txBody>
          <a:bodyPr wrap="square" lIns="0" tIns="0" rIns="0" bIns="0" rtlCol="0" anchor="t">
            <a:spAutoFit/>
          </a:bodyPr>
          <a:lstStyle/>
          <a:p>
            <a:pPr marL="0" indent="0" algn="ctr">
              <a:lnSpc>
                <a:spcPts val="1200"/>
              </a:lnSpc>
              <a:buNone/>
            </a:pPr>
            <a:r>
              <a:rPr lang="en-US" sz="780" dirty="0">
                <a:solidFill>
                  <a:srgbClr val="2C3E50"/>
                </a:solidFill>
              </a:rPr>
              <a:t>TAMU-CC workflow analysis, feature gap identification, and system architecture design.</a:t>
            </a:r>
            <a:endParaRPr lang="en-US" sz="780" dirty="0"/>
          </a:p>
        </p:txBody>
      </p:sp>
      <p:sp>
        <p:nvSpPr>
          <p:cNvPr id="8" name="Shape 4"/>
          <p:cNvSpPr/>
          <p:nvPr/>
        </p:nvSpPr>
        <p:spPr>
          <a:xfrm>
            <a:off x="3238491" y="1616273"/>
            <a:ext cx="571500" cy="571500"/>
          </a:xfrm>
          <a:prstGeom prst="ellipse">
            <a:avLst/>
          </a:prstGeom>
          <a:solidFill>
            <a:srgbClr val="E67E22"/>
          </a:solidFill>
          <a:ln w="27432">
            <a:solidFill>
              <a:srgbClr val="E67E22"/>
            </a:solidFill>
            <a:prstDash val="solid"/>
          </a:ln>
        </p:spPr>
        <p:txBody>
          <a:bodyPr/>
          <a:lstStyle/>
          <a:p>
            <a:endParaRPr lang="en-IN"/>
          </a:p>
        </p:txBody>
      </p:sp>
      <p:pic>
        <p:nvPicPr>
          <p:cNvPr id="9" name="Image 2" descr="preencoded.png"/>
          <p:cNvPicPr>
            <a:picLocks noChangeAspect="1"/>
          </p:cNvPicPr>
          <p:nvPr/>
        </p:nvPicPr>
        <p:blipFill>
          <a:blip r:embed="rId5"/>
          <a:stretch>
            <a:fillRect/>
          </a:stretch>
        </p:blipFill>
        <p:spPr>
          <a:xfrm>
            <a:off x="3390295" y="1794867"/>
            <a:ext cx="267891" cy="214313"/>
          </a:xfrm>
          <a:prstGeom prst="rect">
            <a:avLst/>
          </a:prstGeom>
        </p:spPr>
      </p:pic>
      <p:sp>
        <p:nvSpPr>
          <p:cNvPr id="10" name="Text 5"/>
          <p:cNvSpPr/>
          <p:nvPr/>
        </p:nvSpPr>
        <p:spPr>
          <a:xfrm>
            <a:off x="3176820" y="2366367"/>
            <a:ext cx="694841" cy="214313"/>
          </a:xfrm>
          <a:prstGeom prst="rect">
            <a:avLst/>
          </a:prstGeom>
          <a:noFill/>
          <a:ln/>
        </p:spPr>
        <p:txBody>
          <a:bodyPr wrap="none" lIns="0" tIns="0" rIns="0" bIns="0" rtlCol="0" anchor="t">
            <a:spAutoFit/>
          </a:bodyPr>
          <a:lstStyle/>
          <a:p>
            <a:pPr marL="0" indent="0" algn="ctr">
              <a:lnSpc>
                <a:spcPts val="1500"/>
              </a:lnSpc>
              <a:buNone/>
            </a:pPr>
            <a:r>
              <a:rPr lang="en-US" sz="1090" b="1" dirty="0">
                <a:solidFill>
                  <a:srgbClr val="2C3E50"/>
                </a:solidFill>
              </a:rPr>
              <a:t>Core Dev</a:t>
            </a:r>
            <a:endParaRPr lang="en-US" sz="1090" dirty="0"/>
          </a:p>
        </p:txBody>
      </p:sp>
      <p:sp>
        <p:nvSpPr>
          <p:cNvPr id="11" name="Text 6"/>
          <p:cNvSpPr/>
          <p:nvPr/>
        </p:nvSpPr>
        <p:spPr>
          <a:xfrm>
            <a:off x="2666991" y="2687836"/>
            <a:ext cx="1714500" cy="450056"/>
          </a:xfrm>
          <a:prstGeom prst="rect">
            <a:avLst/>
          </a:prstGeom>
          <a:noFill/>
          <a:ln/>
        </p:spPr>
        <p:txBody>
          <a:bodyPr wrap="square" lIns="0" tIns="0" rIns="0" bIns="0" rtlCol="0" anchor="t">
            <a:spAutoFit/>
          </a:bodyPr>
          <a:lstStyle/>
          <a:p>
            <a:pPr marL="0" indent="0" algn="ctr">
              <a:lnSpc>
                <a:spcPts val="1200"/>
              </a:lnSpc>
              <a:buNone/>
            </a:pPr>
            <a:r>
              <a:rPr lang="en-US" sz="780" dirty="0">
                <a:solidFill>
                  <a:srgbClr val="2C3E50"/>
                </a:solidFill>
              </a:rPr>
              <a:t>Backend microservices, dual-panel UI development, and inventory management module.</a:t>
            </a:r>
            <a:endParaRPr lang="en-US" sz="780" dirty="0"/>
          </a:p>
        </p:txBody>
      </p:sp>
      <p:sp>
        <p:nvSpPr>
          <p:cNvPr id="12" name="Shape 7"/>
          <p:cNvSpPr/>
          <p:nvPr/>
        </p:nvSpPr>
        <p:spPr>
          <a:xfrm>
            <a:off x="5333981" y="1616273"/>
            <a:ext cx="571500" cy="571500"/>
          </a:xfrm>
          <a:prstGeom prst="ellipse">
            <a:avLst/>
          </a:prstGeom>
          <a:solidFill>
            <a:srgbClr val="FFFFFF"/>
          </a:solidFill>
          <a:ln w="27432">
            <a:solidFill>
              <a:srgbClr val="E67E22"/>
            </a:solidFill>
            <a:prstDash val="solid"/>
          </a:ln>
        </p:spPr>
        <p:txBody>
          <a:bodyPr/>
          <a:lstStyle/>
          <a:p>
            <a:endParaRPr lang="en-IN"/>
          </a:p>
        </p:txBody>
      </p:sp>
      <p:pic>
        <p:nvPicPr>
          <p:cNvPr id="13" name="Image 3" descr="preencoded.png"/>
          <p:cNvPicPr>
            <a:picLocks noChangeAspect="1"/>
          </p:cNvPicPr>
          <p:nvPr/>
        </p:nvPicPr>
        <p:blipFill>
          <a:blip r:embed="rId6"/>
          <a:stretch>
            <a:fillRect/>
          </a:stretch>
        </p:blipFill>
        <p:spPr>
          <a:xfrm>
            <a:off x="5512575" y="1794867"/>
            <a:ext cx="214313" cy="214313"/>
          </a:xfrm>
          <a:prstGeom prst="rect">
            <a:avLst/>
          </a:prstGeom>
        </p:spPr>
      </p:pic>
      <p:sp>
        <p:nvSpPr>
          <p:cNvPr id="14" name="Text 8"/>
          <p:cNvSpPr/>
          <p:nvPr/>
        </p:nvSpPr>
        <p:spPr>
          <a:xfrm>
            <a:off x="5062100" y="2366367"/>
            <a:ext cx="1115234" cy="214313"/>
          </a:xfrm>
          <a:prstGeom prst="rect">
            <a:avLst/>
          </a:prstGeom>
          <a:noFill/>
          <a:ln/>
        </p:spPr>
        <p:txBody>
          <a:bodyPr wrap="none" lIns="0" tIns="0" rIns="0" bIns="0" rtlCol="0" anchor="t">
            <a:spAutoFit/>
          </a:bodyPr>
          <a:lstStyle/>
          <a:p>
            <a:pPr marL="0" indent="0" algn="ctr">
              <a:lnSpc>
                <a:spcPts val="1500"/>
              </a:lnSpc>
              <a:buNone/>
            </a:pPr>
            <a:r>
              <a:rPr lang="en-US" sz="1090" b="1" dirty="0">
                <a:solidFill>
                  <a:srgbClr val="2C3E50"/>
                </a:solidFill>
              </a:rPr>
              <a:t>AI Integration</a:t>
            </a:r>
            <a:endParaRPr lang="en-US" sz="1090" dirty="0"/>
          </a:p>
        </p:txBody>
      </p:sp>
      <p:sp>
        <p:nvSpPr>
          <p:cNvPr id="15" name="Text 9"/>
          <p:cNvSpPr/>
          <p:nvPr/>
        </p:nvSpPr>
        <p:spPr>
          <a:xfrm>
            <a:off x="4762481" y="2687836"/>
            <a:ext cx="1714500" cy="450056"/>
          </a:xfrm>
          <a:prstGeom prst="rect">
            <a:avLst/>
          </a:prstGeom>
          <a:noFill/>
          <a:ln/>
        </p:spPr>
        <p:txBody>
          <a:bodyPr wrap="square" lIns="0" tIns="0" rIns="0" bIns="0" rtlCol="0" anchor="t">
            <a:spAutoFit/>
          </a:bodyPr>
          <a:lstStyle/>
          <a:p>
            <a:pPr marL="0" indent="0" algn="ctr">
              <a:lnSpc>
                <a:spcPts val="1200"/>
              </a:lnSpc>
              <a:buNone/>
            </a:pPr>
            <a:r>
              <a:rPr lang="en-US" sz="780" dirty="0">
                <a:solidFill>
                  <a:srgbClr val="2C3E50"/>
                </a:solidFill>
              </a:rPr>
              <a:t>Demand predictor, semantic search implementation, and AR navigation testing.</a:t>
            </a:r>
            <a:endParaRPr lang="en-US" sz="780" dirty="0"/>
          </a:p>
        </p:txBody>
      </p:sp>
      <p:sp>
        <p:nvSpPr>
          <p:cNvPr id="16" name="Shape 10"/>
          <p:cNvSpPr/>
          <p:nvPr/>
        </p:nvSpPr>
        <p:spPr>
          <a:xfrm>
            <a:off x="7429472" y="1616273"/>
            <a:ext cx="571500" cy="571500"/>
          </a:xfrm>
          <a:prstGeom prst="ellipse">
            <a:avLst/>
          </a:prstGeom>
          <a:solidFill>
            <a:srgbClr val="FFFFFF"/>
          </a:solidFill>
          <a:ln w="27432">
            <a:solidFill>
              <a:srgbClr val="DCDCDC"/>
            </a:solidFill>
            <a:prstDash val="solid"/>
          </a:ln>
        </p:spPr>
        <p:txBody>
          <a:bodyPr/>
          <a:lstStyle/>
          <a:p>
            <a:endParaRPr lang="en-IN"/>
          </a:p>
        </p:txBody>
      </p:sp>
      <p:pic>
        <p:nvPicPr>
          <p:cNvPr id="17" name="Image 4" descr="preencoded.png"/>
          <p:cNvPicPr>
            <a:picLocks noChangeAspect="1"/>
          </p:cNvPicPr>
          <p:nvPr/>
        </p:nvPicPr>
        <p:blipFill>
          <a:blip r:embed="rId7"/>
          <a:stretch>
            <a:fillRect/>
          </a:stretch>
        </p:blipFill>
        <p:spPr>
          <a:xfrm>
            <a:off x="7608066" y="1794867"/>
            <a:ext cx="214313" cy="214313"/>
          </a:xfrm>
          <a:prstGeom prst="rect">
            <a:avLst/>
          </a:prstGeom>
        </p:spPr>
      </p:pic>
      <p:sp>
        <p:nvSpPr>
          <p:cNvPr id="18" name="Text 11"/>
          <p:cNvSpPr/>
          <p:nvPr/>
        </p:nvSpPr>
        <p:spPr>
          <a:xfrm>
            <a:off x="7297620" y="2366367"/>
            <a:ext cx="835177" cy="214313"/>
          </a:xfrm>
          <a:prstGeom prst="rect">
            <a:avLst/>
          </a:prstGeom>
          <a:noFill/>
          <a:ln/>
        </p:spPr>
        <p:txBody>
          <a:bodyPr wrap="none" lIns="0" tIns="0" rIns="0" bIns="0" rtlCol="0" anchor="t">
            <a:spAutoFit/>
          </a:bodyPr>
          <a:lstStyle/>
          <a:p>
            <a:pPr marL="0" indent="0" algn="ctr">
              <a:lnSpc>
                <a:spcPts val="1500"/>
              </a:lnSpc>
              <a:buNone/>
            </a:pPr>
            <a:r>
              <a:rPr lang="en-US" sz="1090" b="1" dirty="0">
                <a:solidFill>
                  <a:srgbClr val="2C3E50"/>
                </a:solidFill>
              </a:rPr>
              <a:t>Evaluation</a:t>
            </a:r>
            <a:endParaRPr lang="en-US" sz="1090" dirty="0"/>
          </a:p>
        </p:txBody>
      </p:sp>
      <p:sp>
        <p:nvSpPr>
          <p:cNvPr id="19" name="Text 12"/>
          <p:cNvSpPr/>
          <p:nvPr/>
        </p:nvSpPr>
        <p:spPr>
          <a:xfrm>
            <a:off x="6857972" y="2687836"/>
            <a:ext cx="1714500" cy="450056"/>
          </a:xfrm>
          <a:prstGeom prst="rect">
            <a:avLst/>
          </a:prstGeom>
          <a:noFill/>
          <a:ln/>
        </p:spPr>
        <p:txBody>
          <a:bodyPr wrap="square" lIns="0" tIns="0" rIns="0" bIns="0" rtlCol="0" anchor="t">
            <a:spAutoFit/>
          </a:bodyPr>
          <a:lstStyle/>
          <a:p>
            <a:pPr marL="0" indent="0" algn="ctr">
              <a:lnSpc>
                <a:spcPts val="1200"/>
              </a:lnSpc>
              <a:buNone/>
            </a:pPr>
            <a:r>
              <a:rPr lang="en-US" sz="780" dirty="0">
                <a:solidFill>
                  <a:srgbClr val="2C3E50"/>
                </a:solidFill>
              </a:rPr>
              <a:t>Performance benchmarking, resilience testing, and final system deployment.</a:t>
            </a:r>
            <a:endParaRPr lang="en-US" sz="780" dirty="0"/>
          </a:p>
        </p:txBody>
      </p:sp>
      <p:sp>
        <p:nvSpPr>
          <p:cNvPr id="20" name="Shape 13"/>
          <p:cNvSpPr/>
          <p:nvPr/>
        </p:nvSpPr>
        <p:spPr>
          <a:xfrm>
            <a:off x="571500" y="3566517"/>
            <a:ext cx="8001000" cy="389334"/>
          </a:xfrm>
          <a:prstGeom prst="rect">
            <a:avLst/>
          </a:prstGeom>
          <a:solidFill>
            <a:srgbClr val="5DADE2"/>
          </a:solidFill>
          <a:ln/>
        </p:spPr>
        <p:txBody>
          <a:bodyPr/>
          <a:lstStyle/>
          <a:p>
            <a:endParaRPr lang="en-IN"/>
          </a:p>
        </p:txBody>
      </p:sp>
      <p:sp>
        <p:nvSpPr>
          <p:cNvPr id="21" name="Text 14"/>
          <p:cNvSpPr/>
          <p:nvPr/>
        </p:nvSpPr>
        <p:spPr>
          <a:xfrm>
            <a:off x="571500" y="3566517"/>
            <a:ext cx="8001000" cy="389334"/>
          </a:xfrm>
          <a:prstGeom prst="rect">
            <a:avLst/>
          </a:prstGeom>
          <a:noFill/>
          <a:ln/>
        </p:spPr>
        <p:txBody>
          <a:bodyPr wrap="square" lIns="255143" tIns="127508" rIns="255143" bIns="127508" rtlCol="0" anchor="t">
            <a:spAutoFit/>
          </a:bodyPr>
          <a:lstStyle/>
          <a:p>
            <a:pPr marL="0" indent="0" algn="l">
              <a:lnSpc>
                <a:spcPts val="1200"/>
              </a:lnSpc>
              <a:buNone/>
            </a:pPr>
            <a:r>
              <a:rPr lang="en-US" sz="885" b="1" dirty="0">
                <a:solidFill>
                  <a:srgbClr val="FFFFFF"/>
                </a:solidFill>
              </a:rPr>
              <a:t>Current Status: Phase 3 — AI &amp; Smart Capabilities Integration</a:t>
            </a:r>
            <a:endParaRPr lang="en-US" sz="885"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43408D1-3458-5847-9D35-19AA9D6F7C3B}"/>
              </a:ext>
            </a:extLst>
          </p:cNvPr>
          <p:cNvPicPr>
            <a:picLocks noChangeAspect="1"/>
          </p:cNvPicPr>
          <p:nvPr/>
        </p:nvPicPr>
        <p:blipFill>
          <a:blip r:embed="rId2"/>
          <a:stretch>
            <a:fillRect/>
          </a:stretch>
        </p:blipFill>
        <p:spPr>
          <a:xfrm>
            <a:off x="0" y="0"/>
            <a:ext cx="9144000" cy="5143500"/>
          </a:xfrm>
          <a:prstGeom prst="rect">
            <a:avLst/>
          </a:prstGeom>
        </p:spPr>
      </p:pic>
    </p:spTree>
    <p:extLst>
      <p:ext uri="{BB962C8B-B14F-4D97-AF65-F5344CB8AC3E}">
        <p14:creationId xmlns:p14="http://schemas.microsoft.com/office/powerpoint/2010/main" val="12339413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412C0F8-1650-CCE4-5499-742346282FDD}"/>
              </a:ext>
            </a:extLst>
          </p:cNvPr>
          <p:cNvPicPr>
            <a:picLocks noChangeAspect="1"/>
          </p:cNvPicPr>
          <p:nvPr/>
        </p:nvPicPr>
        <p:blipFill>
          <a:blip r:embed="rId2"/>
          <a:stretch>
            <a:fillRect/>
          </a:stretch>
        </p:blipFill>
        <p:spPr>
          <a:xfrm>
            <a:off x="0" y="0"/>
            <a:ext cx="9143999" cy="5143500"/>
          </a:xfrm>
          <a:prstGeom prst="rect">
            <a:avLst/>
          </a:prstGeom>
        </p:spPr>
      </p:pic>
    </p:spTree>
    <p:extLst>
      <p:ext uri="{BB962C8B-B14F-4D97-AF65-F5344CB8AC3E}">
        <p14:creationId xmlns:p14="http://schemas.microsoft.com/office/powerpoint/2010/main" val="32937117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2843938" y="1075134"/>
            <a:ext cx="3456096" cy="934045"/>
          </a:xfrm>
          <a:prstGeom prst="rect">
            <a:avLst/>
          </a:prstGeom>
          <a:noFill/>
          <a:ln/>
        </p:spPr>
        <p:txBody>
          <a:bodyPr wrap="none" lIns="0" tIns="0" rIns="0" bIns="0" rtlCol="0" anchor="t">
            <a:spAutoFit/>
          </a:bodyPr>
          <a:lstStyle/>
          <a:p>
            <a:pPr marL="0" indent="0" algn="l">
              <a:lnSpc>
                <a:spcPts val="6500"/>
              </a:lnSpc>
              <a:buNone/>
            </a:pPr>
            <a:r>
              <a:rPr lang="en-US" sz="4974" b="1" kern="0" spc="-2" dirty="0">
                <a:solidFill>
                  <a:srgbClr val="2C3E50"/>
                </a:solidFill>
              </a:rPr>
              <a:t>Thank You</a:t>
            </a:r>
            <a:endParaRPr lang="en-US" sz="4974" dirty="0"/>
          </a:p>
        </p:txBody>
      </p:sp>
      <p:sp>
        <p:nvSpPr>
          <p:cNvPr id="4" name="Text 1"/>
          <p:cNvSpPr/>
          <p:nvPr/>
        </p:nvSpPr>
        <p:spPr>
          <a:xfrm>
            <a:off x="2682729" y="2494955"/>
            <a:ext cx="3778541" cy="312539"/>
          </a:xfrm>
          <a:prstGeom prst="rect">
            <a:avLst/>
          </a:prstGeom>
          <a:noFill/>
          <a:ln/>
        </p:spPr>
        <p:txBody>
          <a:bodyPr wrap="none" lIns="0" tIns="0" rIns="0" bIns="0" rtlCol="0" anchor="t">
            <a:spAutoFit/>
          </a:bodyPr>
          <a:lstStyle/>
          <a:p>
            <a:pPr marL="0" indent="0" algn="l">
              <a:lnSpc>
                <a:spcPts val="2200"/>
              </a:lnSpc>
              <a:buNone/>
            </a:pPr>
            <a:r>
              <a:rPr lang="en-US" sz="1602" b="1" dirty="0">
                <a:solidFill>
                  <a:srgbClr val="2C3E50"/>
                </a:solidFill>
              </a:rPr>
              <a:t>LibConnect Pro — Coding Masters</a:t>
            </a:r>
            <a:endParaRPr lang="en-US" sz="1602" dirty="0"/>
          </a:p>
        </p:txBody>
      </p:sp>
      <p:sp>
        <p:nvSpPr>
          <p:cNvPr id="5" name="Shape 2"/>
          <p:cNvSpPr/>
          <p:nvPr/>
        </p:nvSpPr>
        <p:spPr>
          <a:xfrm>
            <a:off x="1714500" y="3378994"/>
            <a:ext cx="5715000" cy="689372"/>
          </a:xfrm>
          <a:prstGeom prst="rect">
            <a:avLst/>
          </a:prstGeom>
          <a:solidFill>
            <a:srgbClr val="000000">
              <a:alpha val="0"/>
            </a:srgbClr>
          </a:solidFill>
          <a:ln/>
        </p:spPr>
        <p:txBody>
          <a:bodyPr/>
          <a:lstStyle/>
          <a:p>
            <a:endParaRPr lang="en-IN"/>
          </a:p>
        </p:txBody>
      </p:sp>
      <p:sp>
        <p:nvSpPr>
          <p:cNvPr id="6" name="Shape 3"/>
          <p:cNvSpPr/>
          <p:nvPr/>
        </p:nvSpPr>
        <p:spPr>
          <a:xfrm>
            <a:off x="1714500" y="3378994"/>
            <a:ext cx="5715000" cy="14288"/>
          </a:xfrm>
          <a:prstGeom prst="rect">
            <a:avLst/>
          </a:prstGeom>
          <a:solidFill>
            <a:srgbClr val="DCDCDC"/>
          </a:solidFill>
          <a:ln/>
        </p:spPr>
        <p:txBody>
          <a:bodyPr/>
          <a:lstStyle/>
          <a:p>
            <a:endParaRPr lang="en-IN"/>
          </a:p>
        </p:txBody>
      </p:sp>
      <p:sp>
        <p:nvSpPr>
          <p:cNvPr id="7" name="Text 4"/>
          <p:cNvSpPr/>
          <p:nvPr/>
        </p:nvSpPr>
        <p:spPr>
          <a:xfrm>
            <a:off x="1714500" y="3600450"/>
            <a:ext cx="5715000" cy="214313"/>
          </a:xfrm>
          <a:prstGeom prst="rect">
            <a:avLst/>
          </a:prstGeom>
          <a:noFill/>
          <a:ln/>
        </p:spPr>
        <p:txBody>
          <a:bodyPr wrap="none" lIns="0" tIns="0" rIns="0" bIns="0" rtlCol="0" anchor="t">
            <a:spAutoFit/>
          </a:bodyPr>
          <a:lstStyle/>
          <a:p>
            <a:pPr marL="0" indent="0" algn="ctr">
              <a:lnSpc>
                <a:spcPts val="1500"/>
              </a:lnSpc>
              <a:buNone/>
            </a:pPr>
            <a:r>
              <a:rPr lang="en-US" sz="1090" b="1" dirty="0">
                <a:solidFill>
                  <a:srgbClr val="2C3E50"/>
                </a:solidFill>
              </a:rPr>
              <a:t>Saumya Patel · Hakhilesh Neelamegan · Madhusudhan Poduturu</a:t>
            </a:r>
            <a:endParaRPr lang="en-US" sz="1090" dirty="0"/>
          </a:p>
        </p:txBody>
      </p:sp>
      <p:sp>
        <p:nvSpPr>
          <p:cNvPr id="8" name="Text 5"/>
          <p:cNvSpPr/>
          <p:nvPr/>
        </p:nvSpPr>
        <p:spPr>
          <a:xfrm>
            <a:off x="1714500" y="3886200"/>
            <a:ext cx="5715000" cy="175022"/>
          </a:xfrm>
          <a:prstGeom prst="rect">
            <a:avLst/>
          </a:prstGeom>
          <a:noFill/>
          <a:ln/>
        </p:spPr>
        <p:txBody>
          <a:bodyPr wrap="none" lIns="0" tIns="0" rIns="0" bIns="0" rtlCol="0" anchor="t">
            <a:spAutoFit/>
          </a:bodyPr>
          <a:lstStyle/>
          <a:p>
            <a:pPr marL="0" indent="0" algn="ctr">
              <a:lnSpc>
                <a:spcPts val="1200"/>
              </a:lnSpc>
              <a:buNone/>
            </a:pPr>
            <a:r>
              <a:rPr lang="en-US" sz="942" kern="0" spc="1" dirty="0">
                <a:solidFill>
                  <a:srgbClr val="7F8C8D"/>
                </a:solidFill>
              </a:rPr>
              <a:t>COSC 6370.001 · Advanced Software Engineering · Feb 2026</a:t>
            </a:r>
            <a:endParaRPr lang="en-US" sz="942"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TotalTime>
  <Words>940</Words>
  <Application>Microsoft Office PowerPoint</Application>
  <PresentationFormat>On-screen Show (16:9)</PresentationFormat>
  <Paragraphs>179</Paragraphs>
  <Slides>11</Slides>
  <Notes>9</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11</vt:i4>
      </vt:variant>
    </vt:vector>
  </HeadingPairs>
  <TitlesOfParts>
    <vt:vector size="13" baseType="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Patel, Saumya</cp:lastModifiedBy>
  <cp:revision>3</cp:revision>
  <dcterms:created xsi:type="dcterms:W3CDTF">2026-02-24T05:17:38Z</dcterms:created>
  <dcterms:modified xsi:type="dcterms:W3CDTF">2026-02-24T19:56:22Z</dcterms:modified>
</cp:coreProperties>
</file>